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x="18288000" cy="10287000"/>
  <p:notesSz cx="6858000" cy="9144000"/>
  <p:embeddedFontLst>
    <p:embeddedFont>
      <p:font typeface="Pattanakarn Expanded" charset="1" panose="00000000000000000000"/>
      <p:regular r:id="rId34"/>
    </p:embeddedFont>
    <p:embeddedFont>
      <p:font typeface="Pattanakarn Expanded Medium" charset="1" panose="00000000000000000000"/>
      <p:regular r:id="rId35"/>
    </p:embeddedFont>
    <p:embeddedFont>
      <p:font typeface="Questrial" charset="1" panose="02000000000000000000"/>
      <p:regular r:id="rId36"/>
    </p:embeddedFont>
    <p:embeddedFont>
      <p:font typeface="Anantason" charset="1" panose="00000000000000000000"/>
      <p:regular r:id="rId37"/>
    </p:embeddedFont>
    <p:embeddedFont>
      <p:font typeface="Pattanakarn Expanded Bold" charset="1" panose="00000000000000000000"/>
      <p:regular r:id="rId38"/>
    </p:embeddedFont>
    <p:embeddedFont>
      <p:font typeface="Anantason Bold" charset="1" panose="00000000000000000000"/>
      <p:regular r:id="rId39"/>
    </p:embeddedFont>
    <p:embeddedFont>
      <p:font typeface="Pattanakarn Condensed" charset="1" panose="00000000000000000000"/>
      <p:regular r:id="rId40"/>
    </p:embeddedFont>
    <p:embeddedFont>
      <p:font typeface="Glacial Indifference" charset="1" panose="00000000000000000000"/>
      <p:regular r:id="rId41"/>
    </p:embeddedFont>
    <p:embeddedFont>
      <p:font typeface="IM Fell" charset="1" panose="02000000000000000000"/>
      <p:regular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0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2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5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Relationship Id="rId3" Target="../media/image20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31374" y="-1192307"/>
            <a:ext cx="7694319" cy="8985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8508"/>
              </a:lnSpc>
            </a:pPr>
            <a:r>
              <a:rPr lang="en-US" sz="42927">
                <a:solidFill>
                  <a:srgbClr val="FF0010">
                    <a:alpha val="60000"/>
                  </a:srgbClr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101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2961936"/>
            <a:ext cx="18316371" cy="2754007"/>
            <a:chOff x="0" y="0"/>
            <a:chExt cx="2964264" cy="4457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64264" cy="445700"/>
            </a:xfrm>
            <a:custGeom>
              <a:avLst/>
              <a:gdLst/>
              <a:ahLst/>
              <a:cxnLst/>
              <a:rect r="r" b="b" t="t" l="l"/>
              <a:pathLst>
                <a:path h="445700" w="2964264">
                  <a:moveTo>
                    <a:pt x="0" y="0"/>
                  </a:moveTo>
                  <a:lnTo>
                    <a:pt x="2964264" y="0"/>
                  </a:lnTo>
                  <a:lnTo>
                    <a:pt x="2964264" y="445700"/>
                  </a:lnTo>
                  <a:lnTo>
                    <a:pt x="0" y="445700"/>
                  </a:lnTo>
                  <a:close/>
                </a:path>
              </a:pathLst>
            </a:custGeom>
            <a:blipFill>
              <a:blip r:embed="rId2"/>
              <a:stretch>
                <a:fillRect l="-20547" t="-189355" r="0" b="-161624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3392833" y="7080665"/>
            <a:ext cx="6790678" cy="827211"/>
            <a:chOff x="0" y="0"/>
            <a:chExt cx="1788491" cy="2178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88491" cy="217866"/>
            </a:xfrm>
            <a:custGeom>
              <a:avLst/>
              <a:gdLst/>
              <a:ahLst/>
              <a:cxnLst/>
              <a:rect r="r" b="b" t="t" l="l"/>
              <a:pathLst>
                <a:path h="217866" w="1788491">
                  <a:moveTo>
                    <a:pt x="51304" y="0"/>
                  </a:moveTo>
                  <a:lnTo>
                    <a:pt x="1737188" y="0"/>
                  </a:lnTo>
                  <a:cubicBezTo>
                    <a:pt x="1765522" y="0"/>
                    <a:pt x="1788491" y="22969"/>
                    <a:pt x="1788491" y="51304"/>
                  </a:cubicBezTo>
                  <a:lnTo>
                    <a:pt x="1788491" y="166563"/>
                  </a:lnTo>
                  <a:cubicBezTo>
                    <a:pt x="1788491" y="180169"/>
                    <a:pt x="1783086" y="193219"/>
                    <a:pt x="1773465" y="202840"/>
                  </a:cubicBezTo>
                  <a:cubicBezTo>
                    <a:pt x="1763843" y="212461"/>
                    <a:pt x="1750794" y="217866"/>
                    <a:pt x="1737188" y="217866"/>
                  </a:cubicBezTo>
                  <a:lnTo>
                    <a:pt x="51304" y="217866"/>
                  </a:lnTo>
                  <a:cubicBezTo>
                    <a:pt x="22969" y="217866"/>
                    <a:pt x="0" y="194897"/>
                    <a:pt x="0" y="166563"/>
                  </a:cubicBezTo>
                  <a:lnTo>
                    <a:pt x="0" y="51304"/>
                  </a:lnTo>
                  <a:cubicBezTo>
                    <a:pt x="0" y="37697"/>
                    <a:pt x="5405" y="24648"/>
                    <a:pt x="15026" y="15026"/>
                  </a:cubicBezTo>
                  <a:cubicBezTo>
                    <a:pt x="24648" y="5405"/>
                    <a:pt x="37697" y="0"/>
                    <a:pt x="51304" y="0"/>
                  </a:cubicBezTo>
                  <a:close/>
                </a:path>
              </a:pathLst>
            </a:custGeom>
            <a:solidFill>
              <a:srgbClr val="FF001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788491" cy="2273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4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6987985" y="801782"/>
            <a:ext cx="542630" cy="453836"/>
          </a:xfrm>
          <a:custGeom>
            <a:avLst/>
            <a:gdLst/>
            <a:ahLst/>
            <a:cxnLst/>
            <a:rect r="r" b="b" t="t" l="l"/>
            <a:pathLst>
              <a:path h="453836" w="542630">
                <a:moveTo>
                  <a:pt x="0" y="0"/>
                </a:moveTo>
                <a:lnTo>
                  <a:pt x="542630" y="0"/>
                </a:lnTo>
                <a:lnTo>
                  <a:pt x="542630" y="453836"/>
                </a:lnTo>
                <a:lnTo>
                  <a:pt x="0" y="4538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-2329601" y="9258300"/>
            <a:ext cx="3086100" cy="308610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12889" y="0"/>
                  </a:moveTo>
                  <a:lnTo>
                    <a:pt x="699911" y="0"/>
                  </a:lnTo>
                  <a:cubicBezTo>
                    <a:pt x="762258" y="0"/>
                    <a:pt x="812800" y="50542"/>
                    <a:pt x="812800" y="112889"/>
                  </a:cubicBezTo>
                  <a:lnTo>
                    <a:pt x="812800" y="699911"/>
                  </a:lnTo>
                  <a:cubicBezTo>
                    <a:pt x="812800" y="762258"/>
                    <a:pt x="762258" y="812800"/>
                    <a:pt x="699911" y="812800"/>
                  </a:cubicBezTo>
                  <a:lnTo>
                    <a:pt x="112889" y="812800"/>
                  </a:lnTo>
                  <a:cubicBezTo>
                    <a:pt x="50542" y="812800"/>
                    <a:pt x="0" y="762258"/>
                    <a:pt x="0" y="699911"/>
                  </a:cubicBezTo>
                  <a:lnTo>
                    <a:pt x="0" y="112889"/>
                  </a:lnTo>
                  <a:cubicBezTo>
                    <a:pt x="0" y="50542"/>
                    <a:pt x="50542" y="0"/>
                    <a:pt x="112889" y="0"/>
                  </a:cubicBezTo>
                  <a:close/>
                </a:path>
              </a:pathLst>
            </a:custGeom>
            <a:solidFill>
              <a:srgbClr val="FF001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52400"/>
              <a:ext cx="812800" cy="965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5675180" y="241369"/>
            <a:ext cx="6937639" cy="1574662"/>
          </a:xfrm>
          <a:custGeom>
            <a:avLst/>
            <a:gdLst/>
            <a:ahLst/>
            <a:cxnLst/>
            <a:rect r="r" b="b" t="t" l="l"/>
            <a:pathLst>
              <a:path h="1574662" w="6937639">
                <a:moveTo>
                  <a:pt x="0" y="0"/>
                </a:moveTo>
                <a:lnTo>
                  <a:pt x="6937640" y="0"/>
                </a:lnTo>
                <a:lnTo>
                  <a:pt x="6937640" y="1574662"/>
                </a:lnTo>
                <a:lnTo>
                  <a:pt x="0" y="15746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331018" y="-177763"/>
            <a:ext cx="3664074" cy="2412927"/>
          </a:xfrm>
          <a:custGeom>
            <a:avLst/>
            <a:gdLst/>
            <a:ahLst/>
            <a:cxnLst/>
            <a:rect r="r" b="b" t="t" l="l"/>
            <a:pathLst>
              <a:path h="2412927" w="3664074">
                <a:moveTo>
                  <a:pt x="0" y="0"/>
                </a:moveTo>
                <a:lnTo>
                  <a:pt x="3664074" y="0"/>
                </a:lnTo>
                <a:lnTo>
                  <a:pt x="3664074" y="2412926"/>
                </a:lnTo>
                <a:lnTo>
                  <a:pt x="0" y="24129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26480" y="6414173"/>
            <a:ext cx="12786441" cy="2844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96"/>
              </a:lnSpc>
            </a:pPr>
            <a:r>
              <a:rPr lang="en-US" sz="8138" b="true">
                <a:solidFill>
                  <a:srgbClr val="FFFFFF"/>
                </a:solidFill>
                <a:latin typeface="Pattanakarn Expanded Medium"/>
                <a:ea typeface="Pattanakarn Expanded Medium"/>
                <a:cs typeface="Pattanakarn Expanded Medium"/>
                <a:sym typeface="Pattanakarn Expanded Medium"/>
              </a:rPr>
              <a:t>CYBERSECURITY-101</a:t>
            </a:r>
          </a:p>
          <a:p>
            <a:pPr algn="l">
              <a:lnSpc>
                <a:spcPts val="9196"/>
              </a:lnSpc>
            </a:pPr>
            <a:r>
              <a:rPr lang="en-US" sz="8138" b="true">
                <a:solidFill>
                  <a:srgbClr val="FFFFFF"/>
                </a:solidFill>
                <a:latin typeface="Pattanakarn Expanded Medium"/>
                <a:ea typeface="Pattanakarn Expanded Medium"/>
                <a:cs typeface="Pattanakarn Expanded Medium"/>
                <a:sym typeface="Pattanakarn Expanded Medium"/>
              </a:rPr>
              <a:t>BOOTCAMP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703471" y="7135051"/>
            <a:ext cx="4146379" cy="546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8"/>
              </a:lnSpc>
            </a:pPr>
            <a:r>
              <a:rPr lang="en-US" sz="2600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STUDIO SHODWE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688553" y="8472017"/>
            <a:ext cx="3331559" cy="1102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Lorem ipsum dolor sit amet, consectetur adipiscing elit, sed do eiusmod tempor incididunt ut labore et dolore magna aliqua.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987985" y="801782"/>
            <a:ext cx="542630" cy="453836"/>
          </a:xfrm>
          <a:custGeom>
            <a:avLst/>
            <a:gdLst/>
            <a:ahLst/>
            <a:cxnLst/>
            <a:rect r="r" b="b" t="t" l="l"/>
            <a:pathLst>
              <a:path h="453836" w="542630">
                <a:moveTo>
                  <a:pt x="0" y="0"/>
                </a:moveTo>
                <a:lnTo>
                  <a:pt x="542630" y="0"/>
                </a:lnTo>
                <a:lnTo>
                  <a:pt x="542630" y="453836"/>
                </a:lnTo>
                <a:lnTo>
                  <a:pt x="0" y="4538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640893" y="5845875"/>
            <a:ext cx="11075839" cy="4701250"/>
            <a:chOff x="0" y="0"/>
            <a:chExt cx="2917093" cy="123818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17093" cy="1238189"/>
            </a:xfrm>
            <a:custGeom>
              <a:avLst/>
              <a:gdLst/>
              <a:ahLst/>
              <a:cxnLst/>
              <a:rect r="r" b="b" t="t" l="l"/>
              <a:pathLst>
                <a:path h="1238189" w="2917093">
                  <a:moveTo>
                    <a:pt x="31455" y="0"/>
                  </a:moveTo>
                  <a:lnTo>
                    <a:pt x="2885639" y="0"/>
                  </a:lnTo>
                  <a:cubicBezTo>
                    <a:pt x="2903011" y="0"/>
                    <a:pt x="2917093" y="14083"/>
                    <a:pt x="2917093" y="31455"/>
                  </a:cubicBezTo>
                  <a:lnTo>
                    <a:pt x="2917093" y="1206735"/>
                  </a:lnTo>
                  <a:cubicBezTo>
                    <a:pt x="2917093" y="1224107"/>
                    <a:pt x="2903011" y="1238189"/>
                    <a:pt x="2885639" y="1238189"/>
                  </a:cubicBezTo>
                  <a:lnTo>
                    <a:pt x="31455" y="1238189"/>
                  </a:lnTo>
                  <a:cubicBezTo>
                    <a:pt x="14083" y="1238189"/>
                    <a:pt x="0" y="1224107"/>
                    <a:pt x="0" y="1206735"/>
                  </a:cubicBezTo>
                  <a:lnTo>
                    <a:pt x="0" y="31455"/>
                  </a:lnTo>
                  <a:cubicBezTo>
                    <a:pt x="0" y="14083"/>
                    <a:pt x="14083" y="0"/>
                    <a:pt x="31455" y="0"/>
                  </a:cubicBezTo>
                  <a:close/>
                </a:path>
              </a:pathLst>
            </a:custGeom>
            <a:solidFill>
              <a:srgbClr val="FF001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52400"/>
              <a:ext cx="2917093" cy="13905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2504990" y="-1767157"/>
            <a:ext cx="3086100" cy="308610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12889" y="0"/>
                  </a:moveTo>
                  <a:lnTo>
                    <a:pt x="699911" y="0"/>
                  </a:lnTo>
                  <a:cubicBezTo>
                    <a:pt x="762258" y="0"/>
                    <a:pt x="812800" y="50542"/>
                    <a:pt x="812800" y="112889"/>
                  </a:cubicBezTo>
                  <a:lnTo>
                    <a:pt x="812800" y="699911"/>
                  </a:lnTo>
                  <a:cubicBezTo>
                    <a:pt x="812800" y="762258"/>
                    <a:pt x="762258" y="812800"/>
                    <a:pt x="699911" y="812800"/>
                  </a:cubicBezTo>
                  <a:lnTo>
                    <a:pt x="112889" y="812800"/>
                  </a:lnTo>
                  <a:cubicBezTo>
                    <a:pt x="50542" y="812800"/>
                    <a:pt x="0" y="762258"/>
                    <a:pt x="0" y="699911"/>
                  </a:cubicBezTo>
                  <a:lnTo>
                    <a:pt x="0" y="112889"/>
                  </a:lnTo>
                  <a:cubicBezTo>
                    <a:pt x="0" y="50542"/>
                    <a:pt x="50542" y="0"/>
                    <a:pt x="112889" y="0"/>
                  </a:cubicBezTo>
                  <a:close/>
                </a:path>
              </a:pathLst>
            </a:custGeom>
            <a:solidFill>
              <a:srgbClr val="FF001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52400"/>
              <a:ext cx="812800" cy="965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0525067" y="6243444"/>
            <a:ext cx="6963069" cy="3906112"/>
          </a:xfrm>
          <a:custGeom>
            <a:avLst/>
            <a:gdLst/>
            <a:ahLst/>
            <a:cxnLst/>
            <a:rect r="r" b="b" t="t" l="l"/>
            <a:pathLst>
              <a:path h="3906112" w="6963069">
                <a:moveTo>
                  <a:pt x="0" y="0"/>
                </a:moveTo>
                <a:lnTo>
                  <a:pt x="6963069" y="0"/>
                </a:lnTo>
                <a:lnTo>
                  <a:pt x="6963069" y="3906112"/>
                </a:lnTo>
                <a:lnTo>
                  <a:pt x="0" y="39061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932794" y="818259"/>
            <a:ext cx="5765964" cy="3837349"/>
          </a:xfrm>
          <a:custGeom>
            <a:avLst/>
            <a:gdLst/>
            <a:ahLst/>
            <a:cxnLst/>
            <a:rect r="r" b="b" t="t" l="l"/>
            <a:pathLst>
              <a:path h="3837349" w="5765964">
                <a:moveTo>
                  <a:pt x="0" y="0"/>
                </a:moveTo>
                <a:lnTo>
                  <a:pt x="5765964" y="0"/>
                </a:lnTo>
                <a:lnTo>
                  <a:pt x="5765964" y="3837349"/>
                </a:lnTo>
                <a:lnTo>
                  <a:pt x="0" y="38373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-190500" y="7540224"/>
            <a:ext cx="3187465" cy="3223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423"/>
              </a:lnSpc>
            </a:pPr>
            <a:r>
              <a:rPr lang="en-US" sz="15418">
                <a:solidFill>
                  <a:srgbClr val="FF0010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02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30353" y="1561193"/>
            <a:ext cx="8562890" cy="2748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38"/>
              </a:lnSpc>
            </a:pPr>
            <a:r>
              <a:rPr lang="en-US" sz="7821" b="true">
                <a:solidFill>
                  <a:srgbClr val="FFFFFF"/>
                </a:solidFill>
                <a:latin typeface="Pattanakarn Expanded Medium"/>
                <a:ea typeface="Pattanakarn Expanded Medium"/>
                <a:cs typeface="Pattanakarn Expanded Medium"/>
                <a:sym typeface="Pattanakarn Expanded Medium"/>
              </a:rPr>
              <a:t>What is Cybersecurity?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28700" y="344207"/>
            <a:ext cx="5483560" cy="693251"/>
            <a:chOff x="0" y="0"/>
            <a:chExt cx="7311413" cy="924334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411367"/>
              <a:ext cx="6462648" cy="512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226"/>
                </a:lnSpc>
              </a:pPr>
              <a:r>
                <a:rPr lang="en-US" sz="1970">
                  <a:solidFill>
                    <a:srgbClr val="FFFFFF"/>
                  </a:solidFill>
                  <a:latin typeface="Pattanakarn Expanded"/>
                  <a:ea typeface="Pattanakarn Expanded"/>
                  <a:cs typeface="Pattanakarn Expanded"/>
                  <a:sym typeface="Pattanakarn Expanded"/>
                </a:rPr>
                <a:t>DECODE .  DEFEND . DOMINATE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-114300"/>
              <a:ext cx="7311413" cy="5059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226"/>
                </a:lnSpc>
              </a:pPr>
              <a:r>
                <a:rPr lang="en-US" sz="1970">
                  <a:solidFill>
                    <a:srgbClr val="FF0010"/>
                  </a:solidFill>
                  <a:latin typeface="Pattanakarn Expanded"/>
                  <a:ea typeface="Pattanakarn Expanded"/>
                  <a:cs typeface="Pattanakarn Expanded"/>
                  <a:sym typeface="Pattanakarn Expanded"/>
                </a:rPr>
                <a:t>PROTOCOL CYBERSECURITY CLUB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28700" y="5162550"/>
            <a:ext cx="16459436" cy="2975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8"/>
              </a:lnSpc>
              <a:spcBef>
                <a:spcPct val="0"/>
              </a:spcBef>
            </a:pPr>
            <a:r>
              <a:rPr lang="en-US" sz="260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CYBERSECURITY PROTECTS OUR DEVICES, NETWORKS, APPS, AND DATA FROM DIGITAL THREATS.</a:t>
            </a:r>
          </a:p>
          <a:p>
            <a:pPr algn="l">
              <a:lnSpc>
                <a:spcPts val="2938"/>
              </a:lnSpc>
              <a:spcBef>
                <a:spcPct val="0"/>
              </a:spcBef>
            </a:pPr>
          </a:p>
          <a:p>
            <a:pPr algn="l" marL="561341" indent="-280670" lvl="1">
              <a:lnSpc>
                <a:spcPts val="2938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KEEPS PRIVATE INFORMATION PRIVATE.</a:t>
            </a:r>
          </a:p>
          <a:p>
            <a:pPr algn="l" marL="561341" indent="-280670" lvl="1">
              <a:lnSpc>
                <a:spcPts val="2938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PROTECTS ACCOUNTS AND FILES.</a:t>
            </a:r>
          </a:p>
          <a:p>
            <a:pPr algn="l" marL="561341" indent="-280670" lvl="1">
              <a:lnSpc>
                <a:spcPts val="2938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HELPS WEBSITES AND SERVICES STAY AVAILABLE.</a:t>
            </a:r>
          </a:p>
          <a:p>
            <a:pPr algn="l" marL="561341" indent="-280670" lvl="1">
              <a:lnSpc>
                <a:spcPts val="2938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REDUCES DAMAGE FROM ATTACKS.</a:t>
            </a:r>
          </a:p>
          <a:p>
            <a:pPr algn="l">
              <a:lnSpc>
                <a:spcPts val="2938"/>
              </a:lnSpc>
              <a:spcBef>
                <a:spcPct val="0"/>
              </a:spcBef>
            </a:pPr>
          </a:p>
          <a:p>
            <a:pPr algn="l">
              <a:lnSpc>
                <a:spcPts val="2938"/>
              </a:lnSpc>
              <a:spcBef>
                <a:spcPct val="0"/>
              </a:spcBef>
            </a:pPr>
            <a:r>
              <a:rPr lang="en-US" sz="260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THINK OF IT AS SECURITY FOR YOUR DIGITAL LIFE.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987985" y="611282"/>
            <a:ext cx="542630" cy="453836"/>
          </a:xfrm>
          <a:custGeom>
            <a:avLst/>
            <a:gdLst/>
            <a:ahLst/>
            <a:cxnLst/>
            <a:rect r="r" b="b" t="t" l="l"/>
            <a:pathLst>
              <a:path h="453836" w="542630">
                <a:moveTo>
                  <a:pt x="0" y="0"/>
                </a:moveTo>
                <a:lnTo>
                  <a:pt x="542630" y="0"/>
                </a:lnTo>
                <a:lnTo>
                  <a:pt x="542630" y="453836"/>
                </a:lnTo>
                <a:lnTo>
                  <a:pt x="0" y="4538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504990" y="-1767157"/>
            <a:ext cx="3086100" cy="30861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12889" y="0"/>
                  </a:moveTo>
                  <a:lnTo>
                    <a:pt x="699911" y="0"/>
                  </a:lnTo>
                  <a:cubicBezTo>
                    <a:pt x="762258" y="0"/>
                    <a:pt x="812800" y="50542"/>
                    <a:pt x="812800" y="112889"/>
                  </a:cubicBezTo>
                  <a:lnTo>
                    <a:pt x="812800" y="699911"/>
                  </a:lnTo>
                  <a:cubicBezTo>
                    <a:pt x="812800" y="762258"/>
                    <a:pt x="762258" y="812800"/>
                    <a:pt x="699911" y="812800"/>
                  </a:cubicBezTo>
                  <a:lnTo>
                    <a:pt x="112889" y="812800"/>
                  </a:lnTo>
                  <a:cubicBezTo>
                    <a:pt x="50542" y="812800"/>
                    <a:pt x="0" y="762258"/>
                    <a:pt x="0" y="699911"/>
                  </a:cubicBezTo>
                  <a:lnTo>
                    <a:pt x="0" y="112889"/>
                  </a:lnTo>
                  <a:cubicBezTo>
                    <a:pt x="0" y="50542"/>
                    <a:pt x="50542" y="0"/>
                    <a:pt x="112889" y="0"/>
                  </a:cubicBezTo>
                  <a:close/>
                </a:path>
              </a:pathLst>
            </a:custGeom>
            <a:solidFill>
              <a:srgbClr val="FF001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52400"/>
              <a:ext cx="812800" cy="965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028700" y="4354934"/>
          <a:ext cx="16501915" cy="5534960"/>
        </p:xfrm>
        <a:graphic>
          <a:graphicData uri="http://schemas.openxmlformats.org/drawingml/2006/table">
            <a:tbl>
              <a:tblPr/>
              <a:tblGrid>
                <a:gridCol w="2729031"/>
                <a:gridCol w="6098792"/>
                <a:gridCol w="7674092"/>
              </a:tblGrid>
              <a:tr h="146742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578"/>
                        </a:lnSpc>
                        <a:defRPr/>
                      </a:pPr>
                      <a:r>
                        <a:rPr lang="en-US" sz="3270" b="true">
                          <a:solidFill>
                            <a:srgbClr val="FFFFFF"/>
                          </a:solidFill>
                          <a:latin typeface="Pattanakarn Expanded Bold"/>
                          <a:ea typeface="Pattanakarn Expanded Bold"/>
                          <a:cs typeface="Pattanakarn Expanded Bold"/>
                          <a:sym typeface="Pattanakarn Expanded Bold"/>
                        </a:rPr>
                        <a:t>Goal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578"/>
                        </a:lnSpc>
                        <a:defRPr/>
                      </a:pPr>
                      <a:r>
                        <a:rPr lang="en-US" sz="3270" b="true">
                          <a:solidFill>
                            <a:srgbClr val="FFFFFF"/>
                          </a:solidFill>
                          <a:latin typeface="Pattanakarn Expanded Bold"/>
                          <a:ea typeface="Pattanakarn Expanded Bold"/>
                          <a:cs typeface="Pattanakarn Expanded Bold"/>
                          <a:sym typeface="Pattanakarn Expanded Bold"/>
                        </a:rPr>
                        <a:t>Meaning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578"/>
                        </a:lnSpc>
                        <a:defRPr/>
                      </a:pPr>
                      <a:r>
                        <a:rPr lang="en-US" sz="3270" b="true">
                          <a:solidFill>
                            <a:srgbClr val="FFFFFF"/>
                          </a:solidFill>
                          <a:latin typeface="Pattanakarn Expanded Bold"/>
                          <a:ea typeface="Pattanakarn Expanded Bold"/>
                          <a:cs typeface="Pattanakarn Expanded Bold"/>
                          <a:sym typeface="Pattanakarn Expanded Bold"/>
                        </a:rPr>
                        <a:t>Example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7701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38"/>
                        </a:lnSpc>
                        <a:defRPr/>
                      </a:pPr>
                      <a:r>
                        <a:rPr lang="en-US" sz="2170">
                          <a:solidFill>
                            <a:srgbClr val="FFFFFF"/>
                          </a:solidFill>
                          <a:latin typeface="Pattanakarn Expanded"/>
                          <a:ea typeface="Pattanakarn Expanded"/>
                          <a:cs typeface="Pattanakarn Expanded"/>
                          <a:sym typeface="Pattanakarn Expanded"/>
                        </a:rPr>
                        <a:t>Confidentiality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38"/>
                        </a:lnSpc>
                        <a:defRPr/>
                      </a:pPr>
                      <a:r>
                        <a:rPr lang="en-US" sz="2170">
                          <a:solidFill>
                            <a:srgbClr val="FFFFFF"/>
                          </a:solidFill>
                          <a:latin typeface="Pattanakarn Expanded"/>
                          <a:ea typeface="Pattanakarn Expanded"/>
                          <a:cs typeface="Pattanakarn Expanded"/>
                          <a:sym typeface="Pattanakarn Expanded"/>
                        </a:rPr>
                        <a:t>Only authorised people can see information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38"/>
                        </a:lnSpc>
                        <a:defRPr/>
                      </a:pPr>
                      <a:r>
                        <a:rPr lang="en-US" sz="2170">
                          <a:solidFill>
                            <a:srgbClr val="FFFFFF"/>
                          </a:solidFill>
                          <a:latin typeface="Pattanakarn Expanded"/>
                          <a:ea typeface="Pattanakarn Expanded"/>
                          <a:cs typeface="Pattanakarn Expanded"/>
                          <a:sym typeface="Pattanakarn Expanded"/>
                        </a:rPr>
                        <a:t>Only you and authorised staff can view your marks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9525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38"/>
                        </a:lnSpc>
                        <a:defRPr/>
                      </a:pPr>
                      <a:r>
                        <a:rPr lang="en-US" sz="2170">
                          <a:solidFill>
                            <a:srgbClr val="FFFFFF"/>
                          </a:solidFill>
                          <a:latin typeface="Pattanakarn Expanded"/>
                          <a:ea typeface="Pattanakarn Expanded"/>
                          <a:cs typeface="Pattanakarn Expanded"/>
                          <a:sym typeface="Pattanakarn Expanded"/>
                        </a:rPr>
                        <a:t>Integrity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38"/>
                        </a:lnSpc>
                        <a:defRPr/>
                      </a:pPr>
                      <a:r>
                        <a:rPr lang="en-US" sz="2170">
                          <a:solidFill>
                            <a:srgbClr val="FFFFFF"/>
                          </a:solidFill>
                          <a:latin typeface="Pattanakarn Expanded"/>
                          <a:ea typeface="Pattanakarn Expanded"/>
                          <a:cs typeface="Pattanakarn Expanded"/>
                          <a:sym typeface="Pattanakarn Expanded"/>
                        </a:rPr>
                        <a:t>Information stays accurate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38"/>
                        </a:lnSpc>
                        <a:defRPr/>
                      </a:pPr>
                      <a:r>
                        <a:rPr lang="en-US" sz="2170">
                          <a:solidFill>
                            <a:srgbClr val="FFFFFF"/>
                          </a:solidFill>
                          <a:latin typeface="Pattanakarn Expanded"/>
                          <a:ea typeface="Pattanakarn Expanded"/>
                          <a:cs typeface="Pattanakarn Expanded"/>
                          <a:sym typeface="Pattanakarn Expanded"/>
                        </a:rPr>
                        <a:t>Nobody secretly changes your marks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9525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38"/>
                        </a:lnSpc>
                        <a:defRPr/>
                      </a:pPr>
                      <a:r>
                        <a:rPr lang="en-US" sz="2170">
                          <a:solidFill>
                            <a:srgbClr val="FFFFFF"/>
                          </a:solidFill>
                          <a:latin typeface="Pattanakarn Expanded"/>
                          <a:ea typeface="Pattanakarn Expanded"/>
                          <a:cs typeface="Pattanakarn Expanded"/>
                          <a:sym typeface="Pattanakarn Expanded"/>
                        </a:rPr>
                        <a:t>Availability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38"/>
                        </a:lnSpc>
                        <a:defRPr/>
                      </a:pPr>
                      <a:r>
                        <a:rPr lang="en-US" sz="2170">
                          <a:solidFill>
                            <a:srgbClr val="FFFFFF"/>
                          </a:solidFill>
                          <a:latin typeface="Pattanakarn Expanded"/>
                          <a:ea typeface="Pattanakarn Expanded"/>
                          <a:cs typeface="Pattanakarn Expanded"/>
                          <a:sym typeface="Pattanakarn Expanded"/>
                        </a:rPr>
                        <a:t>Information works when needed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38"/>
                        </a:lnSpc>
                        <a:defRPr/>
                      </a:pPr>
                      <a:r>
                        <a:rPr lang="en-US" sz="2170">
                          <a:solidFill>
                            <a:srgbClr val="FFFFFF"/>
                          </a:solidFill>
                          <a:latin typeface="Pattanakarn Expanded"/>
                          <a:ea typeface="Pattanakarn Expanded"/>
                          <a:cs typeface="Pattanakarn Expanded"/>
                          <a:sym typeface="Pattanakarn Expanded"/>
                        </a:rPr>
                        <a:t>The results portal opens when you need it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7" id="7"/>
          <p:cNvGrpSpPr/>
          <p:nvPr/>
        </p:nvGrpSpPr>
        <p:grpSpPr>
          <a:xfrm rot="0">
            <a:off x="1028700" y="1408211"/>
            <a:ext cx="16647525" cy="2196979"/>
            <a:chOff x="0" y="0"/>
            <a:chExt cx="22196699" cy="2929305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22002553" cy="2929305"/>
              <a:chOff x="0" y="0"/>
              <a:chExt cx="4346183" cy="578628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346183" cy="578628"/>
              </a:xfrm>
              <a:custGeom>
                <a:avLst/>
                <a:gdLst/>
                <a:ahLst/>
                <a:cxnLst/>
                <a:rect r="r" b="b" t="t" l="l"/>
                <a:pathLst>
                  <a:path h="578628" w="4346183">
                    <a:moveTo>
                      <a:pt x="21112" y="0"/>
                    </a:moveTo>
                    <a:lnTo>
                      <a:pt x="4325071" y="0"/>
                    </a:lnTo>
                    <a:cubicBezTo>
                      <a:pt x="4336731" y="0"/>
                      <a:pt x="4346183" y="9452"/>
                      <a:pt x="4346183" y="21112"/>
                    </a:cubicBezTo>
                    <a:lnTo>
                      <a:pt x="4346183" y="557516"/>
                    </a:lnTo>
                    <a:cubicBezTo>
                      <a:pt x="4346183" y="569176"/>
                      <a:pt x="4336731" y="578628"/>
                      <a:pt x="4325071" y="578628"/>
                    </a:cubicBezTo>
                    <a:lnTo>
                      <a:pt x="21112" y="578628"/>
                    </a:lnTo>
                    <a:cubicBezTo>
                      <a:pt x="9452" y="578628"/>
                      <a:pt x="0" y="569176"/>
                      <a:pt x="0" y="557516"/>
                    </a:cubicBezTo>
                    <a:lnTo>
                      <a:pt x="0" y="21112"/>
                    </a:lnTo>
                    <a:cubicBezTo>
                      <a:pt x="0" y="9452"/>
                      <a:pt x="9452" y="0"/>
                      <a:pt x="21112" y="0"/>
                    </a:cubicBezTo>
                    <a:close/>
                  </a:path>
                </a:pathLst>
              </a:custGeom>
              <a:solidFill>
                <a:srgbClr val="FF0010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152400"/>
                <a:ext cx="4346183" cy="7310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38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3406455" y="319374"/>
              <a:ext cx="18790245" cy="17505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662"/>
                </a:lnSpc>
              </a:pPr>
              <a:r>
                <a:rPr lang="en-US" sz="6781" b="true">
                  <a:solidFill>
                    <a:srgbClr val="FFFFFF"/>
                  </a:solidFill>
                  <a:latin typeface="Pattanakarn Expanded Medium"/>
                  <a:ea typeface="Pattanakarn Expanded Medium"/>
                  <a:cs typeface="Pattanakarn Expanded Medium"/>
                  <a:sym typeface="Pattanakarn Expanded Medium"/>
                </a:rPr>
                <a:t>The CIA of Cybersecurity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011748" y="-780547"/>
              <a:ext cx="3999453" cy="37098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180"/>
                </a:lnSpc>
              </a:pPr>
              <a:r>
                <a:rPr lang="en-US" sz="14318">
                  <a:solidFill>
                    <a:srgbClr val="000000"/>
                  </a:solidFill>
                  <a:latin typeface="Pattanakarn Expanded"/>
                  <a:ea typeface="Pattanakarn Expanded"/>
                  <a:cs typeface="Pattanakarn Expanded"/>
                  <a:sym typeface="Pattanakarn Expanded"/>
                </a:rPr>
                <a:t>03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8700" y="344207"/>
            <a:ext cx="5483560" cy="693251"/>
            <a:chOff x="0" y="0"/>
            <a:chExt cx="7311413" cy="924334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411367"/>
              <a:ext cx="6462648" cy="512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226"/>
                </a:lnSpc>
              </a:pPr>
              <a:r>
                <a:rPr lang="en-US" sz="1970">
                  <a:solidFill>
                    <a:srgbClr val="FFFFFF"/>
                  </a:solidFill>
                  <a:latin typeface="Pattanakarn Expanded"/>
                  <a:ea typeface="Pattanakarn Expanded"/>
                  <a:cs typeface="Pattanakarn Expanded"/>
                  <a:sym typeface="Pattanakarn Expanded"/>
                </a:rPr>
                <a:t>DECODE .  DEFEND . DOMINATE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-114300"/>
              <a:ext cx="7311413" cy="5059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226"/>
                </a:lnSpc>
              </a:pPr>
              <a:r>
                <a:rPr lang="en-US" sz="1970">
                  <a:solidFill>
                    <a:srgbClr val="FF0010"/>
                  </a:solidFill>
                  <a:latin typeface="Pattanakarn Expanded"/>
                  <a:ea typeface="Pattanakarn Expanded"/>
                  <a:cs typeface="Pattanakarn Expanded"/>
                  <a:sym typeface="Pattanakarn Expanded"/>
                </a:rPr>
                <a:t>PROTOCOL CYBERSECURITY CLUB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14603" y="3826995"/>
            <a:ext cx="7931086" cy="375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8"/>
              </a:lnSpc>
              <a:spcBef>
                <a:spcPct val="0"/>
              </a:spcBef>
            </a:pPr>
            <a:r>
              <a:rPr lang="en-US" sz="260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YOUR COLLEGE MARKS MAKE A USEFUL EXAMPLE :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987985" y="801782"/>
            <a:ext cx="542630" cy="453836"/>
          </a:xfrm>
          <a:custGeom>
            <a:avLst/>
            <a:gdLst/>
            <a:ahLst/>
            <a:cxnLst/>
            <a:rect r="r" b="b" t="t" l="l"/>
            <a:pathLst>
              <a:path h="453836" w="542630">
                <a:moveTo>
                  <a:pt x="0" y="0"/>
                </a:moveTo>
                <a:lnTo>
                  <a:pt x="542630" y="0"/>
                </a:lnTo>
                <a:lnTo>
                  <a:pt x="542630" y="453836"/>
                </a:lnTo>
                <a:lnTo>
                  <a:pt x="0" y="4538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504990" y="-1767157"/>
            <a:ext cx="3086100" cy="30861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12889" y="0"/>
                  </a:moveTo>
                  <a:lnTo>
                    <a:pt x="699911" y="0"/>
                  </a:lnTo>
                  <a:cubicBezTo>
                    <a:pt x="762258" y="0"/>
                    <a:pt x="812800" y="50542"/>
                    <a:pt x="812800" y="112889"/>
                  </a:cubicBezTo>
                  <a:lnTo>
                    <a:pt x="812800" y="699911"/>
                  </a:lnTo>
                  <a:cubicBezTo>
                    <a:pt x="812800" y="762258"/>
                    <a:pt x="762258" y="812800"/>
                    <a:pt x="699911" y="812800"/>
                  </a:cubicBezTo>
                  <a:lnTo>
                    <a:pt x="112889" y="812800"/>
                  </a:lnTo>
                  <a:cubicBezTo>
                    <a:pt x="50542" y="812800"/>
                    <a:pt x="0" y="762258"/>
                    <a:pt x="0" y="699911"/>
                  </a:cubicBezTo>
                  <a:lnTo>
                    <a:pt x="0" y="112889"/>
                  </a:lnTo>
                  <a:cubicBezTo>
                    <a:pt x="0" y="50542"/>
                    <a:pt x="50542" y="0"/>
                    <a:pt x="112889" y="0"/>
                  </a:cubicBezTo>
                  <a:close/>
                </a:path>
              </a:pathLst>
            </a:custGeom>
            <a:solidFill>
              <a:srgbClr val="FF001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52400"/>
              <a:ext cx="812800" cy="965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81110" y="7462090"/>
            <a:ext cx="3187465" cy="3113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37"/>
              </a:lnSpc>
            </a:pPr>
            <a:r>
              <a:rPr lang="en-US" sz="14900">
                <a:solidFill>
                  <a:srgbClr val="FF0010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04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450323" y="9113637"/>
            <a:ext cx="11075839" cy="3086100"/>
            <a:chOff x="0" y="0"/>
            <a:chExt cx="2917093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917093" cy="812800"/>
            </a:xfrm>
            <a:custGeom>
              <a:avLst/>
              <a:gdLst/>
              <a:ahLst/>
              <a:cxnLst/>
              <a:rect r="r" b="b" t="t" l="l"/>
              <a:pathLst>
                <a:path h="812800" w="2917093">
                  <a:moveTo>
                    <a:pt x="31455" y="0"/>
                  </a:moveTo>
                  <a:lnTo>
                    <a:pt x="2885639" y="0"/>
                  </a:lnTo>
                  <a:cubicBezTo>
                    <a:pt x="2903011" y="0"/>
                    <a:pt x="2917093" y="14083"/>
                    <a:pt x="2917093" y="31455"/>
                  </a:cubicBezTo>
                  <a:lnTo>
                    <a:pt x="2917093" y="781345"/>
                  </a:lnTo>
                  <a:cubicBezTo>
                    <a:pt x="2917093" y="798717"/>
                    <a:pt x="2903011" y="812800"/>
                    <a:pt x="2885639" y="812800"/>
                  </a:cubicBezTo>
                  <a:lnTo>
                    <a:pt x="31455" y="812800"/>
                  </a:lnTo>
                  <a:cubicBezTo>
                    <a:pt x="14083" y="812800"/>
                    <a:pt x="0" y="798717"/>
                    <a:pt x="0" y="781345"/>
                  </a:cubicBezTo>
                  <a:lnTo>
                    <a:pt x="0" y="31455"/>
                  </a:lnTo>
                  <a:cubicBezTo>
                    <a:pt x="0" y="14083"/>
                    <a:pt x="14083" y="0"/>
                    <a:pt x="31455" y="0"/>
                  </a:cubicBezTo>
                  <a:close/>
                </a:path>
              </a:pathLst>
            </a:custGeom>
            <a:solidFill>
              <a:srgbClr val="FF001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52400"/>
              <a:ext cx="2917093" cy="965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344207"/>
            <a:ext cx="5483560" cy="693251"/>
            <a:chOff x="0" y="0"/>
            <a:chExt cx="7311413" cy="924334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411367"/>
              <a:ext cx="6462648" cy="512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226"/>
                </a:lnSpc>
              </a:pPr>
              <a:r>
                <a:rPr lang="en-US" sz="1970">
                  <a:solidFill>
                    <a:srgbClr val="FFFFFF"/>
                  </a:solidFill>
                  <a:latin typeface="Pattanakarn Expanded"/>
                  <a:ea typeface="Pattanakarn Expanded"/>
                  <a:cs typeface="Pattanakarn Expanded"/>
                  <a:sym typeface="Pattanakarn Expanded"/>
                </a:rPr>
                <a:t>DECODE .  DEFEND . DOMINATE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-114300"/>
              <a:ext cx="7311413" cy="5059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226"/>
                </a:lnSpc>
              </a:pPr>
              <a:r>
                <a:rPr lang="en-US" sz="1970">
                  <a:solidFill>
                    <a:srgbClr val="FF0010"/>
                  </a:solidFill>
                  <a:latin typeface="Pattanakarn Expanded"/>
                  <a:ea typeface="Pattanakarn Expanded"/>
                  <a:cs typeface="Pattanakarn Expanded"/>
                  <a:sym typeface="Pattanakarn Expanded"/>
                </a:rPr>
                <a:t>PROTOCOL CYBERSECURITY CLUB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4741593" y="2556367"/>
            <a:ext cx="8804814" cy="726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4"/>
              </a:lnSpc>
              <a:spcBef>
                <a:spcPct val="0"/>
              </a:spcBef>
            </a:pPr>
            <a:r>
              <a:rPr lang="en-US" sz="3499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A QUICK QUESTION TO EVERYONE :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581110" y="3990830"/>
            <a:ext cx="17324946" cy="2856933"/>
            <a:chOff x="0" y="0"/>
            <a:chExt cx="4562949" cy="75244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562949" cy="752443"/>
            </a:xfrm>
            <a:custGeom>
              <a:avLst/>
              <a:gdLst/>
              <a:ahLst/>
              <a:cxnLst/>
              <a:rect r="r" b="b" t="t" l="l"/>
              <a:pathLst>
                <a:path h="752443" w="4562949">
                  <a:moveTo>
                    <a:pt x="20109" y="0"/>
                  </a:moveTo>
                  <a:lnTo>
                    <a:pt x="4542840" y="0"/>
                  </a:lnTo>
                  <a:cubicBezTo>
                    <a:pt x="4553946" y="0"/>
                    <a:pt x="4562949" y="9003"/>
                    <a:pt x="4562949" y="20109"/>
                  </a:cubicBezTo>
                  <a:lnTo>
                    <a:pt x="4562949" y="732334"/>
                  </a:lnTo>
                  <a:cubicBezTo>
                    <a:pt x="4562949" y="743440"/>
                    <a:pt x="4553946" y="752443"/>
                    <a:pt x="4542840" y="752443"/>
                  </a:cubicBezTo>
                  <a:lnTo>
                    <a:pt x="20109" y="752443"/>
                  </a:lnTo>
                  <a:cubicBezTo>
                    <a:pt x="9003" y="752443"/>
                    <a:pt x="0" y="743440"/>
                    <a:pt x="0" y="732334"/>
                  </a:cubicBezTo>
                  <a:lnTo>
                    <a:pt x="0" y="20109"/>
                  </a:lnTo>
                  <a:cubicBezTo>
                    <a:pt x="0" y="9003"/>
                    <a:pt x="9003" y="0"/>
                    <a:pt x="20109" y="0"/>
                  </a:cubicBezTo>
                  <a:close/>
                </a:path>
              </a:pathLst>
            </a:custGeom>
            <a:solidFill>
              <a:srgbClr val="FF001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52400"/>
              <a:ext cx="4562949" cy="9048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481527" y="4492482"/>
            <a:ext cx="17524111" cy="1368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6"/>
              </a:lnSpc>
              <a:spcBef>
                <a:spcPct val="0"/>
              </a:spcBef>
            </a:pPr>
            <a:r>
              <a:rPr lang="en-US" sz="3899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SOMEONE CHANGES YOUR MARKS WITHOUT PERMISSION. WHICH GOAL FAILED?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987985" y="801782"/>
            <a:ext cx="542630" cy="453836"/>
          </a:xfrm>
          <a:custGeom>
            <a:avLst/>
            <a:gdLst/>
            <a:ahLst/>
            <a:cxnLst/>
            <a:rect r="r" b="b" t="t" l="l"/>
            <a:pathLst>
              <a:path h="453836" w="542630">
                <a:moveTo>
                  <a:pt x="0" y="0"/>
                </a:moveTo>
                <a:lnTo>
                  <a:pt x="542630" y="0"/>
                </a:lnTo>
                <a:lnTo>
                  <a:pt x="542630" y="453836"/>
                </a:lnTo>
                <a:lnTo>
                  <a:pt x="0" y="4538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504990" y="-1767157"/>
            <a:ext cx="3086100" cy="30861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12889" y="0"/>
                  </a:moveTo>
                  <a:lnTo>
                    <a:pt x="699911" y="0"/>
                  </a:lnTo>
                  <a:cubicBezTo>
                    <a:pt x="762258" y="0"/>
                    <a:pt x="812800" y="50542"/>
                    <a:pt x="812800" y="112889"/>
                  </a:cubicBezTo>
                  <a:lnTo>
                    <a:pt x="812800" y="699911"/>
                  </a:lnTo>
                  <a:cubicBezTo>
                    <a:pt x="812800" y="762258"/>
                    <a:pt x="762258" y="812800"/>
                    <a:pt x="699911" y="812800"/>
                  </a:cubicBezTo>
                  <a:lnTo>
                    <a:pt x="112889" y="812800"/>
                  </a:lnTo>
                  <a:cubicBezTo>
                    <a:pt x="50542" y="812800"/>
                    <a:pt x="0" y="762258"/>
                    <a:pt x="0" y="699911"/>
                  </a:cubicBezTo>
                  <a:lnTo>
                    <a:pt x="0" y="112889"/>
                  </a:lnTo>
                  <a:cubicBezTo>
                    <a:pt x="0" y="50542"/>
                    <a:pt x="50542" y="0"/>
                    <a:pt x="112889" y="0"/>
                  </a:cubicBezTo>
                  <a:close/>
                </a:path>
              </a:pathLst>
            </a:custGeom>
            <a:solidFill>
              <a:srgbClr val="FF001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52400"/>
              <a:ext cx="812800" cy="965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525" y="5966145"/>
            <a:ext cx="4403327" cy="4846286"/>
            <a:chOff x="0" y="0"/>
            <a:chExt cx="1159724" cy="127638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59724" cy="1276388"/>
            </a:xfrm>
            <a:custGeom>
              <a:avLst/>
              <a:gdLst/>
              <a:ahLst/>
              <a:cxnLst/>
              <a:rect r="r" b="b" t="t" l="l"/>
              <a:pathLst>
                <a:path h="1276388" w="1159724">
                  <a:moveTo>
                    <a:pt x="79119" y="0"/>
                  </a:moveTo>
                  <a:lnTo>
                    <a:pt x="1080605" y="0"/>
                  </a:lnTo>
                  <a:cubicBezTo>
                    <a:pt x="1124301" y="0"/>
                    <a:pt x="1159724" y="35423"/>
                    <a:pt x="1159724" y="79119"/>
                  </a:cubicBezTo>
                  <a:lnTo>
                    <a:pt x="1159724" y="1197269"/>
                  </a:lnTo>
                  <a:cubicBezTo>
                    <a:pt x="1159724" y="1218253"/>
                    <a:pt x="1151388" y="1238377"/>
                    <a:pt x="1136551" y="1253215"/>
                  </a:cubicBezTo>
                  <a:cubicBezTo>
                    <a:pt x="1121713" y="1268052"/>
                    <a:pt x="1101589" y="1276388"/>
                    <a:pt x="1080605" y="1276388"/>
                  </a:cubicBezTo>
                  <a:lnTo>
                    <a:pt x="79119" y="1276388"/>
                  </a:lnTo>
                  <a:cubicBezTo>
                    <a:pt x="58135" y="1276388"/>
                    <a:pt x="38011" y="1268052"/>
                    <a:pt x="23173" y="1253215"/>
                  </a:cubicBezTo>
                  <a:cubicBezTo>
                    <a:pt x="8336" y="1238377"/>
                    <a:pt x="0" y="1218253"/>
                    <a:pt x="0" y="1197269"/>
                  </a:cubicBezTo>
                  <a:lnTo>
                    <a:pt x="0" y="79119"/>
                  </a:lnTo>
                  <a:cubicBezTo>
                    <a:pt x="0" y="58135"/>
                    <a:pt x="8336" y="38011"/>
                    <a:pt x="23173" y="23173"/>
                  </a:cubicBezTo>
                  <a:cubicBezTo>
                    <a:pt x="38011" y="8336"/>
                    <a:pt x="58135" y="0"/>
                    <a:pt x="79119" y="0"/>
                  </a:cubicBezTo>
                  <a:close/>
                </a:path>
              </a:pathLst>
            </a:custGeom>
            <a:solidFill>
              <a:srgbClr val="FF001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52400"/>
              <a:ext cx="1159724" cy="14287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624388" y="5966145"/>
            <a:ext cx="4403327" cy="4846286"/>
            <a:chOff x="0" y="0"/>
            <a:chExt cx="1159724" cy="127638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59724" cy="1276388"/>
            </a:xfrm>
            <a:custGeom>
              <a:avLst/>
              <a:gdLst/>
              <a:ahLst/>
              <a:cxnLst/>
              <a:rect r="r" b="b" t="t" l="l"/>
              <a:pathLst>
                <a:path h="1276388" w="1159724">
                  <a:moveTo>
                    <a:pt x="79119" y="0"/>
                  </a:moveTo>
                  <a:lnTo>
                    <a:pt x="1080605" y="0"/>
                  </a:lnTo>
                  <a:cubicBezTo>
                    <a:pt x="1124301" y="0"/>
                    <a:pt x="1159724" y="35423"/>
                    <a:pt x="1159724" y="79119"/>
                  </a:cubicBezTo>
                  <a:lnTo>
                    <a:pt x="1159724" y="1197269"/>
                  </a:lnTo>
                  <a:cubicBezTo>
                    <a:pt x="1159724" y="1218253"/>
                    <a:pt x="1151388" y="1238377"/>
                    <a:pt x="1136551" y="1253215"/>
                  </a:cubicBezTo>
                  <a:cubicBezTo>
                    <a:pt x="1121713" y="1268052"/>
                    <a:pt x="1101589" y="1276388"/>
                    <a:pt x="1080605" y="1276388"/>
                  </a:cubicBezTo>
                  <a:lnTo>
                    <a:pt x="79119" y="1276388"/>
                  </a:lnTo>
                  <a:cubicBezTo>
                    <a:pt x="58135" y="1276388"/>
                    <a:pt x="38011" y="1268052"/>
                    <a:pt x="23173" y="1253215"/>
                  </a:cubicBezTo>
                  <a:cubicBezTo>
                    <a:pt x="8336" y="1238377"/>
                    <a:pt x="0" y="1218253"/>
                    <a:pt x="0" y="1197269"/>
                  </a:cubicBezTo>
                  <a:lnTo>
                    <a:pt x="0" y="79119"/>
                  </a:lnTo>
                  <a:cubicBezTo>
                    <a:pt x="0" y="58135"/>
                    <a:pt x="8336" y="38011"/>
                    <a:pt x="23173" y="23173"/>
                  </a:cubicBezTo>
                  <a:cubicBezTo>
                    <a:pt x="38011" y="8336"/>
                    <a:pt x="58135" y="0"/>
                    <a:pt x="79119" y="0"/>
                  </a:cubicBezTo>
                  <a:close/>
                </a:path>
              </a:pathLst>
            </a:custGeom>
            <a:solidFill>
              <a:srgbClr val="FF001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52400"/>
              <a:ext cx="1159724" cy="14287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237265" y="5966145"/>
            <a:ext cx="4403327" cy="4817711"/>
            <a:chOff x="0" y="0"/>
            <a:chExt cx="1159724" cy="126886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59724" cy="1268862"/>
            </a:xfrm>
            <a:custGeom>
              <a:avLst/>
              <a:gdLst/>
              <a:ahLst/>
              <a:cxnLst/>
              <a:rect r="r" b="b" t="t" l="l"/>
              <a:pathLst>
                <a:path h="1268862" w="1159724">
                  <a:moveTo>
                    <a:pt x="79119" y="0"/>
                  </a:moveTo>
                  <a:lnTo>
                    <a:pt x="1080605" y="0"/>
                  </a:lnTo>
                  <a:cubicBezTo>
                    <a:pt x="1124301" y="0"/>
                    <a:pt x="1159724" y="35423"/>
                    <a:pt x="1159724" y="79119"/>
                  </a:cubicBezTo>
                  <a:lnTo>
                    <a:pt x="1159724" y="1189743"/>
                  </a:lnTo>
                  <a:cubicBezTo>
                    <a:pt x="1159724" y="1210727"/>
                    <a:pt x="1151388" y="1230851"/>
                    <a:pt x="1136551" y="1245689"/>
                  </a:cubicBezTo>
                  <a:cubicBezTo>
                    <a:pt x="1121713" y="1260526"/>
                    <a:pt x="1101589" y="1268862"/>
                    <a:pt x="1080605" y="1268862"/>
                  </a:cubicBezTo>
                  <a:lnTo>
                    <a:pt x="79119" y="1268862"/>
                  </a:lnTo>
                  <a:cubicBezTo>
                    <a:pt x="58135" y="1268862"/>
                    <a:pt x="38011" y="1260526"/>
                    <a:pt x="23173" y="1245689"/>
                  </a:cubicBezTo>
                  <a:cubicBezTo>
                    <a:pt x="8336" y="1230851"/>
                    <a:pt x="0" y="1210727"/>
                    <a:pt x="0" y="1189743"/>
                  </a:cubicBezTo>
                  <a:lnTo>
                    <a:pt x="0" y="79119"/>
                  </a:lnTo>
                  <a:cubicBezTo>
                    <a:pt x="0" y="58135"/>
                    <a:pt x="8336" y="38011"/>
                    <a:pt x="23173" y="23173"/>
                  </a:cubicBezTo>
                  <a:cubicBezTo>
                    <a:pt x="38011" y="8336"/>
                    <a:pt x="58135" y="0"/>
                    <a:pt x="79119" y="0"/>
                  </a:cubicBezTo>
                  <a:close/>
                </a:path>
              </a:pathLst>
            </a:custGeom>
            <a:solidFill>
              <a:srgbClr val="FF001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52400"/>
              <a:ext cx="1159724" cy="14212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850142" y="5975670"/>
            <a:ext cx="4403327" cy="5202767"/>
            <a:chOff x="0" y="0"/>
            <a:chExt cx="1159724" cy="137027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59724" cy="1370276"/>
            </a:xfrm>
            <a:custGeom>
              <a:avLst/>
              <a:gdLst/>
              <a:ahLst/>
              <a:cxnLst/>
              <a:rect r="r" b="b" t="t" l="l"/>
              <a:pathLst>
                <a:path h="1370276" w="1159724">
                  <a:moveTo>
                    <a:pt x="79119" y="0"/>
                  </a:moveTo>
                  <a:lnTo>
                    <a:pt x="1080605" y="0"/>
                  </a:lnTo>
                  <a:cubicBezTo>
                    <a:pt x="1124301" y="0"/>
                    <a:pt x="1159724" y="35423"/>
                    <a:pt x="1159724" y="79119"/>
                  </a:cubicBezTo>
                  <a:lnTo>
                    <a:pt x="1159724" y="1291157"/>
                  </a:lnTo>
                  <a:cubicBezTo>
                    <a:pt x="1159724" y="1312141"/>
                    <a:pt x="1151388" y="1332265"/>
                    <a:pt x="1136551" y="1347103"/>
                  </a:cubicBezTo>
                  <a:cubicBezTo>
                    <a:pt x="1121713" y="1361941"/>
                    <a:pt x="1101589" y="1370276"/>
                    <a:pt x="1080605" y="1370276"/>
                  </a:cubicBezTo>
                  <a:lnTo>
                    <a:pt x="79119" y="1370276"/>
                  </a:lnTo>
                  <a:cubicBezTo>
                    <a:pt x="58135" y="1370276"/>
                    <a:pt x="38011" y="1361941"/>
                    <a:pt x="23173" y="1347103"/>
                  </a:cubicBezTo>
                  <a:cubicBezTo>
                    <a:pt x="8336" y="1332265"/>
                    <a:pt x="0" y="1312141"/>
                    <a:pt x="0" y="1291157"/>
                  </a:cubicBezTo>
                  <a:lnTo>
                    <a:pt x="0" y="79119"/>
                  </a:lnTo>
                  <a:cubicBezTo>
                    <a:pt x="0" y="58135"/>
                    <a:pt x="8336" y="38011"/>
                    <a:pt x="23173" y="23173"/>
                  </a:cubicBezTo>
                  <a:cubicBezTo>
                    <a:pt x="38011" y="8336"/>
                    <a:pt x="58135" y="0"/>
                    <a:pt x="79119" y="0"/>
                  </a:cubicBezTo>
                  <a:close/>
                </a:path>
              </a:pathLst>
            </a:custGeom>
            <a:solidFill>
              <a:srgbClr val="FF001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52400"/>
              <a:ext cx="1159724" cy="15226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0682307" y="525555"/>
            <a:ext cx="5566862" cy="4862677"/>
          </a:xfrm>
          <a:custGeom>
            <a:avLst/>
            <a:gdLst/>
            <a:ahLst/>
            <a:cxnLst/>
            <a:rect r="r" b="b" t="t" l="l"/>
            <a:pathLst>
              <a:path h="4862677" w="5566862">
                <a:moveTo>
                  <a:pt x="0" y="0"/>
                </a:moveTo>
                <a:lnTo>
                  <a:pt x="5566861" y="0"/>
                </a:lnTo>
                <a:lnTo>
                  <a:pt x="5566861" y="4862677"/>
                </a:lnTo>
                <a:lnTo>
                  <a:pt x="0" y="48626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7173381" y="-156893"/>
            <a:ext cx="3187465" cy="3113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37"/>
              </a:lnSpc>
            </a:pPr>
            <a:r>
              <a:rPr lang="en-US" sz="14900">
                <a:solidFill>
                  <a:srgbClr val="FF0010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05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1218232"/>
            <a:ext cx="8115300" cy="4005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66"/>
              </a:lnSpc>
            </a:pPr>
            <a:r>
              <a:rPr lang="en-US" sz="8112" b="true">
                <a:solidFill>
                  <a:srgbClr val="FFFFFF"/>
                </a:solidFill>
                <a:latin typeface="Pattanakarn Expanded Medium"/>
                <a:ea typeface="Pattanakarn Expanded Medium"/>
                <a:cs typeface="Pattanakarn Expanded Medium"/>
                <a:sym typeface="Pattanakarn Expanded Medium"/>
              </a:rPr>
              <a:t>Where cybersecurity works?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28700" y="344207"/>
            <a:ext cx="5483560" cy="693251"/>
            <a:chOff x="0" y="0"/>
            <a:chExt cx="7311413" cy="924334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411367"/>
              <a:ext cx="6462648" cy="512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226"/>
                </a:lnSpc>
              </a:pPr>
              <a:r>
                <a:rPr lang="en-US" sz="1970">
                  <a:solidFill>
                    <a:srgbClr val="FFFFFF"/>
                  </a:solidFill>
                  <a:latin typeface="Pattanakarn Expanded"/>
                  <a:ea typeface="Pattanakarn Expanded"/>
                  <a:cs typeface="Pattanakarn Expanded"/>
                  <a:sym typeface="Pattanakarn Expanded"/>
                </a:rPr>
                <a:t>DECODE .  DEFEND . DOMINATE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-114300"/>
              <a:ext cx="7311413" cy="5059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226"/>
                </a:lnSpc>
              </a:pPr>
              <a:r>
                <a:rPr lang="en-US" sz="1970">
                  <a:solidFill>
                    <a:srgbClr val="FF0010"/>
                  </a:solidFill>
                  <a:latin typeface="Pattanakarn Expanded"/>
                  <a:ea typeface="Pattanakarn Expanded"/>
                  <a:cs typeface="Pattanakarn Expanded"/>
                  <a:sym typeface="Pattanakarn Expanded"/>
                </a:rPr>
                <a:t>PROTOCOL CYBERSECURITY CLUB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0" y="6042095"/>
            <a:ext cx="4422377" cy="1192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1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NETWORK SECURITY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6835" y="7017709"/>
            <a:ext cx="4128706" cy="1289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8"/>
              </a:lnSpc>
            </a:pPr>
          </a:p>
          <a:p>
            <a:pPr algn="ctr">
              <a:lnSpc>
                <a:spcPts val="2938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WHAT IT PROTECTS</a:t>
            </a:r>
          </a:p>
          <a:p>
            <a:pPr algn="ctr">
              <a:lnSpc>
                <a:spcPts val="2938"/>
              </a:lnSpc>
              <a:spcBef>
                <a:spcPct val="0"/>
              </a:spcBef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231473" y="8117148"/>
            <a:ext cx="3276015" cy="1826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  <a:spcBef>
                <a:spcPct val="0"/>
              </a:spcBef>
            </a:pPr>
            <a:r>
              <a:rPr lang="en-US" sz="2899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Wi-Fi, connections, and network traffic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685917" y="6042095"/>
            <a:ext cx="4240535" cy="1192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1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APPLICATION SECURITY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904272" y="8117148"/>
            <a:ext cx="3025476" cy="1678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1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Apps, websites, and software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638407" y="7027234"/>
            <a:ext cx="4128706" cy="1289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8"/>
              </a:lnSpc>
            </a:pPr>
          </a:p>
          <a:p>
            <a:pPr algn="ctr">
              <a:lnSpc>
                <a:spcPts val="2938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WHAT IT PROTECTS</a:t>
            </a:r>
          </a:p>
          <a:p>
            <a:pPr algn="ctr">
              <a:lnSpc>
                <a:spcPts val="2938"/>
              </a:lnSpc>
              <a:spcBef>
                <a:spcPct val="0"/>
              </a:spcBef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9523015" y="6023045"/>
            <a:ext cx="3756739" cy="1192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1"/>
              </a:lnSpc>
            </a:pPr>
            <a:r>
              <a:rPr lang="en-US" sz="3399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INFORMATION</a:t>
            </a:r>
          </a:p>
          <a:p>
            <a:pPr algn="ctr">
              <a:lnSpc>
                <a:spcPts val="3841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SECURITY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337031" y="7008184"/>
            <a:ext cx="4128706" cy="1289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8"/>
              </a:lnSpc>
            </a:pPr>
          </a:p>
          <a:p>
            <a:pPr algn="ctr">
              <a:lnSpc>
                <a:spcPts val="2938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WHAT IT PROTECTS</a:t>
            </a:r>
          </a:p>
          <a:p>
            <a:pPr algn="ctr">
              <a:lnSpc>
                <a:spcPts val="2938"/>
              </a:lnSpc>
              <a:spcBef>
                <a:spcPct val="0"/>
              </a:spcBef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9523015" y="8198788"/>
            <a:ext cx="3568521" cy="1620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8"/>
              </a:lnSpc>
              <a:spcBef>
                <a:spcPct val="0"/>
              </a:spcBef>
            </a:pPr>
            <a:r>
              <a:rPr lang="en-US" sz="3299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Files and sensitive information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162523" y="6051620"/>
            <a:ext cx="3756739" cy="1192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1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CLOUD </a:t>
            </a:r>
            <a:r>
              <a:rPr lang="en-US" sz="3399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SECURITY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954917" y="7027234"/>
            <a:ext cx="4128706" cy="1289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8"/>
              </a:lnSpc>
            </a:pPr>
          </a:p>
          <a:p>
            <a:pPr algn="ctr">
              <a:lnSpc>
                <a:spcPts val="2938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WHAT IT PROTECTS</a:t>
            </a:r>
          </a:p>
          <a:p>
            <a:pPr algn="ctr">
              <a:lnSpc>
                <a:spcPts val="2938"/>
              </a:lnSpc>
              <a:spcBef>
                <a:spcPct val="0"/>
              </a:spcBef>
            </a:pPr>
          </a:p>
        </p:txBody>
      </p:sp>
      <p:sp>
        <p:nvSpPr>
          <p:cNvPr name="TextBox 35" id="35"/>
          <p:cNvSpPr txBox="true"/>
          <p:nvPr/>
        </p:nvSpPr>
        <p:spPr>
          <a:xfrm rot="0">
            <a:off x="14254205" y="8198788"/>
            <a:ext cx="3276410" cy="1620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8"/>
              </a:lnSpc>
              <a:spcBef>
                <a:spcPct val="0"/>
              </a:spcBef>
            </a:pPr>
            <a:r>
              <a:rPr lang="en-US" sz="3299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Online storage and cloud services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987985" y="801782"/>
            <a:ext cx="542630" cy="453836"/>
          </a:xfrm>
          <a:custGeom>
            <a:avLst/>
            <a:gdLst/>
            <a:ahLst/>
            <a:cxnLst/>
            <a:rect r="r" b="b" t="t" l="l"/>
            <a:pathLst>
              <a:path h="453836" w="542630">
                <a:moveTo>
                  <a:pt x="0" y="0"/>
                </a:moveTo>
                <a:lnTo>
                  <a:pt x="542630" y="0"/>
                </a:lnTo>
                <a:lnTo>
                  <a:pt x="542630" y="453836"/>
                </a:lnTo>
                <a:lnTo>
                  <a:pt x="0" y="4538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504990" y="-1767157"/>
            <a:ext cx="3086100" cy="30861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12889" y="0"/>
                  </a:moveTo>
                  <a:lnTo>
                    <a:pt x="699911" y="0"/>
                  </a:lnTo>
                  <a:cubicBezTo>
                    <a:pt x="762258" y="0"/>
                    <a:pt x="812800" y="50542"/>
                    <a:pt x="812800" y="112889"/>
                  </a:cubicBezTo>
                  <a:lnTo>
                    <a:pt x="812800" y="699911"/>
                  </a:lnTo>
                  <a:cubicBezTo>
                    <a:pt x="812800" y="762258"/>
                    <a:pt x="762258" y="812800"/>
                    <a:pt x="699911" y="812800"/>
                  </a:cubicBezTo>
                  <a:lnTo>
                    <a:pt x="112889" y="812800"/>
                  </a:lnTo>
                  <a:cubicBezTo>
                    <a:pt x="50542" y="812800"/>
                    <a:pt x="0" y="762258"/>
                    <a:pt x="0" y="699911"/>
                  </a:cubicBezTo>
                  <a:lnTo>
                    <a:pt x="0" y="112889"/>
                  </a:lnTo>
                  <a:cubicBezTo>
                    <a:pt x="0" y="50542"/>
                    <a:pt x="50542" y="0"/>
                    <a:pt x="112889" y="0"/>
                  </a:cubicBezTo>
                  <a:close/>
                </a:path>
              </a:pathLst>
            </a:custGeom>
            <a:solidFill>
              <a:srgbClr val="FF001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52400"/>
              <a:ext cx="812800" cy="965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-1007313" y="6778828"/>
            <a:ext cx="10423658" cy="7246813"/>
            <a:chOff x="0" y="0"/>
            <a:chExt cx="2745326" cy="19086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45326" cy="1908626"/>
            </a:xfrm>
            <a:custGeom>
              <a:avLst/>
              <a:gdLst/>
              <a:ahLst/>
              <a:cxnLst/>
              <a:rect r="r" b="b" t="t" l="l"/>
              <a:pathLst>
                <a:path h="1908626" w="2745326">
                  <a:moveTo>
                    <a:pt x="33423" y="0"/>
                  </a:moveTo>
                  <a:lnTo>
                    <a:pt x="2711903" y="0"/>
                  </a:lnTo>
                  <a:cubicBezTo>
                    <a:pt x="2720767" y="0"/>
                    <a:pt x="2729268" y="3521"/>
                    <a:pt x="2735536" y="9789"/>
                  </a:cubicBezTo>
                  <a:cubicBezTo>
                    <a:pt x="2741804" y="16057"/>
                    <a:pt x="2745326" y="24558"/>
                    <a:pt x="2745326" y="33423"/>
                  </a:cubicBezTo>
                  <a:lnTo>
                    <a:pt x="2745326" y="1875203"/>
                  </a:lnTo>
                  <a:cubicBezTo>
                    <a:pt x="2745326" y="1884067"/>
                    <a:pt x="2741804" y="1892568"/>
                    <a:pt x="2735536" y="1898836"/>
                  </a:cubicBezTo>
                  <a:cubicBezTo>
                    <a:pt x="2729268" y="1905104"/>
                    <a:pt x="2720767" y="1908626"/>
                    <a:pt x="2711903" y="1908626"/>
                  </a:cubicBezTo>
                  <a:lnTo>
                    <a:pt x="33423" y="1908626"/>
                  </a:lnTo>
                  <a:cubicBezTo>
                    <a:pt x="24558" y="1908626"/>
                    <a:pt x="16057" y="1905104"/>
                    <a:pt x="9789" y="1898836"/>
                  </a:cubicBezTo>
                  <a:cubicBezTo>
                    <a:pt x="3521" y="1892568"/>
                    <a:pt x="0" y="1884067"/>
                    <a:pt x="0" y="1875203"/>
                  </a:cubicBezTo>
                  <a:lnTo>
                    <a:pt x="0" y="33423"/>
                  </a:lnTo>
                  <a:cubicBezTo>
                    <a:pt x="0" y="24558"/>
                    <a:pt x="3521" y="16057"/>
                    <a:pt x="9789" y="9789"/>
                  </a:cubicBezTo>
                  <a:cubicBezTo>
                    <a:pt x="16057" y="3521"/>
                    <a:pt x="24558" y="0"/>
                    <a:pt x="33423" y="0"/>
                  </a:cubicBezTo>
                  <a:close/>
                </a:path>
              </a:pathLst>
            </a:custGeom>
            <a:solidFill>
              <a:srgbClr val="FF001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52400"/>
              <a:ext cx="2745326" cy="20610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4823" y="5484558"/>
            <a:ext cx="6559386" cy="5650162"/>
            <a:chOff x="0" y="0"/>
            <a:chExt cx="1684080" cy="145064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84080" cy="1450643"/>
            </a:xfrm>
            <a:custGeom>
              <a:avLst/>
              <a:gdLst/>
              <a:ahLst/>
              <a:cxnLst/>
              <a:rect r="r" b="b" t="t" l="l"/>
              <a:pathLst>
                <a:path h="1450643" w="1684080">
                  <a:moveTo>
                    <a:pt x="53113" y="0"/>
                  </a:moveTo>
                  <a:lnTo>
                    <a:pt x="1630968" y="0"/>
                  </a:lnTo>
                  <a:cubicBezTo>
                    <a:pt x="1660301" y="0"/>
                    <a:pt x="1684080" y="23779"/>
                    <a:pt x="1684080" y="53113"/>
                  </a:cubicBezTo>
                  <a:lnTo>
                    <a:pt x="1684080" y="1397530"/>
                  </a:lnTo>
                  <a:cubicBezTo>
                    <a:pt x="1684080" y="1426864"/>
                    <a:pt x="1660301" y="1450643"/>
                    <a:pt x="1630968" y="1450643"/>
                  </a:cubicBezTo>
                  <a:lnTo>
                    <a:pt x="53113" y="1450643"/>
                  </a:lnTo>
                  <a:cubicBezTo>
                    <a:pt x="23779" y="1450643"/>
                    <a:pt x="0" y="1426864"/>
                    <a:pt x="0" y="1397530"/>
                  </a:cubicBezTo>
                  <a:lnTo>
                    <a:pt x="0" y="53113"/>
                  </a:lnTo>
                  <a:cubicBezTo>
                    <a:pt x="0" y="23779"/>
                    <a:pt x="23779" y="0"/>
                    <a:pt x="53113" y="0"/>
                  </a:cubicBezTo>
                  <a:close/>
                </a:path>
              </a:pathLst>
            </a:custGeom>
            <a:blipFill>
              <a:blip r:embed="rId4"/>
              <a:stretch>
                <a:fillRect l="-10875" t="0" r="-10875" b="0"/>
              </a:stretch>
            </a:blipFill>
          </p:spPr>
        </p:sp>
      </p:grpSp>
      <p:sp>
        <p:nvSpPr>
          <p:cNvPr name="AutoShape 11" id="11"/>
          <p:cNvSpPr/>
          <p:nvPr/>
        </p:nvSpPr>
        <p:spPr>
          <a:xfrm>
            <a:off x="9144000" y="10192419"/>
            <a:ext cx="6492240" cy="0"/>
          </a:xfrm>
          <a:prstGeom prst="line">
            <a:avLst/>
          </a:prstGeom>
          <a:ln cap="flat" w="38100">
            <a:solidFill>
              <a:srgbClr val="FF0010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8139326" y="3729426"/>
          <a:ext cx="10148674" cy="4991100"/>
        </p:xfrm>
        <a:graphic>
          <a:graphicData uri="http://schemas.openxmlformats.org/drawingml/2006/table">
            <a:tbl>
              <a:tblPr/>
              <a:tblGrid>
                <a:gridCol w="3221275"/>
                <a:gridCol w="6927399"/>
              </a:tblGrid>
              <a:tr h="170849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38"/>
                        </a:lnSpc>
                        <a:defRPr/>
                      </a:pPr>
                      <a:r>
                        <a:rPr lang="en-US" sz="2670" b="true">
                          <a:solidFill>
                            <a:srgbClr val="FFFFFF"/>
                          </a:solidFill>
                          <a:latin typeface="Anantason Bold"/>
                          <a:ea typeface="Anantason Bold"/>
                          <a:cs typeface="Anantason Bold"/>
                          <a:sym typeface="Anantason Bold"/>
                        </a:rPr>
                        <a:t>Endpoint security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FFFFFF"/>
                          </a:solidFill>
                          <a:latin typeface="Anantason"/>
                          <a:ea typeface="Anantason"/>
                          <a:cs typeface="Anantason"/>
                          <a:sym typeface="Anantason"/>
                        </a:rPr>
                        <a:t>Protects laptops, phones, and other devices.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130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38"/>
                        </a:lnSpc>
                        <a:defRPr/>
                      </a:pPr>
                      <a:r>
                        <a:rPr lang="en-US" sz="2670">
                          <a:solidFill>
                            <a:srgbClr val="FFFFFF"/>
                          </a:solidFill>
                          <a:latin typeface="Anantason"/>
                          <a:ea typeface="Anantason"/>
                          <a:cs typeface="Anantason"/>
                          <a:sym typeface="Anantason"/>
                        </a:rPr>
                        <a:t>Operational security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738"/>
                        </a:lnSpc>
                        <a:defRPr/>
                      </a:pPr>
                      <a:r>
                        <a:rPr lang="en-US" sz="2670">
                          <a:solidFill>
                            <a:srgbClr val="FFFFFF"/>
                          </a:solidFill>
                          <a:latin typeface="Anantason"/>
                          <a:ea typeface="Anantason"/>
                          <a:cs typeface="Anantason"/>
                          <a:sym typeface="Anantason"/>
                        </a:rPr>
                        <a:t>Covers access rules, staff training, and incident handling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130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38"/>
                        </a:lnSpc>
                        <a:defRPr/>
                      </a:pPr>
                      <a:r>
                        <a:rPr lang="en-US" sz="2670">
                          <a:solidFill>
                            <a:srgbClr val="FFFFFF"/>
                          </a:solidFill>
                          <a:latin typeface="Anantason"/>
                          <a:ea typeface="Anantason"/>
                          <a:cs typeface="Anantason"/>
                          <a:sym typeface="Anantason"/>
                        </a:rPr>
                        <a:t>IoT</a:t>
                      </a:r>
                      <a:r>
                        <a:rPr lang="en-US" sz="2670">
                          <a:solidFill>
                            <a:srgbClr val="FFFFFF"/>
                          </a:solidFill>
                          <a:latin typeface="Anantason"/>
                          <a:ea typeface="Anantason"/>
                          <a:cs typeface="Anantason"/>
                          <a:sym typeface="Anantason"/>
                        </a:rPr>
                        <a:t> </a:t>
                      </a:r>
                      <a:endParaRPr lang="en-US" sz="1100"/>
                    </a:p>
                    <a:p>
                      <a:pPr algn="ctr">
                        <a:lnSpc>
                          <a:spcPts val="3738"/>
                        </a:lnSpc>
                      </a:pPr>
                      <a:r>
                        <a:rPr lang="en-US" sz="2670">
                          <a:solidFill>
                            <a:srgbClr val="FFFFFF"/>
                          </a:solidFill>
                          <a:latin typeface="Anantason"/>
                          <a:ea typeface="Anantason"/>
                          <a:cs typeface="Anantason"/>
                          <a:sym typeface="Anantason"/>
                        </a:rPr>
                        <a:t>security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738"/>
                        </a:lnSpc>
                        <a:defRPr/>
                      </a:pPr>
                      <a:r>
                        <a:rPr lang="en-US" sz="2670">
                          <a:solidFill>
                            <a:srgbClr val="FFFFFF"/>
                          </a:solidFill>
                          <a:latin typeface="Anantason"/>
                          <a:ea typeface="Anantason"/>
                          <a:cs typeface="Anantason"/>
                          <a:sym typeface="Anantason"/>
                        </a:rPr>
                        <a:t>Protects connected devices such as smart TVs and CCTV cameras.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3" id="13"/>
          <p:cNvSpPr txBox="true"/>
          <p:nvPr/>
        </p:nvSpPr>
        <p:spPr>
          <a:xfrm rot="0">
            <a:off x="581110" y="899843"/>
            <a:ext cx="13198199" cy="3627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51"/>
              </a:lnSpc>
            </a:pPr>
            <a:r>
              <a:rPr lang="en-US" sz="7302" b="true">
                <a:solidFill>
                  <a:srgbClr val="FFFFFF"/>
                </a:solidFill>
                <a:latin typeface="Pattanakarn Expanded Medium"/>
                <a:ea typeface="Pattanakarn Expanded Medium"/>
                <a:cs typeface="Pattanakarn Expanded Medium"/>
                <a:sym typeface="Pattanakarn Expanded Medium"/>
              </a:rPr>
              <a:t>Software  Devices and people need protection too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273217" y="743069"/>
            <a:ext cx="2257398" cy="2541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04"/>
              </a:lnSpc>
            </a:pPr>
            <a:r>
              <a:rPr lang="en-US" sz="12127">
                <a:solidFill>
                  <a:srgbClr val="FF0010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06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28700" y="344207"/>
            <a:ext cx="5483560" cy="693251"/>
            <a:chOff x="0" y="0"/>
            <a:chExt cx="7311413" cy="924334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411367"/>
              <a:ext cx="6462648" cy="512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226"/>
                </a:lnSpc>
              </a:pPr>
              <a:r>
                <a:rPr lang="en-US" sz="1970">
                  <a:solidFill>
                    <a:srgbClr val="FFFFFF"/>
                  </a:solidFill>
                  <a:latin typeface="Pattanakarn Expanded"/>
                  <a:ea typeface="Pattanakarn Expanded"/>
                  <a:cs typeface="Pattanakarn Expanded"/>
                  <a:sym typeface="Pattanakarn Expanded"/>
                </a:rPr>
                <a:t>DECODE .  DEFEND . DOMINATE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-114300"/>
              <a:ext cx="7311413" cy="5059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226"/>
                </a:lnSpc>
              </a:pPr>
              <a:r>
                <a:rPr lang="en-US" sz="1970">
                  <a:solidFill>
                    <a:srgbClr val="FF0010"/>
                  </a:solidFill>
                  <a:latin typeface="Pattanakarn Expanded"/>
                  <a:ea typeface="Pattanakarn Expanded"/>
                  <a:cs typeface="Pattanakarn Expanded"/>
                  <a:sym typeface="Pattanakarn Expanded"/>
                </a:rPr>
                <a:t>PROTOCOL CYBERSECURITY CLUB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9896792" y="8924385"/>
            <a:ext cx="6394826" cy="91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7"/>
              </a:lnSpc>
            </a:pPr>
            <a:r>
              <a:rPr lang="en-US" sz="2599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Even a smart camera needs someone watching its security.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32907" y="1318943"/>
            <a:ext cx="6751767" cy="1866637"/>
            <a:chOff x="0" y="0"/>
            <a:chExt cx="1778243" cy="4916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78243" cy="491624"/>
            </a:xfrm>
            <a:custGeom>
              <a:avLst/>
              <a:gdLst/>
              <a:ahLst/>
              <a:cxnLst/>
              <a:rect r="r" b="b" t="t" l="l"/>
              <a:pathLst>
                <a:path h="491624" w="1778243">
                  <a:moveTo>
                    <a:pt x="51599" y="0"/>
                  </a:moveTo>
                  <a:lnTo>
                    <a:pt x="1726644" y="0"/>
                  </a:lnTo>
                  <a:cubicBezTo>
                    <a:pt x="1755141" y="0"/>
                    <a:pt x="1778243" y="23102"/>
                    <a:pt x="1778243" y="51599"/>
                  </a:cubicBezTo>
                  <a:lnTo>
                    <a:pt x="1778243" y="440025"/>
                  </a:lnTo>
                  <a:cubicBezTo>
                    <a:pt x="1778243" y="468523"/>
                    <a:pt x="1755141" y="491624"/>
                    <a:pt x="1726644" y="491624"/>
                  </a:cubicBezTo>
                  <a:lnTo>
                    <a:pt x="51599" y="491624"/>
                  </a:lnTo>
                  <a:cubicBezTo>
                    <a:pt x="37914" y="491624"/>
                    <a:pt x="24790" y="486188"/>
                    <a:pt x="15113" y="476511"/>
                  </a:cubicBezTo>
                  <a:cubicBezTo>
                    <a:pt x="5436" y="466835"/>
                    <a:pt x="0" y="453710"/>
                    <a:pt x="0" y="440025"/>
                  </a:cubicBezTo>
                  <a:lnTo>
                    <a:pt x="0" y="51599"/>
                  </a:lnTo>
                  <a:cubicBezTo>
                    <a:pt x="0" y="23102"/>
                    <a:pt x="23102" y="0"/>
                    <a:pt x="51599" y="0"/>
                  </a:cubicBezTo>
                  <a:close/>
                </a:path>
              </a:pathLst>
            </a:custGeom>
            <a:solidFill>
              <a:srgbClr val="FF001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52400"/>
              <a:ext cx="1778243" cy="644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987985" y="801782"/>
            <a:ext cx="542630" cy="453836"/>
          </a:xfrm>
          <a:custGeom>
            <a:avLst/>
            <a:gdLst/>
            <a:ahLst/>
            <a:cxnLst/>
            <a:rect r="r" b="b" t="t" l="l"/>
            <a:pathLst>
              <a:path h="453836" w="542630">
                <a:moveTo>
                  <a:pt x="0" y="0"/>
                </a:moveTo>
                <a:lnTo>
                  <a:pt x="542630" y="0"/>
                </a:lnTo>
                <a:lnTo>
                  <a:pt x="542630" y="453836"/>
                </a:lnTo>
                <a:lnTo>
                  <a:pt x="0" y="4538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2504990" y="-1767157"/>
            <a:ext cx="3086100" cy="308610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12889" y="0"/>
                  </a:moveTo>
                  <a:lnTo>
                    <a:pt x="699911" y="0"/>
                  </a:lnTo>
                  <a:cubicBezTo>
                    <a:pt x="762258" y="0"/>
                    <a:pt x="812800" y="50542"/>
                    <a:pt x="812800" y="112889"/>
                  </a:cubicBezTo>
                  <a:lnTo>
                    <a:pt x="812800" y="699911"/>
                  </a:lnTo>
                  <a:cubicBezTo>
                    <a:pt x="812800" y="762258"/>
                    <a:pt x="762258" y="812800"/>
                    <a:pt x="699911" y="812800"/>
                  </a:cubicBezTo>
                  <a:lnTo>
                    <a:pt x="112889" y="812800"/>
                  </a:lnTo>
                  <a:cubicBezTo>
                    <a:pt x="50542" y="812800"/>
                    <a:pt x="0" y="762258"/>
                    <a:pt x="0" y="699911"/>
                  </a:cubicBezTo>
                  <a:lnTo>
                    <a:pt x="0" y="112889"/>
                  </a:lnTo>
                  <a:cubicBezTo>
                    <a:pt x="0" y="50542"/>
                    <a:pt x="50542" y="0"/>
                    <a:pt x="112889" y="0"/>
                  </a:cubicBezTo>
                  <a:close/>
                </a:path>
              </a:pathLst>
            </a:custGeom>
            <a:solidFill>
              <a:srgbClr val="FF001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52400"/>
              <a:ext cx="812800" cy="965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 flipV="true">
            <a:off x="1047750" y="1318943"/>
            <a:ext cx="0" cy="3422036"/>
          </a:xfrm>
          <a:prstGeom prst="line">
            <a:avLst/>
          </a:prstGeom>
          <a:ln cap="flat" w="38100">
            <a:solidFill>
              <a:srgbClr val="FF001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0236219" y="3787823"/>
            <a:ext cx="6751767" cy="1906312"/>
            <a:chOff x="0" y="0"/>
            <a:chExt cx="1778243" cy="50207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78243" cy="502074"/>
            </a:xfrm>
            <a:custGeom>
              <a:avLst/>
              <a:gdLst/>
              <a:ahLst/>
              <a:cxnLst/>
              <a:rect r="r" b="b" t="t" l="l"/>
              <a:pathLst>
                <a:path h="502074" w="1778243">
                  <a:moveTo>
                    <a:pt x="51599" y="0"/>
                  </a:moveTo>
                  <a:lnTo>
                    <a:pt x="1726644" y="0"/>
                  </a:lnTo>
                  <a:cubicBezTo>
                    <a:pt x="1755141" y="0"/>
                    <a:pt x="1778243" y="23102"/>
                    <a:pt x="1778243" y="51599"/>
                  </a:cubicBezTo>
                  <a:lnTo>
                    <a:pt x="1778243" y="450475"/>
                  </a:lnTo>
                  <a:cubicBezTo>
                    <a:pt x="1778243" y="478972"/>
                    <a:pt x="1755141" y="502074"/>
                    <a:pt x="1726644" y="502074"/>
                  </a:cubicBezTo>
                  <a:lnTo>
                    <a:pt x="51599" y="502074"/>
                  </a:lnTo>
                  <a:cubicBezTo>
                    <a:pt x="37914" y="502074"/>
                    <a:pt x="24790" y="496637"/>
                    <a:pt x="15113" y="486961"/>
                  </a:cubicBezTo>
                  <a:cubicBezTo>
                    <a:pt x="5436" y="477284"/>
                    <a:pt x="0" y="464160"/>
                    <a:pt x="0" y="450475"/>
                  </a:cubicBezTo>
                  <a:lnTo>
                    <a:pt x="0" y="51599"/>
                  </a:lnTo>
                  <a:cubicBezTo>
                    <a:pt x="0" y="23102"/>
                    <a:pt x="23102" y="0"/>
                    <a:pt x="51599" y="0"/>
                  </a:cubicBezTo>
                  <a:close/>
                </a:path>
              </a:pathLst>
            </a:custGeom>
            <a:solidFill>
              <a:srgbClr val="FF001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52400"/>
              <a:ext cx="1778243" cy="6544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512252" y="7729297"/>
            <a:ext cx="6751767" cy="2038739"/>
            <a:chOff x="0" y="0"/>
            <a:chExt cx="1778243" cy="53695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78243" cy="536952"/>
            </a:xfrm>
            <a:custGeom>
              <a:avLst/>
              <a:gdLst/>
              <a:ahLst/>
              <a:cxnLst/>
              <a:rect r="r" b="b" t="t" l="l"/>
              <a:pathLst>
                <a:path h="536952" w="1778243">
                  <a:moveTo>
                    <a:pt x="51599" y="0"/>
                  </a:moveTo>
                  <a:lnTo>
                    <a:pt x="1726644" y="0"/>
                  </a:lnTo>
                  <a:cubicBezTo>
                    <a:pt x="1755141" y="0"/>
                    <a:pt x="1778243" y="23102"/>
                    <a:pt x="1778243" y="51599"/>
                  </a:cubicBezTo>
                  <a:lnTo>
                    <a:pt x="1778243" y="485352"/>
                  </a:lnTo>
                  <a:cubicBezTo>
                    <a:pt x="1778243" y="513850"/>
                    <a:pt x="1755141" y="536952"/>
                    <a:pt x="1726644" y="536952"/>
                  </a:cubicBezTo>
                  <a:lnTo>
                    <a:pt x="51599" y="536952"/>
                  </a:lnTo>
                  <a:cubicBezTo>
                    <a:pt x="23102" y="536952"/>
                    <a:pt x="0" y="513850"/>
                    <a:pt x="0" y="485352"/>
                  </a:cubicBezTo>
                  <a:lnTo>
                    <a:pt x="0" y="51599"/>
                  </a:lnTo>
                  <a:cubicBezTo>
                    <a:pt x="0" y="23102"/>
                    <a:pt x="23102" y="0"/>
                    <a:pt x="51599" y="0"/>
                  </a:cubicBezTo>
                  <a:close/>
                </a:path>
              </a:pathLst>
            </a:custGeom>
            <a:solidFill>
              <a:srgbClr val="FF001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52400"/>
              <a:ext cx="1778243" cy="689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512252" y="5337966"/>
            <a:ext cx="6751767" cy="1860006"/>
            <a:chOff x="0" y="0"/>
            <a:chExt cx="1778243" cy="48987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78243" cy="489878"/>
            </a:xfrm>
            <a:custGeom>
              <a:avLst/>
              <a:gdLst/>
              <a:ahLst/>
              <a:cxnLst/>
              <a:rect r="r" b="b" t="t" l="l"/>
              <a:pathLst>
                <a:path h="489878" w="1778243">
                  <a:moveTo>
                    <a:pt x="51599" y="0"/>
                  </a:moveTo>
                  <a:lnTo>
                    <a:pt x="1726644" y="0"/>
                  </a:lnTo>
                  <a:cubicBezTo>
                    <a:pt x="1755141" y="0"/>
                    <a:pt x="1778243" y="23102"/>
                    <a:pt x="1778243" y="51599"/>
                  </a:cubicBezTo>
                  <a:lnTo>
                    <a:pt x="1778243" y="438279"/>
                  </a:lnTo>
                  <a:cubicBezTo>
                    <a:pt x="1778243" y="451964"/>
                    <a:pt x="1772807" y="465088"/>
                    <a:pt x="1763130" y="474765"/>
                  </a:cubicBezTo>
                  <a:cubicBezTo>
                    <a:pt x="1753453" y="484442"/>
                    <a:pt x="1740329" y="489878"/>
                    <a:pt x="1726644" y="489878"/>
                  </a:cubicBezTo>
                  <a:lnTo>
                    <a:pt x="51599" y="489878"/>
                  </a:lnTo>
                  <a:cubicBezTo>
                    <a:pt x="23102" y="489878"/>
                    <a:pt x="0" y="466776"/>
                    <a:pt x="0" y="438279"/>
                  </a:cubicBezTo>
                  <a:lnTo>
                    <a:pt x="0" y="51599"/>
                  </a:lnTo>
                  <a:cubicBezTo>
                    <a:pt x="0" y="23102"/>
                    <a:pt x="23102" y="0"/>
                    <a:pt x="51599" y="0"/>
                  </a:cubicBezTo>
                  <a:close/>
                </a:path>
              </a:pathLst>
            </a:custGeom>
            <a:solidFill>
              <a:srgbClr val="FF0010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52400"/>
              <a:ext cx="1778243" cy="6422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0418867" y="5891429"/>
            <a:ext cx="6379847" cy="2229883"/>
          </a:xfrm>
          <a:custGeom>
            <a:avLst/>
            <a:gdLst/>
            <a:ahLst/>
            <a:cxnLst/>
            <a:rect r="r" b="b" t="t" l="l"/>
            <a:pathLst>
              <a:path h="2229883" w="6379847">
                <a:moveTo>
                  <a:pt x="0" y="0"/>
                </a:moveTo>
                <a:lnTo>
                  <a:pt x="6379847" y="0"/>
                </a:lnTo>
                <a:lnTo>
                  <a:pt x="6379847" y="2229883"/>
                </a:lnTo>
                <a:lnTo>
                  <a:pt x="0" y="22298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0280" r="0" b="-3028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592204" y="1041048"/>
            <a:ext cx="8115300" cy="3860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27"/>
              </a:lnSpc>
            </a:pPr>
            <a:r>
              <a:rPr lang="en-US" sz="7812" b="true">
                <a:solidFill>
                  <a:srgbClr val="FFFFFF"/>
                </a:solidFill>
                <a:latin typeface="Pattanakarn Expanded Medium"/>
                <a:ea typeface="Pattanakarn Expanded Medium"/>
                <a:cs typeface="Pattanakarn Expanded Medium"/>
                <a:sym typeface="Pattanakarn Expanded Medium"/>
              </a:rPr>
              <a:t>Malware and its unwanted friends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71147" y="7626444"/>
            <a:ext cx="1923896" cy="2299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407"/>
              </a:lnSpc>
            </a:pPr>
            <a:r>
              <a:rPr lang="en-US" sz="10979">
                <a:solidFill>
                  <a:srgbClr val="FF0010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07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028700" y="344207"/>
            <a:ext cx="5483560" cy="693251"/>
            <a:chOff x="0" y="0"/>
            <a:chExt cx="7311413" cy="924334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0" y="411367"/>
              <a:ext cx="6462648" cy="512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226"/>
                </a:lnSpc>
              </a:pPr>
              <a:r>
                <a:rPr lang="en-US" sz="1970">
                  <a:solidFill>
                    <a:srgbClr val="FFFFFF"/>
                  </a:solidFill>
                  <a:latin typeface="Pattanakarn Expanded"/>
                  <a:ea typeface="Pattanakarn Expanded"/>
                  <a:cs typeface="Pattanakarn Expanded"/>
                  <a:sym typeface="Pattanakarn Expanded"/>
                </a:rPr>
                <a:t>DECODE .  DEFEND . DOMINATE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0" y="-114300"/>
              <a:ext cx="7311413" cy="5059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226"/>
                </a:lnSpc>
              </a:pPr>
              <a:r>
                <a:rPr lang="en-US" sz="1970">
                  <a:solidFill>
                    <a:srgbClr val="FF0010"/>
                  </a:solidFill>
                  <a:latin typeface="Pattanakarn Expanded"/>
                  <a:ea typeface="Pattanakarn Expanded"/>
                  <a:cs typeface="Pattanakarn Expanded"/>
                  <a:sym typeface="Pattanakarn Expanded"/>
                </a:rPr>
                <a:t>PROTOCOL CYBERSECURITY CLUB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0421757" y="1496866"/>
            <a:ext cx="1644477" cy="375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8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S</a:t>
            </a:r>
            <a:r>
              <a:rPr lang="en-US" sz="2600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PYWARE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507482" y="1588564"/>
            <a:ext cx="5715612" cy="1761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2"/>
              </a:lnSpc>
            </a:pPr>
          </a:p>
          <a:p>
            <a:pPr algn="l">
              <a:lnSpc>
                <a:spcPts val="3502"/>
              </a:lnSpc>
              <a:spcBef>
                <a:spcPct val="0"/>
              </a:spcBef>
            </a:pPr>
            <a:r>
              <a:rPr lang="en-US" sz="3099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Secretl</a:t>
            </a:r>
            <a:r>
              <a:rPr lang="en-US" sz="3099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y watches activity and collects information</a:t>
            </a:r>
          </a:p>
          <a:p>
            <a:pPr algn="l">
              <a:lnSpc>
                <a:spcPts val="3502"/>
              </a:lnSpc>
              <a:spcBef>
                <a:spcPct val="0"/>
              </a:spcBef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10425068" y="3965746"/>
            <a:ext cx="1644477" cy="375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8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ROOTKITS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434593" y="4142169"/>
            <a:ext cx="5715612" cy="1293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9"/>
              </a:lnSpc>
            </a:pPr>
          </a:p>
          <a:p>
            <a:pPr algn="l">
              <a:lnSpc>
                <a:spcPts val="3389"/>
              </a:lnSpc>
              <a:spcBef>
                <a:spcPct val="0"/>
              </a:spcBef>
            </a:pPr>
            <a:r>
              <a:rPr lang="en-US" sz="2999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Hid</a:t>
            </a:r>
            <a:r>
              <a:rPr lang="en-US" sz="2999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e</a:t>
            </a:r>
            <a:r>
              <a:rPr lang="en-US" sz="2999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 malicious activity and help attackers maintain access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701101" y="7907221"/>
            <a:ext cx="1644477" cy="375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8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TROJANS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701101" y="8482785"/>
            <a:ext cx="6192232" cy="825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  <a:spcBef>
                <a:spcPct val="0"/>
              </a:spcBef>
            </a:pPr>
            <a:r>
              <a:rPr lang="en-US" sz="2899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Disguis</a:t>
            </a:r>
            <a:r>
              <a:rPr lang="en-US" sz="2899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es itself</a:t>
            </a:r>
            <a:r>
              <a:rPr lang="en-US" sz="2899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 as legitimate software to create backdoors or steal data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701101" y="5515890"/>
            <a:ext cx="2359408" cy="375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8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RANSOMWARE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701101" y="6092152"/>
            <a:ext cx="5715612" cy="825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  <a:spcBef>
                <a:spcPct val="0"/>
              </a:spcBef>
            </a:pPr>
            <a:r>
              <a:rPr lang="en-US" sz="2899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Lo</a:t>
            </a:r>
            <a:r>
              <a:rPr lang="en-US" sz="2899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cks your data and demands payment for the decryption key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392333" y="8301810"/>
            <a:ext cx="6432915" cy="1761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2"/>
              </a:lnSpc>
              <a:spcBef>
                <a:spcPct val="0"/>
              </a:spcBef>
            </a:pPr>
            <a:r>
              <a:rPr lang="en-US" sz="3099">
                <a:solidFill>
                  <a:srgbClr val="FF0010"/>
                </a:solidFill>
                <a:latin typeface="Anantason"/>
                <a:ea typeface="Anantason"/>
                <a:cs typeface="Anantason"/>
                <a:sym typeface="Anantason"/>
              </a:rPr>
              <a:t>Analog</a:t>
            </a:r>
            <a:r>
              <a:rPr lang="en-US" sz="3099">
                <a:solidFill>
                  <a:srgbClr val="FF0010"/>
                </a:solidFill>
                <a:latin typeface="Anantason"/>
                <a:ea typeface="Anantason"/>
                <a:cs typeface="Anantason"/>
                <a:sym typeface="Anantason"/>
              </a:rPr>
              <a:t>y</a:t>
            </a:r>
            <a:r>
              <a:rPr lang="en-US" sz="3099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 </a:t>
            </a:r>
          </a:p>
          <a:p>
            <a:pPr algn="ctr">
              <a:lnSpc>
                <a:spcPts val="3502"/>
              </a:lnSpc>
              <a:spcBef>
                <a:spcPct val="0"/>
              </a:spcBef>
            </a:pPr>
            <a:r>
              <a:rPr lang="en-US" sz="3099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An unwanted guest who enters your house, watches you, and hides their footprints.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07273" y="4617094"/>
            <a:ext cx="6751767" cy="10773922"/>
            <a:chOff x="0" y="0"/>
            <a:chExt cx="1778243" cy="28375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78243" cy="2837576"/>
            </a:xfrm>
            <a:custGeom>
              <a:avLst/>
              <a:gdLst/>
              <a:ahLst/>
              <a:cxnLst/>
              <a:rect r="r" b="b" t="t" l="l"/>
              <a:pathLst>
                <a:path h="2837576" w="1778243">
                  <a:moveTo>
                    <a:pt x="51599" y="0"/>
                  </a:moveTo>
                  <a:lnTo>
                    <a:pt x="1726644" y="0"/>
                  </a:lnTo>
                  <a:cubicBezTo>
                    <a:pt x="1755141" y="0"/>
                    <a:pt x="1778243" y="23102"/>
                    <a:pt x="1778243" y="51599"/>
                  </a:cubicBezTo>
                  <a:lnTo>
                    <a:pt x="1778243" y="2785977"/>
                  </a:lnTo>
                  <a:cubicBezTo>
                    <a:pt x="1778243" y="2799662"/>
                    <a:pt x="1772807" y="2812786"/>
                    <a:pt x="1763130" y="2822463"/>
                  </a:cubicBezTo>
                  <a:cubicBezTo>
                    <a:pt x="1753453" y="2832140"/>
                    <a:pt x="1740329" y="2837576"/>
                    <a:pt x="1726644" y="2837576"/>
                  </a:cubicBezTo>
                  <a:lnTo>
                    <a:pt x="51599" y="2837576"/>
                  </a:lnTo>
                  <a:cubicBezTo>
                    <a:pt x="23102" y="2837576"/>
                    <a:pt x="0" y="2814475"/>
                    <a:pt x="0" y="2785977"/>
                  </a:cubicBezTo>
                  <a:lnTo>
                    <a:pt x="0" y="51599"/>
                  </a:lnTo>
                  <a:cubicBezTo>
                    <a:pt x="0" y="23102"/>
                    <a:pt x="23102" y="0"/>
                    <a:pt x="51599" y="0"/>
                  </a:cubicBezTo>
                  <a:close/>
                </a:path>
              </a:pathLst>
            </a:custGeom>
            <a:solidFill>
              <a:srgbClr val="FF001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52400"/>
              <a:ext cx="1778243" cy="29899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987985" y="801782"/>
            <a:ext cx="542630" cy="453836"/>
          </a:xfrm>
          <a:custGeom>
            <a:avLst/>
            <a:gdLst/>
            <a:ahLst/>
            <a:cxnLst/>
            <a:rect r="r" b="b" t="t" l="l"/>
            <a:pathLst>
              <a:path h="453836" w="542630">
                <a:moveTo>
                  <a:pt x="0" y="0"/>
                </a:moveTo>
                <a:lnTo>
                  <a:pt x="542630" y="0"/>
                </a:lnTo>
                <a:lnTo>
                  <a:pt x="542630" y="453836"/>
                </a:lnTo>
                <a:lnTo>
                  <a:pt x="0" y="4538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2504990" y="-1767157"/>
            <a:ext cx="3086100" cy="308610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12889" y="0"/>
                  </a:moveTo>
                  <a:lnTo>
                    <a:pt x="699911" y="0"/>
                  </a:lnTo>
                  <a:cubicBezTo>
                    <a:pt x="762258" y="0"/>
                    <a:pt x="812800" y="50542"/>
                    <a:pt x="812800" y="112889"/>
                  </a:cubicBezTo>
                  <a:lnTo>
                    <a:pt x="812800" y="699911"/>
                  </a:lnTo>
                  <a:cubicBezTo>
                    <a:pt x="812800" y="762258"/>
                    <a:pt x="762258" y="812800"/>
                    <a:pt x="699911" y="812800"/>
                  </a:cubicBezTo>
                  <a:lnTo>
                    <a:pt x="112889" y="812800"/>
                  </a:lnTo>
                  <a:cubicBezTo>
                    <a:pt x="50542" y="812800"/>
                    <a:pt x="0" y="762258"/>
                    <a:pt x="0" y="699911"/>
                  </a:cubicBezTo>
                  <a:lnTo>
                    <a:pt x="0" y="112889"/>
                  </a:lnTo>
                  <a:cubicBezTo>
                    <a:pt x="0" y="50542"/>
                    <a:pt x="50542" y="0"/>
                    <a:pt x="112889" y="0"/>
                  </a:cubicBezTo>
                  <a:close/>
                </a:path>
              </a:pathLst>
            </a:custGeom>
            <a:solidFill>
              <a:srgbClr val="FF001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52400"/>
              <a:ext cx="812800" cy="965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778848" y="2047893"/>
            <a:ext cx="6751767" cy="5314006"/>
            <a:chOff x="0" y="0"/>
            <a:chExt cx="1778243" cy="139957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78243" cy="1399574"/>
            </a:xfrm>
            <a:custGeom>
              <a:avLst/>
              <a:gdLst/>
              <a:ahLst/>
              <a:cxnLst/>
              <a:rect r="r" b="b" t="t" l="l"/>
              <a:pathLst>
                <a:path h="1399574" w="1778243">
                  <a:moveTo>
                    <a:pt x="51599" y="0"/>
                  </a:moveTo>
                  <a:lnTo>
                    <a:pt x="1726644" y="0"/>
                  </a:lnTo>
                  <a:cubicBezTo>
                    <a:pt x="1755141" y="0"/>
                    <a:pt x="1778243" y="23102"/>
                    <a:pt x="1778243" y="51599"/>
                  </a:cubicBezTo>
                  <a:lnTo>
                    <a:pt x="1778243" y="1347974"/>
                  </a:lnTo>
                  <a:cubicBezTo>
                    <a:pt x="1778243" y="1361659"/>
                    <a:pt x="1772807" y="1374784"/>
                    <a:pt x="1763130" y="1384460"/>
                  </a:cubicBezTo>
                  <a:cubicBezTo>
                    <a:pt x="1753453" y="1394137"/>
                    <a:pt x="1740329" y="1399574"/>
                    <a:pt x="1726644" y="1399574"/>
                  </a:cubicBezTo>
                  <a:lnTo>
                    <a:pt x="51599" y="1399574"/>
                  </a:lnTo>
                  <a:cubicBezTo>
                    <a:pt x="23102" y="1399574"/>
                    <a:pt x="0" y="1376472"/>
                    <a:pt x="0" y="1347974"/>
                  </a:cubicBezTo>
                  <a:lnTo>
                    <a:pt x="0" y="51599"/>
                  </a:lnTo>
                  <a:cubicBezTo>
                    <a:pt x="0" y="23102"/>
                    <a:pt x="23102" y="0"/>
                    <a:pt x="51599" y="0"/>
                  </a:cubicBezTo>
                  <a:close/>
                </a:path>
              </a:pathLst>
            </a:custGeom>
            <a:solidFill>
              <a:srgbClr val="FF001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52400"/>
              <a:ext cx="1778243" cy="15519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498482" y="969962"/>
            <a:ext cx="8115300" cy="3199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96"/>
              </a:lnSpc>
            </a:pPr>
            <a:r>
              <a:rPr lang="en-US" sz="9112" b="true">
                <a:solidFill>
                  <a:srgbClr val="FFFFFF"/>
                </a:solidFill>
                <a:latin typeface="Pattanakarn Expanded Medium"/>
                <a:ea typeface="Pattanakarn Expanded Medium"/>
                <a:cs typeface="Pattanakarn Expanded Medium"/>
                <a:sym typeface="Pattanakarn Expanded Medium"/>
              </a:rPr>
              <a:t>Common</a:t>
            </a:r>
          </a:p>
          <a:p>
            <a:pPr algn="l">
              <a:lnSpc>
                <a:spcPts val="10296"/>
              </a:lnSpc>
            </a:pPr>
            <a:r>
              <a:rPr lang="en-US" sz="9112" b="true">
                <a:solidFill>
                  <a:srgbClr val="FFFFFF"/>
                </a:solidFill>
                <a:latin typeface="Pattanakarn Expanded Medium"/>
                <a:ea typeface="Pattanakarn Expanded Medium"/>
                <a:cs typeface="Pattanakarn Expanded Medium"/>
                <a:sym typeface="Pattanakarn Expanded Medium"/>
              </a:rPr>
              <a:t>Attacks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25" y="7063974"/>
            <a:ext cx="3187465" cy="3223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423"/>
              </a:lnSpc>
            </a:pPr>
            <a:r>
              <a:rPr lang="en-US" sz="15418">
                <a:solidFill>
                  <a:srgbClr val="FF0010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08</a:t>
            </a:r>
          </a:p>
        </p:txBody>
      </p:sp>
      <p:sp>
        <p:nvSpPr>
          <p:cNvPr name="AutoShape 14" id="14"/>
          <p:cNvSpPr/>
          <p:nvPr/>
        </p:nvSpPr>
        <p:spPr>
          <a:xfrm flipV="true">
            <a:off x="1009650" y="1592426"/>
            <a:ext cx="0" cy="2468880"/>
          </a:xfrm>
          <a:prstGeom prst="line">
            <a:avLst/>
          </a:prstGeom>
          <a:ln cap="flat" w="38100">
            <a:solidFill>
              <a:srgbClr val="FF001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1028700" y="344207"/>
            <a:ext cx="5483560" cy="693251"/>
            <a:chOff x="0" y="0"/>
            <a:chExt cx="7311413" cy="924334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411367"/>
              <a:ext cx="6462648" cy="512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226"/>
                </a:lnSpc>
              </a:pPr>
              <a:r>
                <a:rPr lang="en-US" sz="1970">
                  <a:solidFill>
                    <a:srgbClr val="FFFFFF"/>
                  </a:solidFill>
                  <a:latin typeface="Pattanakarn Expanded"/>
                  <a:ea typeface="Pattanakarn Expanded"/>
                  <a:cs typeface="Pattanakarn Expanded"/>
                  <a:sym typeface="Pattanakarn Expanded"/>
                </a:rPr>
                <a:t>DECODE .  DEFEND . DOMINATE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-114300"/>
              <a:ext cx="7311413" cy="5059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226"/>
                </a:lnSpc>
              </a:pPr>
              <a:r>
                <a:rPr lang="en-US" sz="1970">
                  <a:solidFill>
                    <a:srgbClr val="FF0010"/>
                  </a:solidFill>
                  <a:latin typeface="Pattanakarn Expanded"/>
                  <a:ea typeface="Pattanakarn Expanded"/>
                  <a:cs typeface="Pattanakarn Expanded"/>
                  <a:sym typeface="Pattanakarn Expanded"/>
                </a:rPr>
                <a:t>PROTOCOL CYBERSECURITY CLUB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4009375" y="4953000"/>
            <a:ext cx="5856300" cy="2163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3"/>
              </a:lnSpc>
              <a:spcBef>
                <a:spcPct val="0"/>
              </a:spcBef>
            </a:pPr>
            <a:r>
              <a:rPr lang="en-US" sz="3410">
                <a:solidFill>
                  <a:srgbClr val="000000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Phishing:</a:t>
            </a:r>
            <a:r>
              <a:rPr lang="en-US" sz="3410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 </a:t>
            </a:r>
          </a:p>
          <a:p>
            <a:pPr algn="l">
              <a:lnSpc>
                <a:spcPts val="3853"/>
              </a:lnSpc>
              <a:spcBef>
                <a:spcPct val="0"/>
              </a:spcBef>
            </a:pPr>
            <a:r>
              <a:rPr lang="en-US" sz="3410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Fake messages or websites trick you into sharing information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009375" y="7759299"/>
            <a:ext cx="5366473" cy="1523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4"/>
              </a:lnSpc>
              <a:spcBef>
                <a:spcPct val="0"/>
              </a:spcBef>
            </a:pPr>
            <a:r>
              <a:rPr lang="en-US" sz="3110">
                <a:solidFill>
                  <a:srgbClr val="000000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Ransomware:</a:t>
            </a:r>
            <a:r>
              <a:rPr lang="en-US" sz="3110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 </a:t>
            </a:r>
          </a:p>
          <a:p>
            <a:pPr algn="l">
              <a:lnSpc>
                <a:spcPts val="3514"/>
              </a:lnSpc>
              <a:spcBef>
                <a:spcPct val="0"/>
              </a:spcBef>
            </a:pPr>
            <a:r>
              <a:rPr lang="en-US" sz="3110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Locks or encrypts files and demands payment.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152773" y="2319537"/>
            <a:ext cx="6106527" cy="4677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0"/>
              </a:lnSpc>
              <a:spcBef>
                <a:spcPct val="0"/>
              </a:spcBef>
            </a:pPr>
            <a:r>
              <a:rPr lang="en-US" sz="3309">
                <a:solidFill>
                  <a:srgbClr val="000000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DDoS: </a:t>
            </a:r>
          </a:p>
          <a:p>
            <a:pPr algn="l">
              <a:lnSpc>
                <a:spcPts val="3740"/>
              </a:lnSpc>
              <a:spcBef>
                <a:spcPct val="0"/>
              </a:spcBef>
            </a:pPr>
            <a:r>
              <a:rPr lang="en-US" sz="3309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Floods a service with traffic, making access difficult for real users.</a:t>
            </a:r>
          </a:p>
          <a:p>
            <a:pPr algn="l">
              <a:lnSpc>
                <a:spcPts val="3740"/>
              </a:lnSpc>
              <a:spcBef>
                <a:spcPct val="0"/>
              </a:spcBef>
            </a:pPr>
          </a:p>
          <a:p>
            <a:pPr algn="l">
              <a:lnSpc>
                <a:spcPts val="3740"/>
              </a:lnSpc>
              <a:spcBef>
                <a:spcPct val="0"/>
              </a:spcBef>
            </a:pPr>
            <a:r>
              <a:rPr lang="en-US" sz="3309">
                <a:solidFill>
                  <a:srgbClr val="000000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analogy: </a:t>
            </a:r>
          </a:p>
          <a:p>
            <a:pPr algn="l">
              <a:lnSpc>
                <a:spcPts val="3740"/>
              </a:lnSpc>
              <a:spcBef>
                <a:spcPct val="0"/>
              </a:spcBef>
            </a:pPr>
            <a:r>
              <a:rPr lang="en-US" sz="3309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Thousands of fake orders overwhelm the canteen while you wait for one samosa.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133078" y="8075060"/>
            <a:ext cx="6145917" cy="1342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8"/>
              </a:lnSpc>
              <a:spcBef>
                <a:spcPct val="0"/>
              </a:spcBef>
            </a:pPr>
            <a:r>
              <a:rPr lang="en-US" sz="3184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A </a:t>
            </a:r>
            <a:r>
              <a:rPr lang="en-US" sz="3184">
                <a:solidFill>
                  <a:srgbClr val="FF0010"/>
                </a:solidFill>
                <a:latin typeface="Anantason"/>
                <a:ea typeface="Anantason"/>
                <a:cs typeface="Anantason"/>
                <a:sym typeface="Anantason"/>
              </a:rPr>
              <a:t>“free prize” </a:t>
            </a:r>
            <a:r>
              <a:rPr lang="en-US" sz="3184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message asks for your account password. Which attack does it resemble?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987985" y="801782"/>
            <a:ext cx="542630" cy="453836"/>
          </a:xfrm>
          <a:custGeom>
            <a:avLst/>
            <a:gdLst/>
            <a:ahLst/>
            <a:cxnLst/>
            <a:rect r="r" b="b" t="t" l="l"/>
            <a:pathLst>
              <a:path h="453836" w="542630">
                <a:moveTo>
                  <a:pt x="0" y="0"/>
                </a:moveTo>
                <a:lnTo>
                  <a:pt x="542630" y="0"/>
                </a:lnTo>
                <a:lnTo>
                  <a:pt x="542630" y="453836"/>
                </a:lnTo>
                <a:lnTo>
                  <a:pt x="0" y="4538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504990" y="-1767157"/>
            <a:ext cx="3086100" cy="30861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12889" y="0"/>
                  </a:moveTo>
                  <a:lnTo>
                    <a:pt x="699911" y="0"/>
                  </a:lnTo>
                  <a:cubicBezTo>
                    <a:pt x="762258" y="0"/>
                    <a:pt x="812800" y="50542"/>
                    <a:pt x="812800" y="112889"/>
                  </a:cubicBezTo>
                  <a:lnTo>
                    <a:pt x="812800" y="699911"/>
                  </a:lnTo>
                  <a:cubicBezTo>
                    <a:pt x="812800" y="762258"/>
                    <a:pt x="762258" y="812800"/>
                    <a:pt x="699911" y="812800"/>
                  </a:cubicBezTo>
                  <a:lnTo>
                    <a:pt x="112889" y="812800"/>
                  </a:lnTo>
                  <a:cubicBezTo>
                    <a:pt x="50542" y="812800"/>
                    <a:pt x="0" y="762258"/>
                    <a:pt x="0" y="699911"/>
                  </a:cubicBezTo>
                  <a:lnTo>
                    <a:pt x="0" y="112889"/>
                  </a:lnTo>
                  <a:cubicBezTo>
                    <a:pt x="0" y="50542"/>
                    <a:pt x="50542" y="0"/>
                    <a:pt x="112889" y="0"/>
                  </a:cubicBezTo>
                  <a:close/>
                </a:path>
              </a:pathLst>
            </a:custGeom>
            <a:solidFill>
              <a:srgbClr val="FF001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52400"/>
              <a:ext cx="812800" cy="965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1638835" y="5705475"/>
            <a:ext cx="3937185" cy="0"/>
          </a:xfrm>
          <a:prstGeom prst="line">
            <a:avLst/>
          </a:prstGeom>
          <a:ln cap="flat" w="38100">
            <a:solidFill>
              <a:srgbClr val="FF001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-451449" y="9791700"/>
            <a:ext cx="6751767" cy="1439440"/>
            <a:chOff x="0" y="0"/>
            <a:chExt cx="1778243" cy="37911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78243" cy="379112"/>
            </a:xfrm>
            <a:custGeom>
              <a:avLst/>
              <a:gdLst/>
              <a:ahLst/>
              <a:cxnLst/>
              <a:rect r="r" b="b" t="t" l="l"/>
              <a:pathLst>
                <a:path h="379112" w="1778243">
                  <a:moveTo>
                    <a:pt x="51599" y="0"/>
                  </a:moveTo>
                  <a:lnTo>
                    <a:pt x="1726644" y="0"/>
                  </a:lnTo>
                  <a:cubicBezTo>
                    <a:pt x="1755141" y="0"/>
                    <a:pt x="1778243" y="23102"/>
                    <a:pt x="1778243" y="51599"/>
                  </a:cubicBezTo>
                  <a:lnTo>
                    <a:pt x="1778243" y="327512"/>
                  </a:lnTo>
                  <a:cubicBezTo>
                    <a:pt x="1778243" y="341197"/>
                    <a:pt x="1772807" y="354322"/>
                    <a:pt x="1763130" y="363999"/>
                  </a:cubicBezTo>
                  <a:cubicBezTo>
                    <a:pt x="1753453" y="373675"/>
                    <a:pt x="1740329" y="379112"/>
                    <a:pt x="1726644" y="379112"/>
                  </a:cubicBezTo>
                  <a:lnTo>
                    <a:pt x="51599" y="379112"/>
                  </a:lnTo>
                  <a:cubicBezTo>
                    <a:pt x="23102" y="379112"/>
                    <a:pt x="0" y="356010"/>
                    <a:pt x="0" y="327512"/>
                  </a:cubicBezTo>
                  <a:lnTo>
                    <a:pt x="0" y="51599"/>
                  </a:lnTo>
                  <a:cubicBezTo>
                    <a:pt x="0" y="23102"/>
                    <a:pt x="23102" y="0"/>
                    <a:pt x="51599" y="0"/>
                  </a:cubicBezTo>
                  <a:close/>
                </a:path>
              </a:pathLst>
            </a:custGeom>
            <a:solidFill>
              <a:srgbClr val="FF001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52400"/>
              <a:ext cx="1778243" cy="531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403925" y="9791700"/>
            <a:ext cx="6751767" cy="1439440"/>
            <a:chOff x="0" y="0"/>
            <a:chExt cx="1778243" cy="37911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78243" cy="379112"/>
            </a:xfrm>
            <a:custGeom>
              <a:avLst/>
              <a:gdLst/>
              <a:ahLst/>
              <a:cxnLst/>
              <a:rect r="r" b="b" t="t" l="l"/>
              <a:pathLst>
                <a:path h="379112" w="1778243">
                  <a:moveTo>
                    <a:pt x="51599" y="0"/>
                  </a:moveTo>
                  <a:lnTo>
                    <a:pt x="1726644" y="0"/>
                  </a:lnTo>
                  <a:cubicBezTo>
                    <a:pt x="1755141" y="0"/>
                    <a:pt x="1778243" y="23102"/>
                    <a:pt x="1778243" y="51599"/>
                  </a:cubicBezTo>
                  <a:lnTo>
                    <a:pt x="1778243" y="327512"/>
                  </a:lnTo>
                  <a:cubicBezTo>
                    <a:pt x="1778243" y="341197"/>
                    <a:pt x="1772807" y="354322"/>
                    <a:pt x="1763130" y="363999"/>
                  </a:cubicBezTo>
                  <a:cubicBezTo>
                    <a:pt x="1753453" y="373675"/>
                    <a:pt x="1740329" y="379112"/>
                    <a:pt x="1726644" y="379112"/>
                  </a:cubicBezTo>
                  <a:lnTo>
                    <a:pt x="51599" y="379112"/>
                  </a:lnTo>
                  <a:cubicBezTo>
                    <a:pt x="23102" y="379112"/>
                    <a:pt x="0" y="356010"/>
                    <a:pt x="0" y="327512"/>
                  </a:cubicBezTo>
                  <a:lnTo>
                    <a:pt x="0" y="51599"/>
                  </a:lnTo>
                  <a:cubicBezTo>
                    <a:pt x="0" y="23102"/>
                    <a:pt x="23102" y="0"/>
                    <a:pt x="51599" y="0"/>
                  </a:cubicBezTo>
                  <a:close/>
                </a:path>
              </a:pathLst>
            </a:custGeom>
            <a:solidFill>
              <a:srgbClr val="FF001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52400"/>
              <a:ext cx="1778243" cy="531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7259300" y="9791700"/>
            <a:ext cx="6751767" cy="1439440"/>
            <a:chOff x="0" y="0"/>
            <a:chExt cx="1778243" cy="37911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78243" cy="379112"/>
            </a:xfrm>
            <a:custGeom>
              <a:avLst/>
              <a:gdLst/>
              <a:ahLst/>
              <a:cxnLst/>
              <a:rect r="r" b="b" t="t" l="l"/>
              <a:pathLst>
                <a:path h="379112" w="1778243">
                  <a:moveTo>
                    <a:pt x="51599" y="0"/>
                  </a:moveTo>
                  <a:lnTo>
                    <a:pt x="1726644" y="0"/>
                  </a:lnTo>
                  <a:cubicBezTo>
                    <a:pt x="1755141" y="0"/>
                    <a:pt x="1778243" y="23102"/>
                    <a:pt x="1778243" y="51599"/>
                  </a:cubicBezTo>
                  <a:lnTo>
                    <a:pt x="1778243" y="327512"/>
                  </a:lnTo>
                  <a:cubicBezTo>
                    <a:pt x="1778243" y="341197"/>
                    <a:pt x="1772807" y="354322"/>
                    <a:pt x="1763130" y="363999"/>
                  </a:cubicBezTo>
                  <a:cubicBezTo>
                    <a:pt x="1753453" y="373675"/>
                    <a:pt x="1740329" y="379112"/>
                    <a:pt x="1726644" y="379112"/>
                  </a:cubicBezTo>
                  <a:lnTo>
                    <a:pt x="51599" y="379112"/>
                  </a:lnTo>
                  <a:cubicBezTo>
                    <a:pt x="23102" y="379112"/>
                    <a:pt x="0" y="356010"/>
                    <a:pt x="0" y="327512"/>
                  </a:cubicBezTo>
                  <a:lnTo>
                    <a:pt x="0" y="51599"/>
                  </a:lnTo>
                  <a:cubicBezTo>
                    <a:pt x="0" y="23102"/>
                    <a:pt x="23102" y="0"/>
                    <a:pt x="51599" y="0"/>
                  </a:cubicBezTo>
                  <a:close/>
                </a:path>
              </a:pathLst>
            </a:custGeom>
            <a:solidFill>
              <a:srgbClr val="FF001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52400"/>
              <a:ext cx="1778243" cy="531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581110" y="5959282"/>
            <a:ext cx="6406437" cy="3597661"/>
          </a:xfrm>
          <a:custGeom>
            <a:avLst/>
            <a:gdLst/>
            <a:ahLst/>
            <a:cxnLst/>
            <a:rect r="r" b="b" t="t" l="l"/>
            <a:pathLst>
              <a:path h="3597661" w="6406437">
                <a:moveTo>
                  <a:pt x="0" y="0"/>
                </a:moveTo>
                <a:lnTo>
                  <a:pt x="6406437" y="0"/>
                </a:lnTo>
                <a:lnTo>
                  <a:pt x="6406437" y="3597661"/>
                </a:lnTo>
                <a:lnTo>
                  <a:pt x="0" y="35976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14538" y="1113503"/>
            <a:ext cx="5385779" cy="4029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01"/>
              </a:lnSpc>
            </a:pPr>
            <a:r>
              <a:rPr lang="en-US" sz="8143" b="true">
                <a:solidFill>
                  <a:srgbClr val="FFFFFF"/>
                </a:solidFill>
                <a:latin typeface="Pattanakarn Expanded Medium"/>
                <a:ea typeface="Pattanakarn Expanded Medium"/>
                <a:cs typeface="Pattanakarn Expanded Medium"/>
                <a:sym typeface="Pattanakarn Expanded Medium"/>
              </a:rPr>
              <a:t>Changing security priorities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100779" y="1776752"/>
            <a:ext cx="11187221" cy="7417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80"/>
              </a:lnSpc>
            </a:pPr>
          </a:p>
          <a:p>
            <a:pPr algn="l" marL="829696" indent="-414848" lvl="1">
              <a:lnSpc>
                <a:spcPts val="5380"/>
              </a:lnSpc>
              <a:buFont typeface="Arial"/>
              <a:buChar char="•"/>
            </a:pPr>
            <a:r>
              <a:rPr lang="en-US" sz="3842">
                <a:solidFill>
                  <a:srgbClr val="FF0010"/>
                </a:solidFill>
                <a:latin typeface="Questrial"/>
                <a:ea typeface="Questrial"/>
                <a:cs typeface="Questrial"/>
                <a:sym typeface="Questrial"/>
              </a:rPr>
              <a:t>Ransomware defence: </a:t>
            </a:r>
            <a:r>
              <a:rPr lang="en-US" sz="3842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Protecting files and preparing for recovery.</a:t>
            </a:r>
          </a:p>
          <a:p>
            <a:pPr algn="l" marL="829696" indent="-414848" lvl="1">
              <a:lnSpc>
                <a:spcPts val="5380"/>
              </a:lnSpc>
              <a:buFont typeface="Arial"/>
              <a:buChar char="•"/>
            </a:pPr>
            <a:r>
              <a:rPr lang="en-US" sz="3842">
                <a:solidFill>
                  <a:srgbClr val="FF0010"/>
                </a:solidFill>
                <a:latin typeface="Questrial"/>
                <a:ea typeface="Questrial"/>
                <a:cs typeface="Questrial"/>
                <a:sym typeface="Questrial"/>
              </a:rPr>
              <a:t>Cloud and IoT:</a:t>
            </a:r>
            <a:r>
              <a:rPr lang="en-US" sz="3842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 Securing online services and connected devices.</a:t>
            </a:r>
          </a:p>
          <a:p>
            <a:pPr algn="l" marL="829696" indent="-414848" lvl="1">
              <a:lnSpc>
                <a:spcPts val="5380"/>
              </a:lnSpc>
              <a:buFont typeface="Arial"/>
              <a:buChar char="•"/>
            </a:pPr>
            <a:r>
              <a:rPr lang="en-US" sz="3842">
                <a:solidFill>
                  <a:srgbClr val="FF0010"/>
                </a:solidFill>
                <a:latin typeface="Questrial"/>
                <a:ea typeface="Questrial"/>
                <a:cs typeface="Questrial"/>
                <a:sym typeface="Questrial"/>
              </a:rPr>
              <a:t>Zero Trust:</a:t>
            </a:r>
            <a:r>
              <a:rPr lang="en-US" sz="3842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 Verify access requests instead of automatically trusting a device because it is inside the network.</a:t>
            </a:r>
          </a:p>
          <a:p>
            <a:pPr algn="l" marL="829696" indent="-414848" lvl="1">
              <a:lnSpc>
                <a:spcPts val="5380"/>
              </a:lnSpc>
              <a:buFont typeface="Arial"/>
              <a:buChar char="•"/>
            </a:pPr>
            <a:r>
              <a:rPr lang="en-US" sz="3842">
                <a:solidFill>
                  <a:srgbClr val="FF0010"/>
                </a:solidFill>
                <a:latin typeface="Questrial"/>
                <a:ea typeface="Questrial"/>
                <a:cs typeface="Questrial"/>
                <a:sym typeface="Questrial"/>
              </a:rPr>
              <a:t>AI: </a:t>
            </a:r>
            <a:r>
              <a:rPr lang="en-US" sz="3842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Helps security teams identify suspicious patterns.</a:t>
            </a:r>
            <a:r>
              <a:rPr lang="en-US" sz="3842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</a:p>
          <a:p>
            <a:pPr algn="l">
              <a:lnSpc>
                <a:spcPts val="5380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3863178" y="-764732"/>
            <a:ext cx="2585029" cy="2617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30"/>
              </a:lnSpc>
            </a:pPr>
            <a:r>
              <a:rPr lang="en-US" sz="12504">
                <a:solidFill>
                  <a:srgbClr val="FF0010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09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28700" y="344207"/>
            <a:ext cx="5483560" cy="693251"/>
            <a:chOff x="0" y="0"/>
            <a:chExt cx="7311413" cy="924334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411367"/>
              <a:ext cx="6462648" cy="512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226"/>
                </a:lnSpc>
              </a:pPr>
              <a:r>
                <a:rPr lang="en-US" sz="1970">
                  <a:solidFill>
                    <a:srgbClr val="FFFFFF"/>
                  </a:solidFill>
                  <a:latin typeface="Pattanakarn Expanded"/>
                  <a:ea typeface="Pattanakarn Expanded"/>
                  <a:cs typeface="Pattanakarn Expanded"/>
                  <a:sym typeface="Pattanakarn Expanded"/>
                </a:rPr>
                <a:t>DECODE .  DEFEND . DOMINATE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-114300"/>
              <a:ext cx="7311413" cy="5059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226"/>
                </a:lnSpc>
              </a:pPr>
              <a:r>
                <a:rPr lang="en-US" sz="1970">
                  <a:solidFill>
                    <a:srgbClr val="FF0010"/>
                  </a:solidFill>
                  <a:latin typeface="Pattanakarn Expanded"/>
                  <a:ea typeface="Pattanakarn Expanded"/>
                  <a:cs typeface="Pattanakarn Expanded"/>
                  <a:sym typeface="Pattanakarn Expanded"/>
                </a:rPr>
                <a:t>PROTOCOL CYBERSECURITY CLUB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987985" y="801782"/>
            <a:ext cx="542630" cy="453836"/>
          </a:xfrm>
          <a:custGeom>
            <a:avLst/>
            <a:gdLst/>
            <a:ahLst/>
            <a:cxnLst/>
            <a:rect r="r" b="b" t="t" l="l"/>
            <a:pathLst>
              <a:path h="453836" w="542630">
                <a:moveTo>
                  <a:pt x="0" y="0"/>
                </a:moveTo>
                <a:lnTo>
                  <a:pt x="542630" y="0"/>
                </a:lnTo>
                <a:lnTo>
                  <a:pt x="542630" y="453836"/>
                </a:lnTo>
                <a:lnTo>
                  <a:pt x="0" y="4538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504990" y="-1767157"/>
            <a:ext cx="3086100" cy="30861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12889" y="0"/>
                  </a:moveTo>
                  <a:lnTo>
                    <a:pt x="699911" y="0"/>
                  </a:lnTo>
                  <a:cubicBezTo>
                    <a:pt x="762258" y="0"/>
                    <a:pt x="812800" y="50542"/>
                    <a:pt x="812800" y="112889"/>
                  </a:cubicBezTo>
                  <a:lnTo>
                    <a:pt x="812800" y="699911"/>
                  </a:lnTo>
                  <a:cubicBezTo>
                    <a:pt x="812800" y="762258"/>
                    <a:pt x="762258" y="812800"/>
                    <a:pt x="699911" y="812800"/>
                  </a:cubicBezTo>
                  <a:lnTo>
                    <a:pt x="112889" y="812800"/>
                  </a:lnTo>
                  <a:cubicBezTo>
                    <a:pt x="50542" y="812800"/>
                    <a:pt x="0" y="762258"/>
                    <a:pt x="0" y="699911"/>
                  </a:cubicBezTo>
                  <a:lnTo>
                    <a:pt x="0" y="112889"/>
                  </a:lnTo>
                  <a:cubicBezTo>
                    <a:pt x="0" y="50542"/>
                    <a:pt x="50542" y="0"/>
                    <a:pt x="112889" y="0"/>
                  </a:cubicBezTo>
                  <a:close/>
                </a:path>
              </a:pathLst>
            </a:custGeom>
            <a:solidFill>
              <a:srgbClr val="FF001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52400"/>
              <a:ext cx="812800" cy="965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2283865" y="1878732"/>
            <a:ext cx="4766855" cy="5483662"/>
          </a:xfrm>
          <a:custGeom>
            <a:avLst/>
            <a:gdLst/>
            <a:ahLst/>
            <a:cxnLst/>
            <a:rect r="r" b="b" t="t" l="l"/>
            <a:pathLst>
              <a:path h="5483662" w="4766855">
                <a:moveTo>
                  <a:pt x="0" y="0"/>
                </a:moveTo>
                <a:lnTo>
                  <a:pt x="4766855" y="0"/>
                </a:lnTo>
                <a:lnTo>
                  <a:pt x="4766855" y="5483662"/>
                </a:lnTo>
                <a:lnTo>
                  <a:pt x="0" y="54836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8323" t="-6035" r="-62766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81110" y="5086350"/>
            <a:ext cx="10478822" cy="5286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23792" indent="-361896" lvl="1">
              <a:lnSpc>
                <a:spcPts val="4693"/>
              </a:lnSpc>
              <a:buFont typeface="Arial"/>
              <a:buChar char="•"/>
            </a:pPr>
            <a:r>
              <a:rPr lang="en-US" sz="3352">
                <a:solidFill>
                  <a:srgbClr val="FF0010"/>
                </a:solidFill>
                <a:latin typeface="Anantason"/>
                <a:ea typeface="Anantason"/>
                <a:cs typeface="Anantason"/>
                <a:sym typeface="Anantason"/>
              </a:rPr>
              <a:t>Open source: </a:t>
            </a:r>
            <a:r>
              <a:rPr lang="en-US" sz="3352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People can inspect and modify its code.</a:t>
            </a:r>
          </a:p>
          <a:p>
            <a:pPr algn="just" marL="723792" indent="-361896" lvl="1">
              <a:lnSpc>
                <a:spcPts val="4693"/>
              </a:lnSpc>
              <a:buFont typeface="Arial"/>
              <a:buChar char="•"/>
            </a:pPr>
            <a:r>
              <a:rPr lang="en-US" sz="3352">
                <a:solidFill>
                  <a:srgbClr val="FF0010"/>
                </a:solidFill>
                <a:latin typeface="Anantason"/>
                <a:ea typeface="Anantason"/>
                <a:cs typeface="Anantason"/>
                <a:sym typeface="Anantason"/>
              </a:rPr>
              <a:t>Powerful terminal:</a:t>
            </a:r>
            <a:r>
              <a:rPr lang="en-US" sz="3352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 Commands make many tasks quick.</a:t>
            </a:r>
          </a:p>
          <a:p>
            <a:pPr algn="just" marL="723792" indent="-361896" lvl="1">
              <a:lnSpc>
                <a:spcPts val="4693"/>
              </a:lnSpc>
              <a:buFont typeface="Arial"/>
              <a:buChar char="•"/>
            </a:pPr>
            <a:r>
              <a:rPr lang="en-US" sz="3352">
                <a:solidFill>
                  <a:srgbClr val="FF0010"/>
                </a:solidFill>
                <a:latin typeface="Anantason"/>
                <a:ea typeface="Anantason"/>
                <a:cs typeface="Anantason"/>
                <a:sym typeface="Anantason"/>
              </a:rPr>
              <a:t>Automation: </a:t>
            </a:r>
            <a:r>
              <a:rPr lang="en-US" sz="3352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Bash and Python help repeat tasks.</a:t>
            </a:r>
          </a:p>
          <a:p>
            <a:pPr algn="just" marL="723792" indent="-361896" lvl="1">
              <a:lnSpc>
                <a:spcPts val="4693"/>
              </a:lnSpc>
              <a:buFont typeface="Arial"/>
              <a:buChar char="•"/>
            </a:pPr>
            <a:r>
              <a:rPr lang="en-US" sz="3352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Security tools: Kali Linux and Parrot OS collect useful tools.</a:t>
            </a:r>
          </a:p>
          <a:p>
            <a:pPr algn="just" marL="723792" indent="-361896" lvl="1">
              <a:lnSpc>
                <a:spcPts val="4693"/>
              </a:lnSpc>
              <a:buFont typeface="Arial"/>
              <a:buChar char="•"/>
            </a:pPr>
            <a:r>
              <a:rPr lang="en-US" sz="3352">
                <a:solidFill>
                  <a:srgbClr val="FF0010"/>
                </a:solidFill>
                <a:latin typeface="Anantason"/>
                <a:ea typeface="Anantason"/>
                <a:cs typeface="Anantason"/>
                <a:sym typeface="Anantason"/>
              </a:rPr>
              <a:t>Logs:</a:t>
            </a:r>
            <a:r>
              <a:rPr lang="en-US" sz="3352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 Records of system activity help investigations.</a:t>
            </a:r>
          </a:p>
          <a:p>
            <a:pPr algn="just">
              <a:lnSpc>
                <a:spcPts val="4693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839421" y="1298918"/>
            <a:ext cx="7600099" cy="3675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03"/>
              </a:lnSpc>
            </a:pPr>
            <a:r>
              <a:rPr lang="en-US" sz="10445" b="true">
                <a:solidFill>
                  <a:srgbClr val="FFFFFF"/>
                </a:solidFill>
                <a:latin typeface="Pattanakarn Expanded Medium"/>
                <a:ea typeface="Pattanakarn Expanded Medium"/>
                <a:cs typeface="Pattanakarn Expanded Medium"/>
                <a:sym typeface="Pattanakarn Expanded Medium"/>
              </a:rPr>
              <a:t>Why Linux matters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667293" y="-454954"/>
            <a:ext cx="1553469" cy="233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588"/>
              </a:lnSpc>
            </a:pPr>
            <a:r>
              <a:rPr lang="en-US" sz="11139">
                <a:solidFill>
                  <a:srgbClr val="FF0010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10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28700" y="344207"/>
            <a:ext cx="5483560" cy="693251"/>
            <a:chOff x="0" y="0"/>
            <a:chExt cx="7311413" cy="924334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411367"/>
              <a:ext cx="6462648" cy="512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226"/>
                </a:lnSpc>
              </a:pPr>
              <a:r>
                <a:rPr lang="en-US" sz="1970">
                  <a:solidFill>
                    <a:srgbClr val="FFFFFF"/>
                  </a:solidFill>
                  <a:latin typeface="Pattanakarn Expanded"/>
                  <a:ea typeface="Pattanakarn Expanded"/>
                  <a:cs typeface="Pattanakarn Expanded"/>
                  <a:sym typeface="Pattanakarn Expanded"/>
                </a:rPr>
                <a:t>DECODE .  DEFEND . DOMINATE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-114300"/>
              <a:ext cx="7311413" cy="5059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226"/>
                </a:lnSpc>
              </a:pPr>
              <a:r>
                <a:rPr lang="en-US" sz="1970">
                  <a:solidFill>
                    <a:srgbClr val="FF0010"/>
                  </a:solidFill>
                  <a:latin typeface="Pattanakarn Expanded"/>
                  <a:ea typeface="Pattanakarn Expanded"/>
                  <a:cs typeface="Pattanakarn Expanded"/>
                  <a:sym typeface="Pattanakarn Expanded"/>
                </a:rPr>
                <a:t>PROTOCOL CYBERSECURITY CLUB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1494666" y="7634517"/>
            <a:ext cx="6345253" cy="1517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9"/>
              </a:lnSpc>
              <a:spcBef>
                <a:spcPct val="0"/>
              </a:spcBef>
            </a:pPr>
            <a:r>
              <a:rPr lang="en-US" sz="3539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A </a:t>
            </a:r>
            <a:r>
              <a:rPr lang="en-US" sz="3539">
                <a:solidFill>
                  <a:srgbClr val="FF0010"/>
                </a:solidFill>
                <a:latin typeface="Anantason"/>
                <a:ea typeface="Anantason"/>
                <a:cs typeface="Anantason"/>
                <a:sym typeface="Anantason"/>
              </a:rPr>
              <a:t>virtual machine</a:t>
            </a:r>
            <a:r>
              <a:rPr lang="en-US" sz="3539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 </a:t>
            </a:r>
            <a:r>
              <a:rPr lang="en-US" sz="3539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gives you a practice computer inside your computer.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12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035813" y="348607"/>
            <a:ext cx="1338554" cy="13710294"/>
            <a:chOff x="0" y="0"/>
            <a:chExt cx="352541" cy="36109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2541" cy="3610942"/>
            </a:xfrm>
            <a:custGeom>
              <a:avLst/>
              <a:gdLst/>
              <a:ahLst/>
              <a:cxnLst/>
              <a:rect r="r" b="b" t="t" l="l"/>
              <a:pathLst>
                <a:path h="3610942" w="352541">
                  <a:moveTo>
                    <a:pt x="176271" y="0"/>
                  </a:moveTo>
                  <a:lnTo>
                    <a:pt x="176271" y="0"/>
                  </a:lnTo>
                  <a:cubicBezTo>
                    <a:pt x="273622" y="0"/>
                    <a:pt x="352541" y="78919"/>
                    <a:pt x="352541" y="176271"/>
                  </a:cubicBezTo>
                  <a:lnTo>
                    <a:pt x="352541" y="3434671"/>
                  </a:lnTo>
                  <a:cubicBezTo>
                    <a:pt x="352541" y="3532023"/>
                    <a:pt x="273622" y="3610942"/>
                    <a:pt x="176271" y="3610942"/>
                  </a:cubicBezTo>
                  <a:lnTo>
                    <a:pt x="176271" y="3610942"/>
                  </a:lnTo>
                  <a:cubicBezTo>
                    <a:pt x="78919" y="3610942"/>
                    <a:pt x="0" y="3532023"/>
                    <a:pt x="0" y="3434671"/>
                  </a:cubicBezTo>
                  <a:lnTo>
                    <a:pt x="0" y="176271"/>
                  </a:lnTo>
                  <a:cubicBezTo>
                    <a:pt x="0" y="78919"/>
                    <a:pt x="78919" y="0"/>
                    <a:pt x="176271" y="0"/>
                  </a:cubicBezTo>
                  <a:close/>
                </a:path>
              </a:pathLst>
            </a:custGeom>
            <a:solidFill>
              <a:srgbClr val="FF001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52400"/>
              <a:ext cx="352541" cy="37633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504990" y="-1767157"/>
            <a:ext cx="3086100" cy="30861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12889" y="0"/>
                  </a:moveTo>
                  <a:lnTo>
                    <a:pt x="699911" y="0"/>
                  </a:lnTo>
                  <a:cubicBezTo>
                    <a:pt x="762258" y="0"/>
                    <a:pt x="812800" y="50542"/>
                    <a:pt x="812800" y="112889"/>
                  </a:cubicBezTo>
                  <a:lnTo>
                    <a:pt x="812800" y="699911"/>
                  </a:lnTo>
                  <a:cubicBezTo>
                    <a:pt x="812800" y="762258"/>
                    <a:pt x="762258" y="812800"/>
                    <a:pt x="699911" y="812800"/>
                  </a:cubicBezTo>
                  <a:lnTo>
                    <a:pt x="112889" y="812800"/>
                  </a:lnTo>
                  <a:cubicBezTo>
                    <a:pt x="50542" y="812800"/>
                    <a:pt x="0" y="762258"/>
                    <a:pt x="0" y="699911"/>
                  </a:cubicBezTo>
                  <a:lnTo>
                    <a:pt x="0" y="112889"/>
                  </a:lnTo>
                  <a:cubicBezTo>
                    <a:pt x="0" y="50542"/>
                    <a:pt x="50542" y="0"/>
                    <a:pt x="112889" y="0"/>
                  </a:cubicBezTo>
                  <a:close/>
                </a:path>
              </a:pathLst>
            </a:custGeom>
            <a:solidFill>
              <a:srgbClr val="FF001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52400"/>
              <a:ext cx="812800" cy="965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5949189" y="1840540"/>
          <a:ext cx="10756886" cy="8140237"/>
        </p:xfrm>
        <a:graphic>
          <a:graphicData uri="http://schemas.openxmlformats.org/drawingml/2006/table">
            <a:tbl>
              <a:tblPr/>
              <a:tblGrid>
                <a:gridCol w="3187049"/>
                <a:gridCol w="3984209"/>
                <a:gridCol w="3585629"/>
              </a:tblGrid>
              <a:tr h="14509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98"/>
                        </a:lnSpc>
                        <a:defRPr/>
                      </a:pPr>
                      <a:r>
                        <a:rPr lang="en-US" b="true" sz="2570">
                          <a:solidFill>
                            <a:srgbClr val="FF0010"/>
                          </a:solidFill>
                          <a:latin typeface="Anantason Bold"/>
                          <a:ea typeface="Anantason Bold"/>
                          <a:cs typeface="Anantason Bold"/>
                          <a:sym typeface="Anantason Bold"/>
                        </a:rPr>
                        <a:t>Group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98"/>
                        </a:lnSpc>
                        <a:defRPr/>
                      </a:pPr>
                      <a:r>
                        <a:rPr lang="en-US" b="true" sz="2570">
                          <a:solidFill>
                            <a:srgbClr val="FF0010"/>
                          </a:solidFill>
                          <a:latin typeface="Anantason Bold"/>
                          <a:ea typeface="Anantason Bold"/>
                          <a:cs typeface="Anantason Bold"/>
                          <a:sym typeface="Anantason Bold"/>
                        </a:rPr>
                        <a:t>Examples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98"/>
                        </a:lnSpc>
                        <a:defRPr/>
                      </a:pPr>
                      <a:r>
                        <a:rPr lang="en-US" b="true" sz="2570">
                          <a:solidFill>
                            <a:srgbClr val="FF0010"/>
                          </a:solidFill>
                          <a:latin typeface="Anantason Bold"/>
                          <a:ea typeface="Anantason Bold"/>
                          <a:cs typeface="Anantason Bold"/>
                          <a:sym typeface="Anantason Bold"/>
                        </a:rPr>
                        <a:t>Common use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8858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98"/>
                        </a:lnSpc>
                        <a:defRPr/>
                      </a:pPr>
                      <a:r>
                        <a:rPr lang="en-US" sz="2570">
                          <a:solidFill>
                            <a:srgbClr val="FFFFFF"/>
                          </a:solidFill>
                          <a:latin typeface="Anantason"/>
                          <a:ea typeface="Anantason"/>
                          <a:cs typeface="Anantason"/>
                          <a:sym typeface="Anantason"/>
                        </a:rPr>
                        <a:t>Debian-based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98"/>
                        </a:lnSpc>
                        <a:defRPr/>
                      </a:pPr>
                      <a:r>
                        <a:rPr lang="en-US" sz="2570">
                          <a:solidFill>
                            <a:srgbClr val="FFFFFF"/>
                          </a:solidFill>
                          <a:latin typeface="Anantason"/>
                          <a:ea typeface="Anantason"/>
                          <a:cs typeface="Anantason"/>
                          <a:sym typeface="Anantason"/>
                        </a:rPr>
                        <a:t>Debian, Ubuntu, Linux Mint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98"/>
                        </a:lnSpc>
                        <a:defRPr/>
                      </a:pPr>
                      <a:r>
                        <a:rPr lang="en-US" sz="2570">
                          <a:solidFill>
                            <a:srgbClr val="FFFFFF"/>
                          </a:solidFill>
                          <a:latin typeface="Anantason"/>
                          <a:ea typeface="Anantason"/>
                          <a:cs typeface="Anantason"/>
                          <a:sym typeface="Anantason"/>
                        </a:rPr>
                        <a:t>Everyday use and beginner learning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8858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98"/>
                        </a:lnSpc>
                        <a:defRPr/>
                      </a:pPr>
                      <a:r>
                        <a:rPr lang="en-US" sz="2570">
                          <a:solidFill>
                            <a:srgbClr val="FFFFFF"/>
                          </a:solidFill>
                          <a:latin typeface="Anantason"/>
                          <a:ea typeface="Anantason"/>
                          <a:cs typeface="Anantason"/>
                          <a:sym typeface="Anantason"/>
                        </a:rPr>
                        <a:t>Red Hat-based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98"/>
                        </a:lnSpc>
                        <a:defRPr/>
                      </a:pPr>
                      <a:r>
                        <a:rPr lang="en-US" sz="2570">
                          <a:solidFill>
                            <a:srgbClr val="FFFFFF"/>
                          </a:solidFill>
                          <a:latin typeface="Anantason"/>
                          <a:ea typeface="Anantason"/>
                          <a:cs typeface="Anantason"/>
                          <a:sym typeface="Anantason"/>
                        </a:rPr>
                        <a:t>Fedora, RHEL, Rocky Linux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98"/>
                        </a:lnSpc>
                        <a:defRPr/>
                      </a:pPr>
                      <a:r>
                        <a:rPr lang="en-US" sz="2570">
                          <a:solidFill>
                            <a:srgbClr val="FFFFFF"/>
                          </a:solidFill>
                          <a:latin typeface="Anantason"/>
                          <a:ea typeface="Anantason"/>
                          <a:cs typeface="Anantason"/>
                          <a:sym typeface="Anantason"/>
                        </a:rPr>
                        <a:t>Workstations and servers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2352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98"/>
                        </a:lnSpc>
                        <a:defRPr/>
                      </a:pPr>
                      <a:r>
                        <a:rPr lang="en-US" sz="2570">
                          <a:solidFill>
                            <a:srgbClr val="FFFFFF"/>
                          </a:solidFill>
                          <a:latin typeface="Anantason"/>
                          <a:ea typeface="Anantason"/>
                          <a:cs typeface="Anantason"/>
                          <a:sym typeface="Anantason"/>
                        </a:rPr>
                        <a:t>Arch-based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98"/>
                        </a:lnSpc>
                        <a:defRPr/>
                      </a:pPr>
                      <a:r>
                        <a:rPr lang="en-US" sz="2570">
                          <a:solidFill>
                            <a:srgbClr val="FFFFFF"/>
                          </a:solidFill>
                          <a:latin typeface="Anantason"/>
                          <a:ea typeface="Anantason"/>
                          <a:cs typeface="Anantason"/>
                          <a:sym typeface="Anantason"/>
                        </a:rPr>
                        <a:t>Arch Linux, Manjaro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98"/>
                        </a:lnSpc>
                        <a:defRPr/>
                      </a:pPr>
                      <a:r>
                        <a:rPr lang="en-US" sz="2570">
                          <a:solidFill>
                            <a:srgbClr val="FFFFFF"/>
                          </a:solidFill>
                          <a:latin typeface="Anantason"/>
                          <a:ea typeface="Anantason"/>
                          <a:cs typeface="Anantason"/>
                          <a:sym typeface="Anantason"/>
                        </a:rPr>
                        <a:t>Customisation and more hands-on setup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8858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98"/>
                        </a:lnSpc>
                        <a:defRPr/>
                      </a:pPr>
                      <a:r>
                        <a:rPr lang="en-US" sz="2570">
                          <a:solidFill>
                            <a:srgbClr val="FFFFFF"/>
                          </a:solidFill>
                          <a:latin typeface="Anantason"/>
                          <a:ea typeface="Anantason"/>
                          <a:cs typeface="Anantason"/>
                          <a:sym typeface="Anantason"/>
                        </a:rPr>
                        <a:t>Security-focused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98"/>
                        </a:lnSpc>
                        <a:defRPr/>
                      </a:pPr>
                      <a:r>
                        <a:rPr lang="en-US" sz="2570">
                          <a:solidFill>
                            <a:srgbClr val="FFFFFF"/>
                          </a:solidFill>
                          <a:latin typeface="Anantason"/>
                          <a:ea typeface="Anantason"/>
                          <a:cs typeface="Anantason"/>
                          <a:sym typeface="Anantason"/>
                        </a:rPr>
                        <a:t>Kali Linux, Parrot 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98"/>
                        </a:lnSpc>
                        <a:defRPr/>
                      </a:pPr>
                      <a:r>
                        <a:rPr lang="en-US" sz="2570">
                          <a:solidFill>
                            <a:srgbClr val="FFFFFF"/>
                          </a:solidFill>
                          <a:latin typeface="Anantason"/>
                          <a:ea typeface="Anantason"/>
                          <a:cs typeface="Anantason"/>
                          <a:sym typeface="Anantason"/>
                        </a:rPr>
                        <a:t>Security testing and learning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250744" y="3621155"/>
            <a:ext cx="5698445" cy="5803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96"/>
              </a:lnSpc>
            </a:pPr>
            <a:r>
              <a:rPr lang="en-US" sz="9112" b="true">
                <a:solidFill>
                  <a:srgbClr val="FFFFFF"/>
                </a:solidFill>
                <a:latin typeface="Pattanakarn Expanded Medium"/>
                <a:ea typeface="Pattanakarn Expanded Medium"/>
                <a:cs typeface="Pattanakarn Expanded Medium"/>
                <a:sym typeface="Pattanakarn Expanded Medium"/>
              </a:rPr>
              <a:t>Linux comes in different flavours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81110" y="442643"/>
            <a:ext cx="1380278" cy="3223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423"/>
              </a:lnSpc>
            </a:pPr>
            <a:r>
              <a:rPr lang="en-US" sz="15418">
                <a:solidFill>
                  <a:srgbClr val="FF0010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11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28700" y="344207"/>
            <a:ext cx="5483560" cy="693251"/>
            <a:chOff x="0" y="0"/>
            <a:chExt cx="7311413" cy="924334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411367"/>
              <a:ext cx="6462648" cy="512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226"/>
                </a:lnSpc>
              </a:pPr>
              <a:r>
                <a:rPr lang="en-US" sz="1970">
                  <a:solidFill>
                    <a:srgbClr val="FFFFFF"/>
                  </a:solidFill>
                  <a:latin typeface="Pattanakarn Expanded"/>
                  <a:ea typeface="Pattanakarn Expanded"/>
                  <a:cs typeface="Pattanakarn Expanded"/>
                  <a:sym typeface="Pattanakarn Expanded"/>
                </a:rPr>
                <a:t>DECODE .  DEFEND . DOMINATE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114300"/>
              <a:ext cx="7311413" cy="5059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226"/>
                </a:lnSpc>
              </a:pPr>
              <a:r>
                <a:rPr lang="en-US" sz="1970">
                  <a:solidFill>
                    <a:srgbClr val="FF0010"/>
                  </a:solidFill>
                  <a:latin typeface="Pattanakarn Expanded"/>
                  <a:ea typeface="Pattanakarn Expanded"/>
                  <a:cs typeface="Pattanakarn Expanded"/>
                  <a:sym typeface="Pattanakarn Expanded"/>
                </a:rPr>
                <a:t>PROTOCOL CYBERSECURITY CLUB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512260" y="740196"/>
            <a:ext cx="10009022" cy="1100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1"/>
              </a:lnSpc>
            </a:pPr>
            <a:r>
              <a:rPr lang="en-US" sz="3179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A distribution, or distro, packages Linux with tools and software.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987985" y="801782"/>
            <a:ext cx="542630" cy="453836"/>
          </a:xfrm>
          <a:custGeom>
            <a:avLst/>
            <a:gdLst/>
            <a:ahLst/>
            <a:cxnLst/>
            <a:rect r="r" b="b" t="t" l="l"/>
            <a:pathLst>
              <a:path h="453836" w="542630">
                <a:moveTo>
                  <a:pt x="0" y="0"/>
                </a:moveTo>
                <a:lnTo>
                  <a:pt x="542630" y="0"/>
                </a:lnTo>
                <a:lnTo>
                  <a:pt x="542630" y="453836"/>
                </a:lnTo>
                <a:lnTo>
                  <a:pt x="0" y="4538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504990" y="-1767157"/>
            <a:ext cx="3086100" cy="30861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12889" y="0"/>
                  </a:moveTo>
                  <a:lnTo>
                    <a:pt x="699911" y="0"/>
                  </a:lnTo>
                  <a:cubicBezTo>
                    <a:pt x="762258" y="0"/>
                    <a:pt x="812800" y="50542"/>
                    <a:pt x="812800" y="112889"/>
                  </a:cubicBezTo>
                  <a:lnTo>
                    <a:pt x="812800" y="699911"/>
                  </a:lnTo>
                  <a:cubicBezTo>
                    <a:pt x="812800" y="762258"/>
                    <a:pt x="762258" y="812800"/>
                    <a:pt x="699911" y="812800"/>
                  </a:cubicBezTo>
                  <a:lnTo>
                    <a:pt x="112889" y="812800"/>
                  </a:lnTo>
                  <a:cubicBezTo>
                    <a:pt x="50542" y="812800"/>
                    <a:pt x="0" y="762258"/>
                    <a:pt x="0" y="699911"/>
                  </a:cubicBezTo>
                  <a:lnTo>
                    <a:pt x="0" y="112889"/>
                  </a:lnTo>
                  <a:cubicBezTo>
                    <a:pt x="0" y="50542"/>
                    <a:pt x="50542" y="0"/>
                    <a:pt x="112889" y="0"/>
                  </a:cubicBezTo>
                  <a:close/>
                </a:path>
              </a:pathLst>
            </a:custGeom>
            <a:solidFill>
              <a:srgbClr val="FF001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52400"/>
              <a:ext cx="812800" cy="965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3592956" y="7717279"/>
            <a:ext cx="11102087" cy="0"/>
          </a:xfrm>
          <a:prstGeom prst="line">
            <a:avLst/>
          </a:prstGeom>
          <a:ln cap="flat" w="38100">
            <a:solidFill>
              <a:srgbClr val="FF001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-451449" y="9791700"/>
            <a:ext cx="6751767" cy="1439440"/>
            <a:chOff x="0" y="0"/>
            <a:chExt cx="1778243" cy="37911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78243" cy="379112"/>
            </a:xfrm>
            <a:custGeom>
              <a:avLst/>
              <a:gdLst/>
              <a:ahLst/>
              <a:cxnLst/>
              <a:rect r="r" b="b" t="t" l="l"/>
              <a:pathLst>
                <a:path h="379112" w="1778243">
                  <a:moveTo>
                    <a:pt x="51599" y="0"/>
                  </a:moveTo>
                  <a:lnTo>
                    <a:pt x="1726644" y="0"/>
                  </a:lnTo>
                  <a:cubicBezTo>
                    <a:pt x="1755141" y="0"/>
                    <a:pt x="1778243" y="23102"/>
                    <a:pt x="1778243" y="51599"/>
                  </a:cubicBezTo>
                  <a:lnTo>
                    <a:pt x="1778243" y="327512"/>
                  </a:lnTo>
                  <a:cubicBezTo>
                    <a:pt x="1778243" y="341197"/>
                    <a:pt x="1772807" y="354322"/>
                    <a:pt x="1763130" y="363999"/>
                  </a:cubicBezTo>
                  <a:cubicBezTo>
                    <a:pt x="1753453" y="373675"/>
                    <a:pt x="1740329" y="379112"/>
                    <a:pt x="1726644" y="379112"/>
                  </a:cubicBezTo>
                  <a:lnTo>
                    <a:pt x="51599" y="379112"/>
                  </a:lnTo>
                  <a:cubicBezTo>
                    <a:pt x="23102" y="379112"/>
                    <a:pt x="0" y="356010"/>
                    <a:pt x="0" y="327512"/>
                  </a:cubicBezTo>
                  <a:lnTo>
                    <a:pt x="0" y="51599"/>
                  </a:lnTo>
                  <a:cubicBezTo>
                    <a:pt x="0" y="23102"/>
                    <a:pt x="23102" y="0"/>
                    <a:pt x="51599" y="0"/>
                  </a:cubicBezTo>
                  <a:close/>
                </a:path>
              </a:pathLst>
            </a:custGeom>
            <a:solidFill>
              <a:srgbClr val="FF001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52400"/>
              <a:ext cx="1778243" cy="531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403925" y="9791700"/>
            <a:ext cx="6751767" cy="1439440"/>
            <a:chOff x="0" y="0"/>
            <a:chExt cx="1778243" cy="37911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78243" cy="379112"/>
            </a:xfrm>
            <a:custGeom>
              <a:avLst/>
              <a:gdLst/>
              <a:ahLst/>
              <a:cxnLst/>
              <a:rect r="r" b="b" t="t" l="l"/>
              <a:pathLst>
                <a:path h="379112" w="1778243">
                  <a:moveTo>
                    <a:pt x="51599" y="0"/>
                  </a:moveTo>
                  <a:lnTo>
                    <a:pt x="1726644" y="0"/>
                  </a:lnTo>
                  <a:cubicBezTo>
                    <a:pt x="1755141" y="0"/>
                    <a:pt x="1778243" y="23102"/>
                    <a:pt x="1778243" y="51599"/>
                  </a:cubicBezTo>
                  <a:lnTo>
                    <a:pt x="1778243" y="327512"/>
                  </a:lnTo>
                  <a:cubicBezTo>
                    <a:pt x="1778243" y="341197"/>
                    <a:pt x="1772807" y="354322"/>
                    <a:pt x="1763130" y="363999"/>
                  </a:cubicBezTo>
                  <a:cubicBezTo>
                    <a:pt x="1753453" y="373675"/>
                    <a:pt x="1740329" y="379112"/>
                    <a:pt x="1726644" y="379112"/>
                  </a:cubicBezTo>
                  <a:lnTo>
                    <a:pt x="51599" y="379112"/>
                  </a:lnTo>
                  <a:cubicBezTo>
                    <a:pt x="23102" y="379112"/>
                    <a:pt x="0" y="356010"/>
                    <a:pt x="0" y="327512"/>
                  </a:cubicBezTo>
                  <a:lnTo>
                    <a:pt x="0" y="51599"/>
                  </a:lnTo>
                  <a:cubicBezTo>
                    <a:pt x="0" y="23102"/>
                    <a:pt x="23102" y="0"/>
                    <a:pt x="51599" y="0"/>
                  </a:cubicBezTo>
                  <a:close/>
                </a:path>
              </a:pathLst>
            </a:custGeom>
            <a:solidFill>
              <a:srgbClr val="FF001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52400"/>
              <a:ext cx="1778243" cy="531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7259300" y="9791700"/>
            <a:ext cx="6751767" cy="1439440"/>
            <a:chOff x="0" y="0"/>
            <a:chExt cx="1778243" cy="37911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78243" cy="379112"/>
            </a:xfrm>
            <a:custGeom>
              <a:avLst/>
              <a:gdLst/>
              <a:ahLst/>
              <a:cxnLst/>
              <a:rect r="r" b="b" t="t" l="l"/>
              <a:pathLst>
                <a:path h="379112" w="1778243">
                  <a:moveTo>
                    <a:pt x="51599" y="0"/>
                  </a:moveTo>
                  <a:lnTo>
                    <a:pt x="1726644" y="0"/>
                  </a:lnTo>
                  <a:cubicBezTo>
                    <a:pt x="1755141" y="0"/>
                    <a:pt x="1778243" y="23102"/>
                    <a:pt x="1778243" y="51599"/>
                  </a:cubicBezTo>
                  <a:lnTo>
                    <a:pt x="1778243" y="327512"/>
                  </a:lnTo>
                  <a:cubicBezTo>
                    <a:pt x="1778243" y="341197"/>
                    <a:pt x="1772807" y="354322"/>
                    <a:pt x="1763130" y="363999"/>
                  </a:cubicBezTo>
                  <a:cubicBezTo>
                    <a:pt x="1753453" y="373675"/>
                    <a:pt x="1740329" y="379112"/>
                    <a:pt x="1726644" y="379112"/>
                  </a:cubicBezTo>
                  <a:lnTo>
                    <a:pt x="51599" y="379112"/>
                  </a:lnTo>
                  <a:cubicBezTo>
                    <a:pt x="23102" y="379112"/>
                    <a:pt x="0" y="356010"/>
                    <a:pt x="0" y="327512"/>
                  </a:cubicBezTo>
                  <a:lnTo>
                    <a:pt x="0" y="51599"/>
                  </a:lnTo>
                  <a:cubicBezTo>
                    <a:pt x="0" y="23102"/>
                    <a:pt x="23102" y="0"/>
                    <a:pt x="51599" y="0"/>
                  </a:cubicBezTo>
                  <a:close/>
                </a:path>
              </a:pathLst>
            </a:custGeom>
            <a:solidFill>
              <a:srgbClr val="FF001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52400"/>
              <a:ext cx="1778243" cy="531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2067916" y="2631259"/>
            <a:ext cx="14152169" cy="4510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96"/>
              </a:lnSpc>
            </a:pPr>
            <a:r>
              <a:rPr lang="en-US" sz="9112" b="true">
                <a:solidFill>
                  <a:srgbClr val="FFFFFF"/>
                </a:solidFill>
                <a:latin typeface="Pattanakarn Expanded Medium"/>
                <a:ea typeface="Pattanakarn Expanded Medium"/>
                <a:cs typeface="Pattanakarn Expanded Medium"/>
                <a:sym typeface="Pattanakarn Expanded Medium"/>
              </a:rPr>
              <a:t>Let’s Start with Learning and Implementation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28700" y="344207"/>
            <a:ext cx="5483560" cy="693251"/>
            <a:chOff x="0" y="0"/>
            <a:chExt cx="7311413" cy="924334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411367"/>
              <a:ext cx="6462648" cy="512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226"/>
                </a:lnSpc>
              </a:pPr>
              <a:r>
                <a:rPr lang="en-US" sz="1970">
                  <a:solidFill>
                    <a:srgbClr val="FFFFFF"/>
                  </a:solidFill>
                  <a:latin typeface="Pattanakarn Expanded"/>
                  <a:ea typeface="Pattanakarn Expanded"/>
                  <a:cs typeface="Pattanakarn Expanded"/>
                  <a:sym typeface="Pattanakarn Expanded"/>
                </a:rPr>
                <a:t>DECODE .  DEFEND . DOMINATE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-114300"/>
              <a:ext cx="7311413" cy="5059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226"/>
                </a:lnSpc>
              </a:pPr>
              <a:r>
                <a:rPr lang="en-US" sz="1970">
                  <a:solidFill>
                    <a:srgbClr val="FF0010"/>
                  </a:solidFill>
                  <a:latin typeface="Pattanakarn Expanded"/>
                  <a:ea typeface="Pattanakarn Expanded"/>
                  <a:cs typeface="Pattanakarn Expanded"/>
                  <a:sym typeface="Pattanakarn Expanded"/>
                </a:rPr>
                <a:t>PROTOCOL CYBERSECURITY CLUB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987985" y="801782"/>
            <a:ext cx="542630" cy="453836"/>
          </a:xfrm>
          <a:custGeom>
            <a:avLst/>
            <a:gdLst/>
            <a:ahLst/>
            <a:cxnLst/>
            <a:rect r="r" b="b" t="t" l="l"/>
            <a:pathLst>
              <a:path h="453836" w="542630">
                <a:moveTo>
                  <a:pt x="0" y="0"/>
                </a:moveTo>
                <a:lnTo>
                  <a:pt x="542630" y="0"/>
                </a:lnTo>
                <a:lnTo>
                  <a:pt x="542630" y="453836"/>
                </a:lnTo>
                <a:lnTo>
                  <a:pt x="0" y="4538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504990" y="-1767157"/>
            <a:ext cx="3086100" cy="30861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12889" y="0"/>
                  </a:moveTo>
                  <a:lnTo>
                    <a:pt x="699911" y="0"/>
                  </a:lnTo>
                  <a:cubicBezTo>
                    <a:pt x="762258" y="0"/>
                    <a:pt x="812800" y="50542"/>
                    <a:pt x="812800" y="112889"/>
                  </a:cubicBezTo>
                  <a:lnTo>
                    <a:pt x="812800" y="699911"/>
                  </a:lnTo>
                  <a:cubicBezTo>
                    <a:pt x="812800" y="762258"/>
                    <a:pt x="762258" y="812800"/>
                    <a:pt x="699911" y="812800"/>
                  </a:cubicBezTo>
                  <a:lnTo>
                    <a:pt x="112889" y="812800"/>
                  </a:lnTo>
                  <a:cubicBezTo>
                    <a:pt x="50542" y="812800"/>
                    <a:pt x="0" y="762258"/>
                    <a:pt x="0" y="699911"/>
                  </a:cubicBezTo>
                  <a:lnTo>
                    <a:pt x="0" y="112889"/>
                  </a:lnTo>
                  <a:cubicBezTo>
                    <a:pt x="0" y="50542"/>
                    <a:pt x="50542" y="0"/>
                    <a:pt x="112889" y="0"/>
                  </a:cubicBezTo>
                  <a:close/>
                </a:path>
              </a:pathLst>
            </a:custGeom>
            <a:solidFill>
              <a:srgbClr val="FF001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52400"/>
              <a:ext cx="812800" cy="965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804109" y="9305951"/>
            <a:ext cx="3937185" cy="0"/>
          </a:xfrm>
          <a:prstGeom prst="line">
            <a:avLst/>
          </a:prstGeom>
          <a:ln cap="flat" w="38100">
            <a:solidFill>
              <a:srgbClr val="FF001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-451449" y="9791700"/>
            <a:ext cx="6751767" cy="1439440"/>
            <a:chOff x="0" y="0"/>
            <a:chExt cx="1778243" cy="37911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78243" cy="379112"/>
            </a:xfrm>
            <a:custGeom>
              <a:avLst/>
              <a:gdLst/>
              <a:ahLst/>
              <a:cxnLst/>
              <a:rect r="r" b="b" t="t" l="l"/>
              <a:pathLst>
                <a:path h="379112" w="1778243">
                  <a:moveTo>
                    <a:pt x="51599" y="0"/>
                  </a:moveTo>
                  <a:lnTo>
                    <a:pt x="1726644" y="0"/>
                  </a:lnTo>
                  <a:cubicBezTo>
                    <a:pt x="1755141" y="0"/>
                    <a:pt x="1778243" y="23102"/>
                    <a:pt x="1778243" y="51599"/>
                  </a:cubicBezTo>
                  <a:lnTo>
                    <a:pt x="1778243" y="327512"/>
                  </a:lnTo>
                  <a:cubicBezTo>
                    <a:pt x="1778243" y="341197"/>
                    <a:pt x="1772807" y="354322"/>
                    <a:pt x="1763130" y="363999"/>
                  </a:cubicBezTo>
                  <a:cubicBezTo>
                    <a:pt x="1753453" y="373675"/>
                    <a:pt x="1740329" y="379112"/>
                    <a:pt x="1726644" y="379112"/>
                  </a:cubicBezTo>
                  <a:lnTo>
                    <a:pt x="51599" y="379112"/>
                  </a:lnTo>
                  <a:cubicBezTo>
                    <a:pt x="23102" y="379112"/>
                    <a:pt x="0" y="356010"/>
                    <a:pt x="0" y="327512"/>
                  </a:cubicBezTo>
                  <a:lnTo>
                    <a:pt x="0" y="51599"/>
                  </a:lnTo>
                  <a:cubicBezTo>
                    <a:pt x="0" y="23102"/>
                    <a:pt x="23102" y="0"/>
                    <a:pt x="51599" y="0"/>
                  </a:cubicBezTo>
                  <a:close/>
                </a:path>
              </a:pathLst>
            </a:custGeom>
            <a:solidFill>
              <a:srgbClr val="FF001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52400"/>
              <a:ext cx="1778243" cy="531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403925" y="9791700"/>
            <a:ext cx="6751767" cy="1439440"/>
            <a:chOff x="0" y="0"/>
            <a:chExt cx="1778243" cy="37911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78243" cy="379112"/>
            </a:xfrm>
            <a:custGeom>
              <a:avLst/>
              <a:gdLst/>
              <a:ahLst/>
              <a:cxnLst/>
              <a:rect r="r" b="b" t="t" l="l"/>
              <a:pathLst>
                <a:path h="379112" w="1778243">
                  <a:moveTo>
                    <a:pt x="51599" y="0"/>
                  </a:moveTo>
                  <a:lnTo>
                    <a:pt x="1726644" y="0"/>
                  </a:lnTo>
                  <a:cubicBezTo>
                    <a:pt x="1755141" y="0"/>
                    <a:pt x="1778243" y="23102"/>
                    <a:pt x="1778243" y="51599"/>
                  </a:cubicBezTo>
                  <a:lnTo>
                    <a:pt x="1778243" y="327512"/>
                  </a:lnTo>
                  <a:cubicBezTo>
                    <a:pt x="1778243" y="341197"/>
                    <a:pt x="1772807" y="354322"/>
                    <a:pt x="1763130" y="363999"/>
                  </a:cubicBezTo>
                  <a:cubicBezTo>
                    <a:pt x="1753453" y="373675"/>
                    <a:pt x="1740329" y="379112"/>
                    <a:pt x="1726644" y="379112"/>
                  </a:cubicBezTo>
                  <a:lnTo>
                    <a:pt x="51599" y="379112"/>
                  </a:lnTo>
                  <a:cubicBezTo>
                    <a:pt x="23102" y="379112"/>
                    <a:pt x="0" y="356010"/>
                    <a:pt x="0" y="327512"/>
                  </a:cubicBezTo>
                  <a:lnTo>
                    <a:pt x="0" y="51599"/>
                  </a:lnTo>
                  <a:cubicBezTo>
                    <a:pt x="0" y="23102"/>
                    <a:pt x="23102" y="0"/>
                    <a:pt x="51599" y="0"/>
                  </a:cubicBezTo>
                  <a:close/>
                </a:path>
              </a:pathLst>
            </a:custGeom>
            <a:solidFill>
              <a:srgbClr val="FF001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52400"/>
              <a:ext cx="1778243" cy="531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7259300" y="9791700"/>
            <a:ext cx="6751767" cy="1439440"/>
            <a:chOff x="0" y="0"/>
            <a:chExt cx="1778243" cy="37911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78243" cy="379112"/>
            </a:xfrm>
            <a:custGeom>
              <a:avLst/>
              <a:gdLst/>
              <a:ahLst/>
              <a:cxnLst/>
              <a:rect r="r" b="b" t="t" l="l"/>
              <a:pathLst>
                <a:path h="379112" w="1778243">
                  <a:moveTo>
                    <a:pt x="51599" y="0"/>
                  </a:moveTo>
                  <a:lnTo>
                    <a:pt x="1726644" y="0"/>
                  </a:lnTo>
                  <a:cubicBezTo>
                    <a:pt x="1755141" y="0"/>
                    <a:pt x="1778243" y="23102"/>
                    <a:pt x="1778243" y="51599"/>
                  </a:cubicBezTo>
                  <a:lnTo>
                    <a:pt x="1778243" y="327512"/>
                  </a:lnTo>
                  <a:cubicBezTo>
                    <a:pt x="1778243" y="341197"/>
                    <a:pt x="1772807" y="354322"/>
                    <a:pt x="1763130" y="363999"/>
                  </a:cubicBezTo>
                  <a:cubicBezTo>
                    <a:pt x="1753453" y="373675"/>
                    <a:pt x="1740329" y="379112"/>
                    <a:pt x="1726644" y="379112"/>
                  </a:cubicBezTo>
                  <a:lnTo>
                    <a:pt x="51599" y="379112"/>
                  </a:lnTo>
                  <a:cubicBezTo>
                    <a:pt x="23102" y="379112"/>
                    <a:pt x="0" y="356010"/>
                    <a:pt x="0" y="327512"/>
                  </a:cubicBezTo>
                  <a:lnTo>
                    <a:pt x="0" y="51599"/>
                  </a:lnTo>
                  <a:cubicBezTo>
                    <a:pt x="0" y="23102"/>
                    <a:pt x="23102" y="0"/>
                    <a:pt x="51599" y="0"/>
                  </a:cubicBezTo>
                  <a:close/>
                </a:path>
              </a:pathLst>
            </a:custGeom>
            <a:solidFill>
              <a:srgbClr val="FF001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52400"/>
              <a:ext cx="1778243" cy="531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2067916" y="2631259"/>
            <a:ext cx="14152169" cy="4510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96"/>
              </a:lnSpc>
            </a:pPr>
            <a:r>
              <a:rPr lang="en-US" sz="9112" b="true">
                <a:solidFill>
                  <a:srgbClr val="FFFFFF"/>
                </a:solidFill>
                <a:latin typeface="Pattanakarn Expanded Medium"/>
                <a:ea typeface="Pattanakarn Expanded Medium"/>
                <a:cs typeface="Pattanakarn Expanded Medium"/>
                <a:sym typeface="Pattanakarn Expanded Medium"/>
              </a:rPr>
              <a:t>Step 1: Open Chrome and login to your Github Account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28700" y="344207"/>
            <a:ext cx="5483560" cy="693251"/>
            <a:chOff x="0" y="0"/>
            <a:chExt cx="7311413" cy="924334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411367"/>
              <a:ext cx="6462648" cy="512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226"/>
                </a:lnSpc>
              </a:pPr>
              <a:r>
                <a:rPr lang="en-US" sz="1970">
                  <a:solidFill>
                    <a:srgbClr val="FFFFFF"/>
                  </a:solidFill>
                  <a:latin typeface="Pattanakarn Expanded"/>
                  <a:ea typeface="Pattanakarn Expanded"/>
                  <a:cs typeface="Pattanakarn Expanded"/>
                  <a:sym typeface="Pattanakarn Expanded"/>
                </a:rPr>
                <a:t>DECODE .  DEFEND . DOMINATE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-114300"/>
              <a:ext cx="7311413" cy="5059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226"/>
                </a:lnSpc>
              </a:pPr>
              <a:r>
                <a:rPr lang="en-US" sz="1970">
                  <a:solidFill>
                    <a:srgbClr val="FF0010"/>
                  </a:solidFill>
                  <a:latin typeface="Pattanakarn Expanded"/>
                  <a:ea typeface="Pattanakarn Expanded"/>
                  <a:cs typeface="Pattanakarn Expanded"/>
                  <a:sym typeface="Pattanakarn Expanded"/>
                </a:rPr>
                <a:t>PROTOCOL CYBERSECURITY CLUB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987985" y="801782"/>
            <a:ext cx="542630" cy="453836"/>
          </a:xfrm>
          <a:custGeom>
            <a:avLst/>
            <a:gdLst/>
            <a:ahLst/>
            <a:cxnLst/>
            <a:rect r="r" b="b" t="t" l="l"/>
            <a:pathLst>
              <a:path h="453836" w="542630">
                <a:moveTo>
                  <a:pt x="0" y="0"/>
                </a:moveTo>
                <a:lnTo>
                  <a:pt x="542630" y="0"/>
                </a:lnTo>
                <a:lnTo>
                  <a:pt x="542630" y="453836"/>
                </a:lnTo>
                <a:lnTo>
                  <a:pt x="0" y="4538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504990" y="-1767157"/>
            <a:ext cx="3086100" cy="30861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12889" y="0"/>
                  </a:moveTo>
                  <a:lnTo>
                    <a:pt x="699911" y="0"/>
                  </a:lnTo>
                  <a:cubicBezTo>
                    <a:pt x="762258" y="0"/>
                    <a:pt x="812800" y="50542"/>
                    <a:pt x="812800" y="112889"/>
                  </a:cubicBezTo>
                  <a:lnTo>
                    <a:pt x="812800" y="699911"/>
                  </a:lnTo>
                  <a:cubicBezTo>
                    <a:pt x="812800" y="762258"/>
                    <a:pt x="762258" y="812800"/>
                    <a:pt x="699911" y="812800"/>
                  </a:cubicBezTo>
                  <a:lnTo>
                    <a:pt x="112889" y="812800"/>
                  </a:lnTo>
                  <a:cubicBezTo>
                    <a:pt x="50542" y="812800"/>
                    <a:pt x="0" y="762258"/>
                    <a:pt x="0" y="699911"/>
                  </a:cubicBezTo>
                  <a:lnTo>
                    <a:pt x="0" y="112889"/>
                  </a:lnTo>
                  <a:cubicBezTo>
                    <a:pt x="0" y="50542"/>
                    <a:pt x="50542" y="0"/>
                    <a:pt x="112889" y="0"/>
                  </a:cubicBezTo>
                  <a:close/>
                </a:path>
              </a:pathLst>
            </a:custGeom>
            <a:solidFill>
              <a:srgbClr val="FF001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52400"/>
              <a:ext cx="812800" cy="965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886776" y="6658164"/>
            <a:ext cx="5337341" cy="0"/>
          </a:xfrm>
          <a:prstGeom prst="line">
            <a:avLst/>
          </a:prstGeom>
          <a:ln cap="flat" w="38100">
            <a:solidFill>
              <a:srgbClr val="FF001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-451449" y="9791700"/>
            <a:ext cx="6751767" cy="1439440"/>
            <a:chOff x="0" y="0"/>
            <a:chExt cx="1778243" cy="37911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78243" cy="379112"/>
            </a:xfrm>
            <a:custGeom>
              <a:avLst/>
              <a:gdLst/>
              <a:ahLst/>
              <a:cxnLst/>
              <a:rect r="r" b="b" t="t" l="l"/>
              <a:pathLst>
                <a:path h="379112" w="1778243">
                  <a:moveTo>
                    <a:pt x="51599" y="0"/>
                  </a:moveTo>
                  <a:lnTo>
                    <a:pt x="1726644" y="0"/>
                  </a:lnTo>
                  <a:cubicBezTo>
                    <a:pt x="1755141" y="0"/>
                    <a:pt x="1778243" y="23102"/>
                    <a:pt x="1778243" y="51599"/>
                  </a:cubicBezTo>
                  <a:lnTo>
                    <a:pt x="1778243" y="327512"/>
                  </a:lnTo>
                  <a:cubicBezTo>
                    <a:pt x="1778243" y="341197"/>
                    <a:pt x="1772807" y="354322"/>
                    <a:pt x="1763130" y="363999"/>
                  </a:cubicBezTo>
                  <a:cubicBezTo>
                    <a:pt x="1753453" y="373675"/>
                    <a:pt x="1740329" y="379112"/>
                    <a:pt x="1726644" y="379112"/>
                  </a:cubicBezTo>
                  <a:lnTo>
                    <a:pt x="51599" y="379112"/>
                  </a:lnTo>
                  <a:cubicBezTo>
                    <a:pt x="23102" y="379112"/>
                    <a:pt x="0" y="356010"/>
                    <a:pt x="0" y="327512"/>
                  </a:cubicBezTo>
                  <a:lnTo>
                    <a:pt x="0" y="51599"/>
                  </a:lnTo>
                  <a:cubicBezTo>
                    <a:pt x="0" y="23102"/>
                    <a:pt x="23102" y="0"/>
                    <a:pt x="51599" y="0"/>
                  </a:cubicBezTo>
                  <a:close/>
                </a:path>
              </a:pathLst>
            </a:custGeom>
            <a:solidFill>
              <a:srgbClr val="FF001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52400"/>
              <a:ext cx="1778243" cy="531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403925" y="9791700"/>
            <a:ext cx="6751767" cy="1439440"/>
            <a:chOff x="0" y="0"/>
            <a:chExt cx="1778243" cy="37911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78243" cy="379112"/>
            </a:xfrm>
            <a:custGeom>
              <a:avLst/>
              <a:gdLst/>
              <a:ahLst/>
              <a:cxnLst/>
              <a:rect r="r" b="b" t="t" l="l"/>
              <a:pathLst>
                <a:path h="379112" w="1778243">
                  <a:moveTo>
                    <a:pt x="51599" y="0"/>
                  </a:moveTo>
                  <a:lnTo>
                    <a:pt x="1726644" y="0"/>
                  </a:lnTo>
                  <a:cubicBezTo>
                    <a:pt x="1755141" y="0"/>
                    <a:pt x="1778243" y="23102"/>
                    <a:pt x="1778243" y="51599"/>
                  </a:cubicBezTo>
                  <a:lnTo>
                    <a:pt x="1778243" y="327512"/>
                  </a:lnTo>
                  <a:cubicBezTo>
                    <a:pt x="1778243" y="341197"/>
                    <a:pt x="1772807" y="354322"/>
                    <a:pt x="1763130" y="363999"/>
                  </a:cubicBezTo>
                  <a:cubicBezTo>
                    <a:pt x="1753453" y="373675"/>
                    <a:pt x="1740329" y="379112"/>
                    <a:pt x="1726644" y="379112"/>
                  </a:cubicBezTo>
                  <a:lnTo>
                    <a:pt x="51599" y="379112"/>
                  </a:lnTo>
                  <a:cubicBezTo>
                    <a:pt x="23102" y="379112"/>
                    <a:pt x="0" y="356010"/>
                    <a:pt x="0" y="327512"/>
                  </a:cubicBezTo>
                  <a:lnTo>
                    <a:pt x="0" y="51599"/>
                  </a:lnTo>
                  <a:cubicBezTo>
                    <a:pt x="0" y="23102"/>
                    <a:pt x="23102" y="0"/>
                    <a:pt x="51599" y="0"/>
                  </a:cubicBezTo>
                  <a:close/>
                </a:path>
              </a:pathLst>
            </a:custGeom>
            <a:solidFill>
              <a:srgbClr val="FF001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52400"/>
              <a:ext cx="1778243" cy="531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7259300" y="9791700"/>
            <a:ext cx="6751767" cy="1439440"/>
            <a:chOff x="0" y="0"/>
            <a:chExt cx="1778243" cy="37911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78243" cy="379112"/>
            </a:xfrm>
            <a:custGeom>
              <a:avLst/>
              <a:gdLst/>
              <a:ahLst/>
              <a:cxnLst/>
              <a:rect r="r" b="b" t="t" l="l"/>
              <a:pathLst>
                <a:path h="379112" w="1778243">
                  <a:moveTo>
                    <a:pt x="51599" y="0"/>
                  </a:moveTo>
                  <a:lnTo>
                    <a:pt x="1726644" y="0"/>
                  </a:lnTo>
                  <a:cubicBezTo>
                    <a:pt x="1755141" y="0"/>
                    <a:pt x="1778243" y="23102"/>
                    <a:pt x="1778243" y="51599"/>
                  </a:cubicBezTo>
                  <a:lnTo>
                    <a:pt x="1778243" y="327512"/>
                  </a:lnTo>
                  <a:cubicBezTo>
                    <a:pt x="1778243" y="341197"/>
                    <a:pt x="1772807" y="354322"/>
                    <a:pt x="1763130" y="363999"/>
                  </a:cubicBezTo>
                  <a:cubicBezTo>
                    <a:pt x="1753453" y="373675"/>
                    <a:pt x="1740329" y="379112"/>
                    <a:pt x="1726644" y="379112"/>
                  </a:cubicBezTo>
                  <a:lnTo>
                    <a:pt x="51599" y="379112"/>
                  </a:lnTo>
                  <a:cubicBezTo>
                    <a:pt x="23102" y="379112"/>
                    <a:pt x="0" y="356010"/>
                    <a:pt x="0" y="327512"/>
                  </a:cubicBezTo>
                  <a:lnTo>
                    <a:pt x="0" y="51599"/>
                  </a:lnTo>
                  <a:cubicBezTo>
                    <a:pt x="0" y="23102"/>
                    <a:pt x="23102" y="0"/>
                    <a:pt x="51599" y="0"/>
                  </a:cubicBezTo>
                  <a:close/>
                </a:path>
              </a:pathLst>
            </a:custGeom>
            <a:solidFill>
              <a:srgbClr val="FF001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52400"/>
              <a:ext cx="1778243" cy="531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  <p:graphicFrame>
        <p:nvGraphicFramePr>
          <p:cNvPr name="Table 16" id="16"/>
          <p:cNvGraphicFramePr>
            <a:graphicFrameLocks noGrp="true"/>
          </p:cNvGraphicFramePr>
          <p:nvPr/>
        </p:nvGraphicFramePr>
        <p:xfrm>
          <a:off x="7146381" y="1895375"/>
          <a:ext cx="9841604" cy="7308094"/>
        </p:xfrm>
        <a:graphic>
          <a:graphicData uri="http://schemas.openxmlformats.org/drawingml/2006/table">
            <a:tbl>
              <a:tblPr/>
              <a:tblGrid>
                <a:gridCol w="4920802"/>
                <a:gridCol w="4920802"/>
              </a:tblGrid>
              <a:tr h="14612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38"/>
                        </a:lnSpc>
                        <a:defRPr/>
                      </a:pPr>
                      <a:r>
                        <a:rPr lang="en-US" b="true" sz="3170">
                          <a:solidFill>
                            <a:srgbClr val="FF0010"/>
                          </a:solidFill>
                          <a:latin typeface="Anantason Bold"/>
                          <a:ea typeface="Anantason Bold"/>
                          <a:cs typeface="Anantason Bold"/>
                          <a:sym typeface="Anantason Bold"/>
                        </a:rPr>
                        <a:t>COMMAND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38"/>
                        </a:lnSpc>
                        <a:defRPr/>
                      </a:pPr>
                      <a:r>
                        <a:rPr lang="en-US" sz="3170" b="true">
                          <a:solidFill>
                            <a:srgbClr val="FFFFFF"/>
                          </a:solidFill>
                          <a:latin typeface="Anantason Bold"/>
                          <a:ea typeface="Anantason Bold"/>
                          <a:cs typeface="Anantason Bold"/>
                          <a:sym typeface="Anantason Bold"/>
                        </a:rPr>
                        <a:t>MEANING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612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38"/>
                        </a:lnSpc>
                        <a:defRPr/>
                      </a:pPr>
                      <a:r>
                        <a:rPr lang="en-US" b="true" sz="3170">
                          <a:solidFill>
                            <a:srgbClr val="FF0010"/>
                          </a:solidFill>
                          <a:latin typeface="Anantason Bold"/>
                          <a:ea typeface="Anantason Bold"/>
                          <a:cs typeface="Anantason Bold"/>
                          <a:sym typeface="Anantason Bold"/>
                        </a:rPr>
                        <a:t>pwd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38"/>
                        </a:lnSpc>
                        <a:defRPr/>
                      </a:pPr>
                      <a:r>
                        <a:rPr lang="en-US" sz="3170" b="true">
                          <a:solidFill>
                            <a:srgbClr val="FFFFFF"/>
                          </a:solidFill>
                          <a:latin typeface="Anantason Bold"/>
                          <a:ea typeface="Anantason Bold"/>
                          <a:cs typeface="Anantason Bold"/>
                          <a:sym typeface="Anantason Bold"/>
                        </a:rPr>
                        <a:t>Where am I?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632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38"/>
                        </a:lnSpc>
                        <a:defRPr/>
                      </a:pPr>
                      <a:r>
                        <a:rPr lang="en-US" b="true" sz="3170">
                          <a:solidFill>
                            <a:srgbClr val="FF0010"/>
                          </a:solidFill>
                          <a:latin typeface="Anantason Bold"/>
                          <a:ea typeface="Anantason Bold"/>
                          <a:cs typeface="Anantason Bold"/>
                          <a:sym typeface="Anantason Bold"/>
                        </a:rPr>
                        <a:t>ls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38"/>
                        </a:lnSpc>
                        <a:defRPr/>
                      </a:pPr>
                      <a:r>
                        <a:rPr lang="en-US" sz="3170" b="true">
                          <a:solidFill>
                            <a:srgbClr val="FFFFFF"/>
                          </a:solidFill>
                          <a:latin typeface="Anantason Bold"/>
                          <a:ea typeface="Anantason Bold"/>
                          <a:cs typeface="Anantason Bold"/>
                          <a:sym typeface="Anantason Bold"/>
                        </a:rPr>
                        <a:t>What is in this folder?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612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38"/>
                        </a:lnSpc>
                        <a:defRPr/>
                      </a:pPr>
                      <a:r>
                        <a:rPr lang="en-US" b="true" sz="3170">
                          <a:solidFill>
                            <a:srgbClr val="FF0010"/>
                          </a:solidFill>
                          <a:latin typeface="Anantason Bold"/>
                          <a:ea typeface="Anantason Bold"/>
                          <a:cs typeface="Anantason Bold"/>
                          <a:sym typeface="Anantason Bold"/>
                        </a:rPr>
                        <a:t>cd folder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38"/>
                        </a:lnSpc>
                        <a:defRPr/>
                      </a:pPr>
                      <a:r>
                        <a:rPr lang="en-US" sz="3170" b="true">
                          <a:solidFill>
                            <a:srgbClr val="FFFFFF"/>
                          </a:solidFill>
                          <a:latin typeface="Anantason Bold"/>
                          <a:ea typeface="Anantason Bold"/>
                          <a:cs typeface="Anantason Bold"/>
                          <a:sym typeface="Anantason Bold"/>
                        </a:rPr>
                        <a:t>Enter a folder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612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38"/>
                        </a:lnSpc>
                        <a:defRPr/>
                      </a:pPr>
                      <a:r>
                        <a:rPr lang="en-US" b="true" sz="3170">
                          <a:solidFill>
                            <a:srgbClr val="FF0010"/>
                          </a:solidFill>
                          <a:latin typeface="Anantason Bold"/>
                          <a:ea typeface="Anantason Bold"/>
                          <a:cs typeface="Anantason Bold"/>
                          <a:sym typeface="Anantason Bold"/>
                        </a:rPr>
                        <a:t>cd ..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38"/>
                        </a:lnSpc>
                        <a:defRPr/>
                      </a:pPr>
                      <a:r>
                        <a:rPr lang="en-US" sz="3170" b="true">
                          <a:solidFill>
                            <a:srgbClr val="FFFFFF"/>
                          </a:solidFill>
                          <a:latin typeface="Anantason Bold"/>
                          <a:ea typeface="Anantason Bold"/>
                          <a:cs typeface="Anantason Bold"/>
                          <a:sym typeface="Anantason Bold"/>
                        </a:rPr>
                        <a:t>Go up one folder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7" id="17"/>
          <p:cNvSpPr txBox="true"/>
          <p:nvPr/>
        </p:nvSpPr>
        <p:spPr>
          <a:xfrm rot="0">
            <a:off x="785226" y="1790532"/>
            <a:ext cx="5970507" cy="4501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96"/>
              </a:lnSpc>
            </a:pPr>
            <a:r>
              <a:rPr lang="en-US" sz="9112" b="true">
                <a:solidFill>
                  <a:srgbClr val="FFFFFF"/>
                </a:solidFill>
                <a:latin typeface="Pattanakarn Expanded Medium"/>
                <a:ea typeface="Pattanakarn Expanded Medium"/>
                <a:cs typeface="Pattanakarn Expanded Medium"/>
                <a:sym typeface="Pattanakarn Expanded Medium"/>
              </a:rPr>
              <a:t>Finding your way around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953069" y="-624605"/>
            <a:ext cx="1692128" cy="2609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71"/>
              </a:lnSpc>
            </a:pPr>
            <a:r>
              <a:rPr lang="en-US" sz="12452">
                <a:solidFill>
                  <a:srgbClr val="FF0010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12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28700" y="344207"/>
            <a:ext cx="5483560" cy="693251"/>
            <a:chOff x="0" y="0"/>
            <a:chExt cx="7311413" cy="924334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0" y="411367"/>
              <a:ext cx="6462648" cy="512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226"/>
                </a:lnSpc>
              </a:pPr>
              <a:r>
                <a:rPr lang="en-US" sz="1970">
                  <a:solidFill>
                    <a:srgbClr val="FFFFFF"/>
                  </a:solidFill>
                  <a:latin typeface="Pattanakarn Expanded"/>
                  <a:ea typeface="Pattanakarn Expanded"/>
                  <a:cs typeface="Pattanakarn Expanded"/>
                  <a:sym typeface="Pattanakarn Expanded"/>
                </a:rPr>
                <a:t>DECODE .  DEFEND . DOMINATE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-114300"/>
              <a:ext cx="7311413" cy="5059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226"/>
                </a:lnSpc>
              </a:pPr>
              <a:r>
                <a:rPr lang="en-US" sz="1970">
                  <a:solidFill>
                    <a:srgbClr val="FF0010"/>
                  </a:solidFill>
                  <a:latin typeface="Pattanakarn Expanded"/>
                  <a:ea typeface="Pattanakarn Expanded"/>
                  <a:cs typeface="Pattanakarn Expanded"/>
                  <a:sym typeface="Pattanakarn Expanded"/>
                </a:rPr>
                <a:t>PROTOCOL CYBERSECURITY CLUB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386348" y="7320699"/>
            <a:ext cx="6188410" cy="1289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8"/>
              </a:lnSpc>
              <a:spcBef>
                <a:spcPct val="0"/>
              </a:spcBef>
            </a:pPr>
            <a:r>
              <a:rPr lang="en-US" sz="2600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THE TERMINAL VERSION OF CHECKING YOUR LOCATION AND OPENING DOORS.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12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14775" y="1159261"/>
            <a:ext cx="7244525" cy="5040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189"/>
              </a:lnSpc>
            </a:pPr>
            <a:r>
              <a:rPr lang="en-US" sz="14326" b="true">
                <a:solidFill>
                  <a:srgbClr val="FFFFFF"/>
                </a:solidFill>
                <a:latin typeface="Pattanakarn Expanded Medium"/>
                <a:ea typeface="Pattanakarn Expanded Medium"/>
                <a:cs typeface="Pattanakarn Expanded Medium"/>
                <a:sym typeface="Pattanakarn Expanded Medium"/>
              </a:rPr>
              <a:t>Hidden files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2504990" y="-1767157"/>
            <a:ext cx="3086100" cy="30861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12889" y="0"/>
                  </a:moveTo>
                  <a:lnTo>
                    <a:pt x="699911" y="0"/>
                  </a:lnTo>
                  <a:cubicBezTo>
                    <a:pt x="762258" y="0"/>
                    <a:pt x="812800" y="50542"/>
                    <a:pt x="812800" y="112889"/>
                  </a:cubicBezTo>
                  <a:lnTo>
                    <a:pt x="812800" y="699911"/>
                  </a:lnTo>
                  <a:cubicBezTo>
                    <a:pt x="812800" y="762258"/>
                    <a:pt x="762258" y="812800"/>
                    <a:pt x="699911" y="812800"/>
                  </a:cubicBezTo>
                  <a:lnTo>
                    <a:pt x="112889" y="812800"/>
                  </a:lnTo>
                  <a:cubicBezTo>
                    <a:pt x="50542" y="812800"/>
                    <a:pt x="0" y="762258"/>
                    <a:pt x="0" y="699911"/>
                  </a:cubicBezTo>
                  <a:lnTo>
                    <a:pt x="0" y="112889"/>
                  </a:lnTo>
                  <a:cubicBezTo>
                    <a:pt x="0" y="50542"/>
                    <a:pt x="50542" y="0"/>
                    <a:pt x="112889" y="0"/>
                  </a:cubicBezTo>
                  <a:close/>
                </a:path>
              </a:pathLst>
            </a:custGeom>
            <a:solidFill>
              <a:srgbClr val="FF001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52400"/>
              <a:ext cx="812800" cy="965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5795607" y="-876300"/>
            <a:ext cx="2035632" cy="3223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423"/>
              </a:lnSpc>
            </a:pPr>
            <a:r>
              <a:rPr lang="en-US" sz="15418">
                <a:solidFill>
                  <a:srgbClr val="FF0010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13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8700" y="344207"/>
            <a:ext cx="5483560" cy="693251"/>
            <a:chOff x="0" y="0"/>
            <a:chExt cx="7311413" cy="924334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411367"/>
              <a:ext cx="6462648" cy="512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226"/>
                </a:lnSpc>
              </a:pPr>
              <a:r>
                <a:rPr lang="en-US" sz="1970">
                  <a:solidFill>
                    <a:srgbClr val="FFFFFF"/>
                  </a:solidFill>
                  <a:latin typeface="Pattanakarn Expanded"/>
                  <a:ea typeface="Pattanakarn Expanded"/>
                  <a:cs typeface="Pattanakarn Expanded"/>
                  <a:sym typeface="Pattanakarn Expanded"/>
                </a:rPr>
                <a:t>DECODE .  DEFEND . DOMINATE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-114300"/>
              <a:ext cx="7311413" cy="5059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226"/>
                </a:lnSpc>
              </a:pPr>
              <a:r>
                <a:rPr lang="en-US" sz="1970">
                  <a:solidFill>
                    <a:srgbClr val="FF0010"/>
                  </a:solidFill>
                  <a:latin typeface="Pattanakarn Expanded"/>
                  <a:ea typeface="Pattanakarn Expanded"/>
                  <a:cs typeface="Pattanakarn Expanded"/>
                  <a:sym typeface="Pattanakarn Expanded"/>
                </a:rPr>
                <a:t>PROTOCOL CYBERSECURITY CLUB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28700" y="1986389"/>
            <a:ext cx="8084553" cy="1074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11"/>
              </a:lnSpc>
            </a:pPr>
            <a:r>
              <a:rPr lang="en-US" sz="3079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L</a:t>
            </a:r>
            <a:r>
              <a:rPr lang="en-US" sz="3079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inux filenames</a:t>
            </a:r>
            <a:r>
              <a:rPr lang="en-US" sz="3079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 beginning with a dot are hidden from a normal</a:t>
            </a:r>
            <a:r>
              <a:rPr lang="en-US" sz="3079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 ls listing.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95289" y="3400366"/>
            <a:ext cx="8313215" cy="1735200"/>
            <a:chOff x="0" y="0"/>
            <a:chExt cx="11084286" cy="231360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4864904" cy="2313600"/>
              <a:chOff x="0" y="0"/>
              <a:chExt cx="960969" cy="457007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960969" cy="457007"/>
              </a:xfrm>
              <a:custGeom>
                <a:avLst/>
                <a:gdLst/>
                <a:ahLst/>
                <a:cxnLst/>
                <a:rect r="r" b="b" t="t" l="l"/>
                <a:pathLst>
                  <a:path h="457007" w="960969">
                    <a:moveTo>
                      <a:pt x="95483" y="0"/>
                    </a:moveTo>
                    <a:lnTo>
                      <a:pt x="865486" y="0"/>
                    </a:lnTo>
                    <a:cubicBezTo>
                      <a:pt x="918220" y="0"/>
                      <a:pt x="960969" y="42749"/>
                      <a:pt x="960969" y="95483"/>
                    </a:cubicBezTo>
                    <a:lnTo>
                      <a:pt x="960969" y="361524"/>
                    </a:lnTo>
                    <a:cubicBezTo>
                      <a:pt x="960969" y="414258"/>
                      <a:pt x="918220" y="457007"/>
                      <a:pt x="865486" y="457007"/>
                    </a:cubicBezTo>
                    <a:lnTo>
                      <a:pt x="95483" y="457007"/>
                    </a:lnTo>
                    <a:cubicBezTo>
                      <a:pt x="42749" y="457007"/>
                      <a:pt x="0" y="414258"/>
                      <a:pt x="0" y="361524"/>
                    </a:cubicBezTo>
                    <a:lnTo>
                      <a:pt x="0" y="95483"/>
                    </a:lnTo>
                    <a:cubicBezTo>
                      <a:pt x="0" y="42749"/>
                      <a:pt x="42749" y="0"/>
                      <a:pt x="95483" y="0"/>
                    </a:cubicBezTo>
                    <a:close/>
                  </a:path>
                </a:pathLst>
              </a:custGeom>
              <a:solidFill>
                <a:srgbClr val="8E8E8E">
                  <a:alpha val="48627"/>
                </a:srgbClr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152400"/>
                <a:ext cx="960969" cy="6094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38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304882" y="188990"/>
              <a:ext cx="10779405" cy="6109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751"/>
                </a:lnSpc>
              </a:pPr>
              <a:r>
                <a:rPr lang="en-US" sz="2679">
                  <a:solidFill>
                    <a:srgbClr val="FFFFFF"/>
                  </a:solidFill>
                  <a:latin typeface="Questrial"/>
                  <a:ea typeface="Questrial"/>
                  <a:cs typeface="Questrial"/>
                  <a:sym typeface="Questrial"/>
                </a:rPr>
                <a:t>E</a:t>
              </a:r>
              <a:r>
                <a:rPr lang="en-US" sz="2679">
                  <a:solidFill>
                    <a:srgbClr val="FFFFFF"/>
                  </a:solidFill>
                  <a:latin typeface="Questrial"/>
                  <a:ea typeface="Questrial"/>
                  <a:cs typeface="Questrial"/>
                  <a:sym typeface="Questrial"/>
                </a:rPr>
                <a:t>xample:</a:t>
              </a:r>
              <a:r>
                <a:rPr lang="en-US" sz="2679">
                  <a:solidFill>
                    <a:srgbClr val="FFFFFF"/>
                  </a:solidFill>
                  <a:latin typeface="Questrial"/>
                  <a:ea typeface="Questrial"/>
                  <a:cs typeface="Questrial"/>
                  <a:sym typeface="Questrial"/>
                </a:rPr>
                <a:t> 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490234" y="733248"/>
              <a:ext cx="2623896" cy="12459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751"/>
                </a:lnSpc>
              </a:pPr>
            </a:p>
            <a:p>
              <a:pPr algn="just">
                <a:lnSpc>
                  <a:spcPts val="3751"/>
                </a:lnSpc>
              </a:pPr>
              <a:r>
                <a:rPr lang="en-US" sz="2679">
                  <a:solidFill>
                    <a:srgbClr val="FFFFFF"/>
                  </a:solidFill>
                  <a:latin typeface="Questrial"/>
                  <a:ea typeface="Questrial"/>
                  <a:cs typeface="Questrial"/>
                  <a:sym typeface="Questrial"/>
                </a:rPr>
                <a:t>ls</a:t>
              </a:r>
              <a:r>
                <a:rPr lang="en-US" sz="2679">
                  <a:solidFill>
                    <a:srgbClr val="FFFFFF"/>
                  </a:solidFill>
                  <a:latin typeface="Questrial"/>
                  <a:ea typeface="Questrial"/>
                  <a:cs typeface="Questrial"/>
                  <a:sym typeface="Questrial"/>
                </a:rPr>
                <a:t> -a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28700" y="5345116"/>
            <a:ext cx="8084553" cy="531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11"/>
              </a:lnSpc>
            </a:pPr>
            <a:r>
              <a:rPr lang="en-US" sz="3079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Shows all</a:t>
            </a:r>
            <a:r>
              <a:rPr lang="en-US" sz="3079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 files,</a:t>
            </a:r>
            <a:r>
              <a:rPr lang="en-US" sz="3079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 including hidden one</a:t>
            </a:r>
            <a:r>
              <a:rPr lang="en-US" sz="3079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14369" y="6188553"/>
            <a:ext cx="8313215" cy="1735200"/>
            <a:chOff x="0" y="0"/>
            <a:chExt cx="11084286" cy="2313600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4864904" cy="2313600"/>
              <a:chOff x="0" y="0"/>
              <a:chExt cx="960969" cy="457007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960969" cy="457007"/>
              </a:xfrm>
              <a:custGeom>
                <a:avLst/>
                <a:gdLst/>
                <a:ahLst/>
                <a:cxnLst/>
                <a:rect r="r" b="b" t="t" l="l"/>
                <a:pathLst>
                  <a:path h="457007" w="960969">
                    <a:moveTo>
                      <a:pt x="95483" y="0"/>
                    </a:moveTo>
                    <a:lnTo>
                      <a:pt x="865486" y="0"/>
                    </a:lnTo>
                    <a:cubicBezTo>
                      <a:pt x="918220" y="0"/>
                      <a:pt x="960969" y="42749"/>
                      <a:pt x="960969" y="95483"/>
                    </a:cubicBezTo>
                    <a:lnTo>
                      <a:pt x="960969" y="361524"/>
                    </a:lnTo>
                    <a:cubicBezTo>
                      <a:pt x="960969" y="414258"/>
                      <a:pt x="918220" y="457007"/>
                      <a:pt x="865486" y="457007"/>
                    </a:cubicBezTo>
                    <a:lnTo>
                      <a:pt x="95483" y="457007"/>
                    </a:lnTo>
                    <a:cubicBezTo>
                      <a:pt x="42749" y="457007"/>
                      <a:pt x="0" y="414258"/>
                      <a:pt x="0" y="361524"/>
                    </a:cubicBezTo>
                    <a:lnTo>
                      <a:pt x="0" y="95483"/>
                    </a:lnTo>
                    <a:cubicBezTo>
                      <a:pt x="0" y="42749"/>
                      <a:pt x="42749" y="0"/>
                      <a:pt x="95483" y="0"/>
                    </a:cubicBezTo>
                    <a:close/>
                  </a:path>
                </a:pathLst>
              </a:custGeom>
              <a:solidFill>
                <a:srgbClr val="8E8E8E">
                  <a:alpha val="48627"/>
                </a:srgbClr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152400"/>
                <a:ext cx="960969" cy="6094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38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304882" y="188990"/>
              <a:ext cx="10779405" cy="6109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751"/>
                </a:lnSpc>
              </a:pPr>
              <a:r>
                <a:rPr lang="en-US" sz="2679">
                  <a:solidFill>
                    <a:srgbClr val="FFFFFF"/>
                  </a:solidFill>
                  <a:latin typeface="Questrial"/>
                  <a:ea typeface="Questrial"/>
                  <a:cs typeface="Questrial"/>
                  <a:sym typeface="Questrial"/>
                </a:rPr>
                <a:t>E</a:t>
              </a:r>
              <a:r>
                <a:rPr lang="en-US" sz="2679">
                  <a:solidFill>
                    <a:srgbClr val="FFFFFF"/>
                  </a:solidFill>
                  <a:latin typeface="Questrial"/>
                  <a:ea typeface="Questrial"/>
                  <a:cs typeface="Questrial"/>
                  <a:sym typeface="Questrial"/>
                </a:rPr>
                <a:t>xample:</a:t>
              </a:r>
              <a:r>
                <a:rPr lang="en-US" sz="2679">
                  <a:solidFill>
                    <a:srgbClr val="FFFFFF"/>
                  </a:solidFill>
                  <a:latin typeface="Questrial"/>
                  <a:ea typeface="Questrial"/>
                  <a:cs typeface="Questrial"/>
                  <a:sym typeface="Questrial"/>
                </a:rPr>
                <a:t> 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337793" y="1090125"/>
              <a:ext cx="2623896" cy="6109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751"/>
                </a:lnSpc>
              </a:pPr>
              <a:r>
                <a:rPr lang="en-US" sz="2679">
                  <a:solidFill>
                    <a:srgbClr val="FFFFFF"/>
                  </a:solidFill>
                  <a:latin typeface="Questrial"/>
                  <a:ea typeface="Questrial"/>
                  <a:cs typeface="Questrial"/>
                  <a:sym typeface="Questrial"/>
                </a:rPr>
                <a:t>ls</a:t>
              </a:r>
              <a:r>
                <a:rPr lang="en-US" sz="2679">
                  <a:solidFill>
                    <a:srgbClr val="FFFFFF"/>
                  </a:solidFill>
                  <a:latin typeface="Questrial"/>
                  <a:ea typeface="Questrial"/>
                  <a:cs typeface="Questrial"/>
                  <a:sym typeface="Questrial"/>
                </a:rPr>
                <a:t> -la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990600" y="8403425"/>
            <a:ext cx="8084553" cy="1074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11"/>
              </a:lnSpc>
            </a:pPr>
            <a:r>
              <a:rPr lang="en-US" sz="3079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Adds deta</a:t>
            </a:r>
            <a:r>
              <a:rPr lang="en-US" sz="3079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ils</a:t>
            </a:r>
            <a:r>
              <a:rPr lang="en-US" sz="3079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 such as permissions, owner, and </a:t>
            </a:r>
            <a:r>
              <a:rPr lang="en-US" sz="3079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size.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144000" y="6941853"/>
            <a:ext cx="8320948" cy="1767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27"/>
              </a:lnSpc>
              <a:spcBef>
                <a:spcPct val="0"/>
              </a:spcBef>
            </a:pPr>
            <a:r>
              <a:rPr lang="en-US" sz="3563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HIDDEN MEANS </a:t>
            </a:r>
            <a:r>
              <a:rPr lang="en-US" sz="3563">
                <a:solidFill>
                  <a:srgbClr val="FF0010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LESS VISIBLE</a:t>
            </a:r>
            <a:r>
              <a:rPr lang="en-US" sz="3563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. IT DOES NOT MEAN </a:t>
            </a:r>
            <a:r>
              <a:rPr lang="en-US" sz="3563">
                <a:solidFill>
                  <a:srgbClr val="F82822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ENCRYPTED.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0403687" y="-2489722"/>
            <a:ext cx="4505514" cy="2986329"/>
            <a:chOff x="0" y="0"/>
            <a:chExt cx="1186637" cy="78652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86637" cy="786523"/>
            </a:xfrm>
            <a:custGeom>
              <a:avLst/>
              <a:gdLst/>
              <a:ahLst/>
              <a:cxnLst/>
              <a:rect r="r" b="b" t="t" l="l"/>
              <a:pathLst>
                <a:path h="786523" w="1186637">
                  <a:moveTo>
                    <a:pt x="77324" y="0"/>
                  </a:moveTo>
                  <a:lnTo>
                    <a:pt x="1109313" y="0"/>
                  </a:lnTo>
                  <a:cubicBezTo>
                    <a:pt x="1129821" y="0"/>
                    <a:pt x="1149488" y="8147"/>
                    <a:pt x="1163990" y="22648"/>
                  </a:cubicBezTo>
                  <a:cubicBezTo>
                    <a:pt x="1178491" y="37149"/>
                    <a:pt x="1186637" y="56817"/>
                    <a:pt x="1186637" y="77324"/>
                  </a:cubicBezTo>
                  <a:lnTo>
                    <a:pt x="1186637" y="709198"/>
                  </a:lnTo>
                  <a:cubicBezTo>
                    <a:pt x="1186637" y="729706"/>
                    <a:pt x="1178491" y="749374"/>
                    <a:pt x="1163990" y="763875"/>
                  </a:cubicBezTo>
                  <a:cubicBezTo>
                    <a:pt x="1149488" y="778376"/>
                    <a:pt x="1129821" y="786523"/>
                    <a:pt x="1109313" y="786523"/>
                  </a:cubicBezTo>
                  <a:lnTo>
                    <a:pt x="77324" y="786523"/>
                  </a:lnTo>
                  <a:cubicBezTo>
                    <a:pt x="56817" y="786523"/>
                    <a:pt x="37149" y="778376"/>
                    <a:pt x="22648" y="763875"/>
                  </a:cubicBezTo>
                  <a:cubicBezTo>
                    <a:pt x="8147" y="749374"/>
                    <a:pt x="0" y="729706"/>
                    <a:pt x="0" y="709198"/>
                  </a:cubicBezTo>
                  <a:lnTo>
                    <a:pt x="0" y="77324"/>
                  </a:lnTo>
                  <a:cubicBezTo>
                    <a:pt x="0" y="56817"/>
                    <a:pt x="8147" y="37149"/>
                    <a:pt x="22648" y="22648"/>
                  </a:cubicBezTo>
                  <a:cubicBezTo>
                    <a:pt x="37149" y="8147"/>
                    <a:pt x="56817" y="0"/>
                    <a:pt x="77324" y="0"/>
                  </a:cubicBezTo>
                  <a:close/>
                </a:path>
              </a:pathLst>
            </a:custGeom>
            <a:solidFill>
              <a:srgbClr val="FF0010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52400"/>
              <a:ext cx="1186637" cy="938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3427911" y="9668233"/>
            <a:ext cx="4403327" cy="2986329"/>
            <a:chOff x="0" y="0"/>
            <a:chExt cx="1159724" cy="78652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59724" cy="786523"/>
            </a:xfrm>
            <a:custGeom>
              <a:avLst/>
              <a:gdLst/>
              <a:ahLst/>
              <a:cxnLst/>
              <a:rect r="r" b="b" t="t" l="l"/>
              <a:pathLst>
                <a:path h="786523" w="1159724">
                  <a:moveTo>
                    <a:pt x="79119" y="0"/>
                  </a:moveTo>
                  <a:lnTo>
                    <a:pt x="1080605" y="0"/>
                  </a:lnTo>
                  <a:cubicBezTo>
                    <a:pt x="1124301" y="0"/>
                    <a:pt x="1159724" y="35423"/>
                    <a:pt x="1159724" y="79119"/>
                  </a:cubicBezTo>
                  <a:lnTo>
                    <a:pt x="1159724" y="707404"/>
                  </a:lnTo>
                  <a:cubicBezTo>
                    <a:pt x="1159724" y="728388"/>
                    <a:pt x="1151388" y="748512"/>
                    <a:pt x="1136551" y="763349"/>
                  </a:cubicBezTo>
                  <a:cubicBezTo>
                    <a:pt x="1121713" y="778187"/>
                    <a:pt x="1101589" y="786523"/>
                    <a:pt x="1080605" y="786523"/>
                  </a:cubicBezTo>
                  <a:lnTo>
                    <a:pt x="79119" y="786523"/>
                  </a:lnTo>
                  <a:cubicBezTo>
                    <a:pt x="35423" y="786523"/>
                    <a:pt x="0" y="751100"/>
                    <a:pt x="0" y="707404"/>
                  </a:cubicBezTo>
                  <a:lnTo>
                    <a:pt x="0" y="79119"/>
                  </a:lnTo>
                  <a:cubicBezTo>
                    <a:pt x="0" y="58135"/>
                    <a:pt x="8336" y="38011"/>
                    <a:pt x="23173" y="23173"/>
                  </a:cubicBezTo>
                  <a:cubicBezTo>
                    <a:pt x="38011" y="8336"/>
                    <a:pt x="58135" y="0"/>
                    <a:pt x="79119" y="0"/>
                  </a:cubicBezTo>
                  <a:close/>
                </a:path>
              </a:pathLst>
            </a:custGeom>
            <a:solidFill>
              <a:srgbClr val="FF0010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52400"/>
              <a:ext cx="1159724" cy="938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12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11019980" y="715940"/>
            <a:ext cx="14536040" cy="7246813"/>
            <a:chOff x="0" y="0"/>
            <a:chExt cx="3828422" cy="19086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28422" cy="1908626"/>
            </a:xfrm>
            <a:custGeom>
              <a:avLst/>
              <a:gdLst/>
              <a:ahLst/>
              <a:cxnLst/>
              <a:rect r="r" b="b" t="t" l="l"/>
              <a:pathLst>
                <a:path h="1908626" w="3828422">
                  <a:moveTo>
                    <a:pt x="23967" y="0"/>
                  </a:moveTo>
                  <a:lnTo>
                    <a:pt x="3804455" y="0"/>
                  </a:lnTo>
                  <a:cubicBezTo>
                    <a:pt x="3810812" y="0"/>
                    <a:pt x="3816908" y="2525"/>
                    <a:pt x="3821402" y="7020"/>
                  </a:cubicBezTo>
                  <a:cubicBezTo>
                    <a:pt x="3825897" y="11514"/>
                    <a:pt x="3828422" y="17611"/>
                    <a:pt x="3828422" y="23967"/>
                  </a:cubicBezTo>
                  <a:lnTo>
                    <a:pt x="3828422" y="1884658"/>
                  </a:lnTo>
                  <a:cubicBezTo>
                    <a:pt x="3828422" y="1891015"/>
                    <a:pt x="3825897" y="1897111"/>
                    <a:pt x="3821402" y="1901606"/>
                  </a:cubicBezTo>
                  <a:cubicBezTo>
                    <a:pt x="3816908" y="1906101"/>
                    <a:pt x="3810812" y="1908626"/>
                    <a:pt x="3804455" y="1908626"/>
                  </a:cubicBezTo>
                  <a:lnTo>
                    <a:pt x="23967" y="1908626"/>
                  </a:lnTo>
                  <a:cubicBezTo>
                    <a:pt x="17611" y="1908626"/>
                    <a:pt x="11514" y="1906101"/>
                    <a:pt x="7020" y="1901606"/>
                  </a:cubicBezTo>
                  <a:cubicBezTo>
                    <a:pt x="2525" y="1897111"/>
                    <a:pt x="0" y="1891015"/>
                    <a:pt x="0" y="1884658"/>
                  </a:cubicBezTo>
                  <a:lnTo>
                    <a:pt x="0" y="23967"/>
                  </a:lnTo>
                  <a:cubicBezTo>
                    <a:pt x="0" y="17611"/>
                    <a:pt x="2525" y="11514"/>
                    <a:pt x="7020" y="7020"/>
                  </a:cubicBezTo>
                  <a:cubicBezTo>
                    <a:pt x="11514" y="2525"/>
                    <a:pt x="17611" y="0"/>
                    <a:pt x="23967" y="0"/>
                  </a:cubicBezTo>
                  <a:close/>
                </a:path>
              </a:pathLst>
            </a:custGeom>
            <a:solidFill>
              <a:srgbClr val="FF001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52400"/>
              <a:ext cx="3828422" cy="20610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504990" y="-1767157"/>
            <a:ext cx="3086100" cy="30861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12889" y="0"/>
                  </a:moveTo>
                  <a:lnTo>
                    <a:pt x="699911" y="0"/>
                  </a:lnTo>
                  <a:cubicBezTo>
                    <a:pt x="762258" y="0"/>
                    <a:pt x="812800" y="50542"/>
                    <a:pt x="812800" y="112889"/>
                  </a:cubicBezTo>
                  <a:lnTo>
                    <a:pt x="812800" y="699911"/>
                  </a:lnTo>
                  <a:cubicBezTo>
                    <a:pt x="812800" y="762258"/>
                    <a:pt x="762258" y="812800"/>
                    <a:pt x="699911" y="812800"/>
                  </a:cubicBezTo>
                  <a:lnTo>
                    <a:pt x="112889" y="812800"/>
                  </a:lnTo>
                  <a:cubicBezTo>
                    <a:pt x="50542" y="812800"/>
                    <a:pt x="0" y="762258"/>
                    <a:pt x="0" y="699911"/>
                  </a:cubicBezTo>
                  <a:lnTo>
                    <a:pt x="0" y="112889"/>
                  </a:lnTo>
                  <a:cubicBezTo>
                    <a:pt x="0" y="50542"/>
                    <a:pt x="50542" y="0"/>
                    <a:pt x="112889" y="0"/>
                  </a:cubicBezTo>
                  <a:close/>
                </a:path>
              </a:pathLst>
            </a:custGeom>
            <a:solidFill>
              <a:srgbClr val="FF001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52400"/>
              <a:ext cx="812800" cy="965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5024302" y="-730793"/>
            <a:ext cx="2519464" cy="3223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423"/>
              </a:lnSpc>
            </a:pPr>
            <a:r>
              <a:rPr lang="en-US" sz="15418">
                <a:solidFill>
                  <a:srgbClr val="000000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14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884469" y="166957"/>
            <a:ext cx="6855887" cy="5902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459"/>
              </a:lnSpc>
            </a:pPr>
            <a:r>
              <a:rPr lang="en-US" sz="9256" b="true">
                <a:solidFill>
                  <a:srgbClr val="FFFFFF"/>
                </a:solidFill>
                <a:latin typeface="Pattanakarn Expanded Medium"/>
                <a:ea typeface="Pattanakarn Expanded Medium"/>
                <a:cs typeface="Pattanakarn Expanded Medium"/>
                <a:sym typeface="Pattanakarn Expanded Medium"/>
              </a:rPr>
              <a:t>Creating, copying, and moving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28700" y="344207"/>
            <a:ext cx="5483560" cy="693251"/>
            <a:chOff x="0" y="0"/>
            <a:chExt cx="7311413" cy="924334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411367"/>
              <a:ext cx="6462648" cy="512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226"/>
                </a:lnSpc>
              </a:pPr>
              <a:r>
                <a:rPr lang="en-US" sz="1970">
                  <a:solidFill>
                    <a:srgbClr val="FFFFFF"/>
                  </a:solidFill>
                  <a:latin typeface="Pattanakarn Expanded"/>
                  <a:ea typeface="Pattanakarn Expanded"/>
                  <a:cs typeface="Pattanakarn Expanded"/>
                  <a:sym typeface="Pattanakarn Expanded"/>
                </a:rPr>
                <a:t>DECODE .  DEFEND . DOMINATE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-114300"/>
              <a:ext cx="7311413" cy="5059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226"/>
                </a:lnSpc>
              </a:pPr>
              <a:r>
                <a:rPr lang="en-US" sz="1970">
                  <a:solidFill>
                    <a:srgbClr val="FF0010"/>
                  </a:solidFill>
                  <a:latin typeface="Pattanakarn Expanded"/>
                  <a:ea typeface="Pattanakarn Expanded"/>
                  <a:cs typeface="Pattanakarn Expanded"/>
                  <a:sym typeface="Pattanakarn Expanded"/>
                </a:rPr>
                <a:t>PROTOCOL CYBERSECURITY CLUB</a:t>
              </a:r>
            </a:p>
          </p:txBody>
        </p:sp>
      </p:grpSp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581110" y="1656979"/>
          <a:ext cx="7855684" cy="8248650"/>
        </p:xfrm>
        <a:graphic>
          <a:graphicData uri="http://schemas.openxmlformats.org/drawingml/2006/table">
            <a:tbl>
              <a:tblPr/>
              <a:tblGrid>
                <a:gridCol w="3927842"/>
                <a:gridCol w="3927842"/>
              </a:tblGrid>
              <a:tr h="131098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38"/>
                        </a:lnSpc>
                        <a:defRPr/>
                      </a:pPr>
                      <a:r>
                        <a:rPr lang="en-US" b="true" sz="3170">
                          <a:solidFill>
                            <a:srgbClr val="FF0010"/>
                          </a:solidFill>
                          <a:latin typeface="Anantason Bold"/>
                          <a:ea typeface="Anantason Bold"/>
                          <a:cs typeface="Anantason Bold"/>
                          <a:sym typeface="Anantason Bold"/>
                        </a:rPr>
                        <a:t>COMMAND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38"/>
                        </a:lnSpc>
                        <a:defRPr/>
                      </a:pPr>
                      <a:r>
                        <a:rPr lang="en-US" sz="3170" b="true">
                          <a:solidFill>
                            <a:srgbClr val="FFFFFF"/>
                          </a:solidFill>
                          <a:latin typeface="Anantason Bold"/>
                          <a:ea typeface="Anantason Bold"/>
                          <a:cs typeface="Anantason Bold"/>
                          <a:sym typeface="Anantason Bold"/>
                        </a:rPr>
                        <a:t>MEANING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7556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38"/>
                        </a:lnSpc>
                        <a:defRPr/>
                      </a:pPr>
                      <a:r>
                        <a:rPr lang="en-US" b="true" sz="3170">
                          <a:solidFill>
                            <a:srgbClr val="FF0010"/>
                          </a:solidFill>
                          <a:latin typeface="Anantason Bold"/>
                          <a:ea typeface="Anantason Bold"/>
                          <a:cs typeface="Anantason Bold"/>
                          <a:sym typeface="Anantason Bold"/>
                        </a:rPr>
                        <a:t>mkdir test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38"/>
                        </a:lnSpc>
                        <a:defRPr/>
                      </a:pPr>
                      <a:r>
                        <a:rPr lang="en-US" sz="3170" b="true">
                          <a:solidFill>
                            <a:srgbClr val="FFFFFF"/>
                          </a:solidFill>
                          <a:latin typeface="Anantason Bold"/>
                          <a:ea typeface="Anantason Bold"/>
                          <a:cs typeface="Anantason Bold"/>
                          <a:sym typeface="Anantason Bold"/>
                        </a:rPr>
                        <a:t>Creates a folder called test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7556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38"/>
                        </a:lnSpc>
                        <a:defRPr/>
                      </a:pPr>
                      <a:r>
                        <a:rPr lang="en-US" b="true" sz="3170">
                          <a:solidFill>
                            <a:srgbClr val="FF0010"/>
                          </a:solidFill>
                          <a:latin typeface="Anantason Bold"/>
                          <a:ea typeface="Anantason Bold"/>
                          <a:cs typeface="Anantason Bold"/>
                          <a:sym typeface="Anantason Bold"/>
                        </a:rPr>
                        <a:t>cp a.txt b.txt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38"/>
                        </a:lnSpc>
                        <a:defRPr/>
                      </a:pPr>
                      <a:r>
                        <a:rPr lang="en-US" sz="3170" b="true">
                          <a:solidFill>
                            <a:srgbClr val="FFFFFF"/>
                          </a:solidFill>
                          <a:latin typeface="Anantason Bold"/>
                          <a:ea typeface="Anantason Bold"/>
                          <a:cs typeface="Anantason Bold"/>
                          <a:sym typeface="Anantason Bold"/>
                        </a:rPr>
                        <a:t>Copies a.txt to b.txt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1098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38"/>
                        </a:lnSpc>
                        <a:defRPr/>
                      </a:pPr>
                      <a:r>
                        <a:rPr lang="en-US" b="true" sz="3170">
                          <a:solidFill>
                            <a:srgbClr val="FF0010"/>
                          </a:solidFill>
                          <a:latin typeface="Anantason Bold"/>
                          <a:ea typeface="Anantason Bold"/>
                          <a:cs typeface="Anantason Bold"/>
                          <a:sym typeface="Anantason Bold"/>
                        </a:rPr>
                        <a:t>mv old.txt new.txt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38"/>
                        </a:lnSpc>
                        <a:defRPr/>
                      </a:pPr>
                      <a:r>
                        <a:rPr lang="en-US" sz="3170" b="true">
                          <a:solidFill>
                            <a:srgbClr val="FFFFFF"/>
                          </a:solidFill>
                          <a:latin typeface="Anantason Bold"/>
                          <a:ea typeface="Anantason Bold"/>
                          <a:cs typeface="Anantason Bold"/>
                          <a:sym typeface="Anantason Bold"/>
                        </a:rPr>
                        <a:t>Renames the file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7556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38"/>
                        </a:lnSpc>
                        <a:defRPr/>
                      </a:pPr>
                      <a:r>
                        <a:rPr lang="en-US" b="true" sz="3170">
                          <a:solidFill>
                            <a:srgbClr val="FF0010"/>
                          </a:solidFill>
                          <a:latin typeface="Anantason Bold"/>
                          <a:ea typeface="Anantason Bold"/>
                          <a:cs typeface="Anantason Bold"/>
                          <a:sym typeface="Anantason Bold"/>
                        </a:rPr>
                        <a:t>mv file.txt test/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38"/>
                        </a:lnSpc>
                        <a:defRPr/>
                      </a:pPr>
                      <a:r>
                        <a:rPr lang="en-US" sz="3170" b="true">
                          <a:solidFill>
                            <a:srgbClr val="FFFFFF"/>
                          </a:solidFill>
                          <a:latin typeface="Anantason Bold"/>
                          <a:ea typeface="Anantason Bold"/>
                          <a:cs typeface="Anantason Bold"/>
                          <a:sym typeface="Anantason Bold"/>
                        </a:rPr>
                        <a:t>Moves the file into test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4" id="14"/>
          <p:cNvSpPr txBox="true"/>
          <p:nvPr/>
        </p:nvSpPr>
        <p:spPr>
          <a:xfrm rot="0">
            <a:off x="8649134" y="7234229"/>
            <a:ext cx="5803120" cy="2024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0"/>
              </a:lnSpc>
              <a:spcBef>
                <a:spcPct val="0"/>
              </a:spcBef>
            </a:pPr>
            <a:r>
              <a:rPr lang="en-US" b="true" sz="3150">
                <a:solidFill>
                  <a:srgbClr val="FF0010"/>
                </a:solidFill>
                <a:latin typeface="Pattanakarn Expanded Bold"/>
                <a:ea typeface="Pattanakarn Expanded Bold"/>
                <a:cs typeface="Pattanakarn Expanded Bold"/>
                <a:sym typeface="Pattanakarn Expanded Bold"/>
              </a:rPr>
              <a:t>Memory trick: </a:t>
            </a:r>
          </a:p>
          <a:p>
            <a:pPr algn="ctr">
              <a:lnSpc>
                <a:spcPts val="3560"/>
              </a:lnSpc>
              <a:spcBef>
                <a:spcPct val="0"/>
              </a:spcBef>
            </a:pPr>
            <a:r>
              <a:rPr lang="en-US" sz="3150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cp makes another copy. mv changes the name or location.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12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-7790853" y="3267289"/>
            <a:ext cx="14536040" cy="7246813"/>
            <a:chOff x="0" y="0"/>
            <a:chExt cx="3828422" cy="19086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28422" cy="1908626"/>
            </a:xfrm>
            <a:custGeom>
              <a:avLst/>
              <a:gdLst/>
              <a:ahLst/>
              <a:cxnLst/>
              <a:rect r="r" b="b" t="t" l="l"/>
              <a:pathLst>
                <a:path h="1908626" w="3828422">
                  <a:moveTo>
                    <a:pt x="23967" y="0"/>
                  </a:moveTo>
                  <a:lnTo>
                    <a:pt x="3804455" y="0"/>
                  </a:lnTo>
                  <a:cubicBezTo>
                    <a:pt x="3810812" y="0"/>
                    <a:pt x="3816908" y="2525"/>
                    <a:pt x="3821402" y="7020"/>
                  </a:cubicBezTo>
                  <a:cubicBezTo>
                    <a:pt x="3825897" y="11514"/>
                    <a:pt x="3828422" y="17611"/>
                    <a:pt x="3828422" y="23967"/>
                  </a:cubicBezTo>
                  <a:lnTo>
                    <a:pt x="3828422" y="1884658"/>
                  </a:lnTo>
                  <a:cubicBezTo>
                    <a:pt x="3828422" y="1891015"/>
                    <a:pt x="3825897" y="1897111"/>
                    <a:pt x="3821402" y="1901606"/>
                  </a:cubicBezTo>
                  <a:cubicBezTo>
                    <a:pt x="3816908" y="1906101"/>
                    <a:pt x="3810812" y="1908626"/>
                    <a:pt x="3804455" y="1908626"/>
                  </a:cubicBezTo>
                  <a:lnTo>
                    <a:pt x="23967" y="1908626"/>
                  </a:lnTo>
                  <a:cubicBezTo>
                    <a:pt x="17611" y="1908626"/>
                    <a:pt x="11514" y="1906101"/>
                    <a:pt x="7020" y="1901606"/>
                  </a:cubicBezTo>
                  <a:cubicBezTo>
                    <a:pt x="2525" y="1897111"/>
                    <a:pt x="0" y="1891015"/>
                    <a:pt x="0" y="1884658"/>
                  </a:cubicBezTo>
                  <a:lnTo>
                    <a:pt x="0" y="23967"/>
                  </a:lnTo>
                  <a:cubicBezTo>
                    <a:pt x="0" y="17611"/>
                    <a:pt x="2525" y="11514"/>
                    <a:pt x="7020" y="7020"/>
                  </a:cubicBezTo>
                  <a:cubicBezTo>
                    <a:pt x="11514" y="2525"/>
                    <a:pt x="17611" y="0"/>
                    <a:pt x="23967" y="0"/>
                  </a:cubicBezTo>
                  <a:close/>
                </a:path>
              </a:pathLst>
            </a:custGeom>
            <a:solidFill>
              <a:srgbClr val="FF001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52400"/>
              <a:ext cx="3828422" cy="20610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504990" y="-1767157"/>
            <a:ext cx="3086100" cy="30861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12889" y="0"/>
                  </a:moveTo>
                  <a:lnTo>
                    <a:pt x="699911" y="0"/>
                  </a:lnTo>
                  <a:cubicBezTo>
                    <a:pt x="762258" y="0"/>
                    <a:pt x="812800" y="50542"/>
                    <a:pt x="812800" y="112889"/>
                  </a:cubicBezTo>
                  <a:lnTo>
                    <a:pt x="812800" y="699911"/>
                  </a:lnTo>
                  <a:cubicBezTo>
                    <a:pt x="812800" y="762258"/>
                    <a:pt x="762258" y="812800"/>
                    <a:pt x="699911" y="812800"/>
                  </a:cubicBezTo>
                  <a:lnTo>
                    <a:pt x="112889" y="812800"/>
                  </a:lnTo>
                  <a:cubicBezTo>
                    <a:pt x="50542" y="812800"/>
                    <a:pt x="0" y="762258"/>
                    <a:pt x="0" y="699911"/>
                  </a:cubicBezTo>
                  <a:lnTo>
                    <a:pt x="0" y="112889"/>
                  </a:lnTo>
                  <a:cubicBezTo>
                    <a:pt x="0" y="50542"/>
                    <a:pt x="50542" y="0"/>
                    <a:pt x="112889" y="0"/>
                  </a:cubicBezTo>
                  <a:close/>
                </a:path>
              </a:pathLst>
            </a:custGeom>
            <a:solidFill>
              <a:srgbClr val="FF001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52400"/>
              <a:ext cx="812800" cy="965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581110" y="-730793"/>
            <a:ext cx="2519464" cy="3223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423"/>
              </a:lnSpc>
            </a:pPr>
            <a:r>
              <a:rPr lang="en-US" sz="15418">
                <a:solidFill>
                  <a:srgbClr val="000000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15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442900" y="-253626"/>
            <a:ext cx="4739216" cy="4758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429"/>
              </a:lnSpc>
            </a:pPr>
            <a:r>
              <a:rPr lang="en-US" sz="7459" b="true">
                <a:solidFill>
                  <a:srgbClr val="FFFFFF"/>
                </a:solidFill>
                <a:latin typeface="Pattanakarn Expanded Medium"/>
                <a:ea typeface="Pattanakarn Expanded Medium"/>
                <a:cs typeface="Pattanakarn Expanded Medium"/>
                <a:sym typeface="Pattanakarn Expanded Medium"/>
              </a:rPr>
              <a:t>Reading and editing files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3265645" y="145507"/>
            <a:ext cx="5483560" cy="693251"/>
            <a:chOff x="0" y="0"/>
            <a:chExt cx="7311413" cy="924334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411367"/>
              <a:ext cx="6462648" cy="512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226"/>
                </a:lnSpc>
              </a:pPr>
              <a:r>
                <a:rPr lang="en-US" sz="1970">
                  <a:solidFill>
                    <a:srgbClr val="FFFFFF"/>
                  </a:solidFill>
                  <a:latin typeface="Pattanakarn Expanded"/>
                  <a:ea typeface="Pattanakarn Expanded"/>
                  <a:cs typeface="Pattanakarn Expanded"/>
                  <a:sym typeface="Pattanakarn Expanded"/>
                </a:rPr>
                <a:t>DECODE .  DEFEND . DOMINATE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-114300"/>
              <a:ext cx="7311413" cy="5059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226"/>
                </a:lnSpc>
              </a:pPr>
              <a:r>
                <a:rPr lang="en-US" sz="1970">
                  <a:solidFill>
                    <a:srgbClr val="FF0010"/>
                  </a:solidFill>
                  <a:latin typeface="Pattanakarn Expanded"/>
                  <a:ea typeface="Pattanakarn Expanded"/>
                  <a:cs typeface="Pattanakarn Expanded"/>
                  <a:sym typeface="Pattanakarn Expanded"/>
                </a:rPr>
                <a:t>PROTOCOL CYBERSECURITY CLUB</a:t>
              </a:r>
            </a:p>
          </p:txBody>
        </p:sp>
      </p:grpSp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10495130" y="1172570"/>
          <a:ext cx="7592129" cy="8692091"/>
        </p:xfrm>
        <a:graphic>
          <a:graphicData uri="http://schemas.openxmlformats.org/drawingml/2006/table">
            <a:tbl>
              <a:tblPr/>
              <a:tblGrid>
                <a:gridCol w="3149144"/>
                <a:gridCol w="4442984"/>
              </a:tblGrid>
              <a:tr h="131067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38"/>
                        </a:lnSpc>
                        <a:defRPr/>
                      </a:pPr>
                      <a:r>
                        <a:rPr lang="en-US" b="true" sz="3170">
                          <a:solidFill>
                            <a:srgbClr val="FF0010"/>
                          </a:solidFill>
                          <a:latin typeface="Anantason Bold"/>
                          <a:ea typeface="Anantason Bold"/>
                          <a:cs typeface="Anantason Bold"/>
                          <a:sym typeface="Anantason Bold"/>
                        </a:rPr>
                        <a:t>COMMAND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38"/>
                        </a:lnSpc>
                        <a:defRPr/>
                      </a:pPr>
                      <a:r>
                        <a:rPr lang="en-US" sz="3170" b="true">
                          <a:solidFill>
                            <a:srgbClr val="FFFFFF"/>
                          </a:solidFill>
                          <a:latin typeface="Anantason Bold"/>
                          <a:ea typeface="Anantason Bold"/>
                          <a:cs typeface="Anantason Bold"/>
                          <a:sym typeface="Anantason Bold"/>
                        </a:rPr>
                        <a:t>MEANING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805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b="true" sz="2799">
                          <a:solidFill>
                            <a:srgbClr val="FF0010"/>
                          </a:solidFill>
                          <a:latin typeface="Anantason Bold"/>
                          <a:ea typeface="Anantason Bold"/>
                          <a:cs typeface="Anantason Bold"/>
                          <a:sym typeface="Anantason Bold"/>
                        </a:rPr>
                        <a:t>cat file.txt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FFFFFF"/>
                          </a:solidFill>
                          <a:latin typeface="Anantason Bold"/>
                          <a:ea typeface="Anantason Bold"/>
                          <a:cs typeface="Anantason Bold"/>
                          <a:sym typeface="Anantason Bold"/>
                        </a:rPr>
                        <a:t>Displays the file’s contents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805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b="true" sz="2799">
                          <a:solidFill>
                            <a:srgbClr val="FF0010"/>
                          </a:solidFill>
                          <a:latin typeface="Anantason Bold"/>
                          <a:ea typeface="Anantason Bold"/>
                          <a:cs typeface="Anantason Bold"/>
                          <a:sym typeface="Anantason Bold"/>
                        </a:rPr>
                        <a:t>nano file.txt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FFFFFF"/>
                          </a:solidFill>
                          <a:latin typeface="Anantason Bold"/>
                          <a:ea typeface="Anantason Bold"/>
                          <a:cs typeface="Anantason Bold"/>
                          <a:sym typeface="Anantason Bold"/>
                        </a:rPr>
                        <a:t>Opens a simple text editor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3984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b="true" sz="2799">
                          <a:solidFill>
                            <a:srgbClr val="FF0010"/>
                          </a:solidFill>
                          <a:latin typeface="Anantason Bold"/>
                          <a:ea typeface="Anantason Bold"/>
                          <a:cs typeface="Anantason Bold"/>
                          <a:sym typeface="Anantason Bold"/>
                        </a:rPr>
                        <a:t>vim file.txt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FFFFFF"/>
                          </a:solidFill>
                          <a:latin typeface="Anantason Bold"/>
                          <a:ea typeface="Anantason Bold"/>
                          <a:cs typeface="Anantason Bold"/>
                          <a:sym typeface="Anantason Bold"/>
                        </a:rPr>
                        <a:t>Opens an editor with different modes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805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b="true" sz="2799">
                          <a:solidFill>
                            <a:srgbClr val="FF0010"/>
                          </a:solidFill>
                          <a:latin typeface="Anantason Bold"/>
                          <a:ea typeface="Anantason Bold"/>
                          <a:cs typeface="Anantason Bold"/>
                          <a:sym typeface="Anantason Bold"/>
                        </a:rPr>
                        <a:t>cat file.txt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FFFFFF"/>
                          </a:solidFill>
                          <a:latin typeface="Anantason Bold"/>
                          <a:ea typeface="Anantason Bold"/>
                          <a:cs typeface="Anantason Bold"/>
                          <a:sym typeface="Anantason Bold"/>
                        </a:rPr>
                        <a:t>Displays the file’s contents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4" id="14"/>
          <p:cNvSpPr txBox="true"/>
          <p:nvPr/>
        </p:nvSpPr>
        <p:spPr>
          <a:xfrm rot="0">
            <a:off x="3215446" y="4691706"/>
            <a:ext cx="7279683" cy="2198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68"/>
              </a:lnSpc>
              <a:spcBef>
                <a:spcPct val="0"/>
              </a:spcBef>
            </a:pPr>
            <a:r>
              <a:rPr lang="en-US" sz="3069">
                <a:solidFill>
                  <a:srgbClr val="FF001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Vim survival kit:</a:t>
            </a:r>
          </a:p>
          <a:p>
            <a:pPr algn="just" marL="662740" indent="-331370" lvl="1">
              <a:lnSpc>
                <a:spcPts val="3468"/>
              </a:lnSpc>
              <a:spcBef>
                <a:spcPct val="0"/>
              </a:spcBef>
              <a:buFont typeface="Arial"/>
              <a:buChar char="•"/>
            </a:pPr>
            <a:r>
              <a:rPr lang="en-US" sz="3069">
                <a:solidFill>
                  <a:srgbClr val="FFFFFF"/>
                </a:solidFill>
                <a:latin typeface="IM Fell"/>
                <a:ea typeface="IM Fell"/>
                <a:cs typeface="IM Fell"/>
                <a:sym typeface="IM Fell"/>
              </a:rPr>
              <a:t>Press I to start typing.</a:t>
            </a:r>
          </a:p>
          <a:p>
            <a:pPr algn="just" marL="662740" indent="-331370" lvl="1">
              <a:lnSpc>
                <a:spcPts val="3468"/>
              </a:lnSpc>
              <a:spcBef>
                <a:spcPct val="0"/>
              </a:spcBef>
              <a:buFont typeface="Arial"/>
              <a:buChar char="•"/>
            </a:pPr>
            <a:r>
              <a:rPr lang="en-US" sz="3069">
                <a:solidFill>
                  <a:srgbClr val="FFFFFF"/>
                </a:solidFill>
                <a:latin typeface="IM Fell"/>
                <a:ea typeface="IM Fell"/>
                <a:cs typeface="IM Fell"/>
                <a:sym typeface="IM Fell"/>
              </a:rPr>
              <a:t>Press Esc to leave typing mode.</a:t>
            </a:r>
          </a:p>
          <a:p>
            <a:pPr algn="just" marL="662740" indent="-331370" lvl="1">
              <a:lnSpc>
                <a:spcPts val="3468"/>
              </a:lnSpc>
              <a:spcBef>
                <a:spcPct val="0"/>
              </a:spcBef>
              <a:buFont typeface="Arial"/>
              <a:buChar char="•"/>
            </a:pPr>
            <a:r>
              <a:rPr lang="en-US" sz="3069">
                <a:solidFill>
                  <a:srgbClr val="FFFFFF"/>
                </a:solidFill>
                <a:latin typeface="IM Fell"/>
                <a:ea typeface="IM Fell"/>
                <a:cs typeface="IM Fell"/>
                <a:sym typeface="IM Fell"/>
              </a:rPr>
              <a:t>Type :wq and press Enter to save and exit.</a:t>
            </a:r>
          </a:p>
          <a:p>
            <a:pPr algn="just">
              <a:lnSpc>
                <a:spcPts val="346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12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504990" y="-1767157"/>
            <a:ext cx="3086100" cy="30861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12889" y="0"/>
                  </a:moveTo>
                  <a:lnTo>
                    <a:pt x="699911" y="0"/>
                  </a:lnTo>
                  <a:cubicBezTo>
                    <a:pt x="762258" y="0"/>
                    <a:pt x="812800" y="50542"/>
                    <a:pt x="812800" y="112889"/>
                  </a:cubicBezTo>
                  <a:lnTo>
                    <a:pt x="812800" y="699911"/>
                  </a:lnTo>
                  <a:cubicBezTo>
                    <a:pt x="812800" y="762258"/>
                    <a:pt x="762258" y="812800"/>
                    <a:pt x="699911" y="812800"/>
                  </a:cubicBezTo>
                  <a:lnTo>
                    <a:pt x="112889" y="812800"/>
                  </a:lnTo>
                  <a:cubicBezTo>
                    <a:pt x="50542" y="812800"/>
                    <a:pt x="0" y="762258"/>
                    <a:pt x="0" y="699911"/>
                  </a:cubicBezTo>
                  <a:lnTo>
                    <a:pt x="0" y="112889"/>
                  </a:lnTo>
                  <a:cubicBezTo>
                    <a:pt x="0" y="50542"/>
                    <a:pt x="50542" y="0"/>
                    <a:pt x="112889" y="0"/>
                  </a:cubicBezTo>
                  <a:close/>
                </a:path>
              </a:pathLst>
            </a:custGeom>
            <a:solidFill>
              <a:srgbClr val="FF001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52400"/>
              <a:ext cx="812800" cy="965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685977" y="-19862"/>
            <a:ext cx="5573323" cy="4510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296"/>
              </a:lnSpc>
            </a:pPr>
            <a:r>
              <a:rPr lang="en-US" sz="9112" b="true">
                <a:solidFill>
                  <a:srgbClr val="FFFFFF"/>
                </a:solidFill>
                <a:latin typeface="Pattanakarn Expanded Medium"/>
                <a:ea typeface="Pattanakarn Expanded Medium"/>
                <a:cs typeface="Pattanakarn Expanded Medium"/>
                <a:sym typeface="Pattanakarn Expanded Medium"/>
              </a:rPr>
              <a:t> Deleting files carefully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477398" y="6607097"/>
            <a:ext cx="2035833" cy="3223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423"/>
              </a:lnSpc>
            </a:pPr>
            <a:r>
              <a:rPr lang="en-US" sz="15418">
                <a:solidFill>
                  <a:srgbClr val="FF0010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16</a:t>
            </a:r>
          </a:p>
        </p:txBody>
      </p:sp>
      <p:sp>
        <p:nvSpPr>
          <p:cNvPr name="AutoShape 7" id="7"/>
          <p:cNvSpPr/>
          <p:nvPr/>
        </p:nvSpPr>
        <p:spPr>
          <a:xfrm flipH="true">
            <a:off x="11150118" y="874591"/>
            <a:ext cx="0" cy="3235576"/>
          </a:xfrm>
          <a:prstGeom prst="line">
            <a:avLst/>
          </a:prstGeom>
          <a:ln cap="flat" w="38100">
            <a:solidFill>
              <a:srgbClr val="FF001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028700" y="344207"/>
            <a:ext cx="5483560" cy="693251"/>
            <a:chOff x="0" y="0"/>
            <a:chExt cx="7311413" cy="924334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411367"/>
              <a:ext cx="6462648" cy="512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226"/>
                </a:lnSpc>
              </a:pPr>
              <a:r>
                <a:rPr lang="en-US" sz="1970">
                  <a:solidFill>
                    <a:srgbClr val="FFFFFF"/>
                  </a:solidFill>
                  <a:latin typeface="Pattanakarn Expanded"/>
                  <a:ea typeface="Pattanakarn Expanded"/>
                  <a:cs typeface="Pattanakarn Expanded"/>
                  <a:sym typeface="Pattanakarn Expanded"/>
                </a:rPr>
                <a:t>DECODE .  DEFEND . DOMINATE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114300"/>
              <a:ext cx="7311413" cy="5059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226"/>
                </a:lnSpc>
              </a:pPr>
              <a:r>
                <a:rPr lang="en-US" sz="1970">
                  <a:solidFill>
                    <a:srgbClr val="FF0010"/>
                  </a:solidFill>
                  <a:latin typeface="Pattanakarn Expanded"/>
                  <a:ea typeface="Pattanakarn Expanded"/>
                  <a:cs typeface="Pattanakarn Expanded"/>
                  <a:sym typeface="Pattanakarn Expanded"/>
                </a:rPr>
                <a:t>PROTOCOL CYBERSECURITY CLUB</a:t>
              </a:r>
            </a:p>
          </p:txBody>
        </p:sp>
      </p:grpSp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243503" y="1769846"/>
          <a:ext cx="9146307" cy="8290341"/>
        </p:xfrm>
        <a:graphic>
          <a:graphicData uri="http://schemas.openxmlformats.org/drawingml/2006/table">
            <a:tbl>
              <a:tblPr/>
              <a:tblGrid>
                <a:gridCol w="4573154"/>
                <a:gridCol w="4573154"/>
              </a:tblGrid>
              <a:tr h="156658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38"/>
                        </a:lnSpc>
                        <a:defRPr/>
                      </a:pPr>
                      <a:r>
                        <a:rPr lang="en-US" b="true" sz="3170">
                          <a:solidFill>
                            <a:srgbClr val="FF0010"/>
                          </a:solidFill>
                          <a:latin typeface="Anantason Bold"/>
                          <a:ea typeface="Anantason Bold"/>
                          <a:cs typeface="Anantason Bold"/>
                          <a:sym typeface="Anantason Bold"/>
                        </a:rPr>
                        <a:t>COMMAND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38"/>
                        </a:lnSpc>
                        <a:defRPr/>
                      </a:pPr>
                      <a:r>
                        <a:rPr lang="en-US" sz="3170" b="true">
                          <a:solidFill>
                            <a:srgbClr val="FFFFFF"/>
                          </a:solidFill>
                          <a:latin typeface="Anantason Bold"/>
                          <a:ea typeface="Anantason Bold"/>
                          <a:cs typeface="Anantason Bold"/>
                          <a:sym typeface="Anantason Bold"/>
                        </a:rPr>
                        <a:t>MEANING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658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38"/>
                        </a:lnSpc>
                        <a:defRPr/>
                      </a:pPr>
                      <a:r>
                        <a:rPr lang="en-US" b="true" sz="3170">
                          <a:solidFill>
                            <a:srgbClr val="FF0010"/>
                          </a:solidFill>
                          <a:latin typeface="Anantason Bold"/>
                          <a:ea typeface="Anantason Bold"/>
                          <a:cs typeface="Anantason Bold"/>
                          <a:sym typeface="Anantason Bold"/>
                        </a:rPr>
                        <a:t>rm file.txt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38"/>
                        </a:lnSpc>
                        <a:defRPr/>
                      </a:pPr>
                      <a:r>
                        <a:rPr lang="en-US" sz="3170" b="true">
                          <a:solidFill>
                            <a:srgbClr val="FFFFFF"/>
                          </a:solidFill>
                          <a:latin typeface="Anantason Bold"/>
                          <a:ea typeface="Anantason Bold"/>
                          <a:cs typeface="Anantason Bold"/>
                          <a:sym typeface="Anantason Bold"/>
                        </a:rPr>
                        <a:t>Deletes a file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125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38"/>
                        </a:lnSpc>
                        <a:defRPr/>
                      </a:pPr>
                      <a:r>
                        <a:rPr lang="en-US" b="true" sz="3170">
                          <a:solidFill>
                            <a:srgbClr val="FF0010"/>
                          </a:solidFill>
                          <a:latin typeface="Anantason Bold"/>
                          <a:ea typeface="Anantason Bold"/>
                          <a:cs typeface="Anantason Bold"/>
                          <a:sym typeface="Anantason Bold"/>
                        </a:rPr>
                        <a:t>rm -r test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38"/>
                        </a:lnSpc>
                        <a:defRPr/>
                      </a:pPr>
                      <a:r>
                        <a:rPr lang="en-US" sz="3170" b="true">
                          <a:solidFill>
                            <a:srgbClr val="FFFFFF"/>
                          </a:solidFill>
                          <a:latin typeface="Anantason Bold"/>
                          <a:ea typeface="Anantason Bold"/>
                          <a:cs typeface="Anantason Bold"/>
                          <a:sym typeface="Anantason Bold"/>
                        </a:rPr>
                        <a:t>Deletes a folder and its contents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1591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38"/>
                        </a:lnSpc>
                        <a:defRPr/>
                      </a:pPr>
                      <a:r>
                        <a:rPr lang="en-US" b="true" sz="3170">
                          <a:solidFill>
                            <a:srgbClr val="FF0010"/>
                          </a:solidFill>
                          <a:latin typeface="Anantason Bold"/>
                          <a:ea typeface="Anantason Bold"/>
                          <a:cs typeface="Anantason Bold"/>
                          <a:sym typeface="Anantason Bold"/>
                        </a:rPr>
                        <a:t>rm -rf test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38"/>
                        </a:lnSpc>
                        <a:defRPr/>
                      </a:pPr>
                      <a:r>
                        <a:rPr lang="en-US" sz="3170" b="true">
                          <a:solidFill>
                            <a:srgbClr val="FFFFFF"/>
                          </a:solidFill>
                          <a:latin typeface="Anantason Bold"/>
                          <a:ea typeface="Anantason Bold"/>
                          <a:cs typeface="Anantason Bold"/>
                          <a:sym typeface="Anantason Bold"/>
                        </a:rPr>
                        <a:t>Adds force, skipping many prompts and errors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2" id="12"/>
          <p:cNvSpPr txBox="true"/>
          <p:nvPr/>
        </p:nvSpPr>
        <p:spPr>
          <a:xfrm rot="0">
            <a:off x="9389811" y="5332967"/>
            <a:ext cx="7869489" cy="918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4"/>
              </a:lnSpc>
              <a:spcBef>
                <a:spcPct val="0"/>
              </a:spcBef>
            </a:pPr>
            <a:r>
              <a:rPr lang="en-US" sz="2640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THESE COMMANDS USUALLY </a:t>
            </a:r>
            <a:r>
              <a:rPr lang="en-US" sz="2640">
                <a:solidFill>
                  <a:srgbClr val="FF0010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BYPASS</a:t>
            </a:r>
            <a:r>
              <a:rPr lang="en-US" sz="2640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 THE RECYCLE BIN.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389811" y="6564933"/>
            <a:ext cx="7869489" cy="91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8"/>
              </a:lnSpc>
              <a:spcBef>
                <a:spcPct val="0"/>
              </a:spcBef>
            </a:pPr>
            <a:r>
              <a:rPr lang="en-US" sz="2600">
                <a:solidFill>
                  <a:srgbClr val="FF0010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CHECK YOUR LOCATION</a:t>
            </a:r>
            <a:r>
              <a:rPr lang="en-US" sz="2600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 WITH PWD BEFORE DELETING.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504990" y="-1767157"/>
            <a:ext cx="3086100" cy="30861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12889" y="0"/>
                  </a:moveTo>
                  <a:lnTo>
                    <a:pt x="699911" y="0"/>
                  </a:lnTo>
                  <a:cubicBezTo>
                    <a:pt x="762258" y="0"/>
                    <a:pt x="812800" y="50542"/>
                    <a:pt x="812800" y="112889"/>
                  </a:cubicBezTo>
                  <a:lnTo>
                    <a:pt x="812800" y="699911"/>
                  </a:lnTo>
                  <a:cubicBezTo>
                    <a:pt x="812800" y="762258"/>
                    <a:pt x="762258" y="812800"/>
                    <a:pt x="699911" y="812800"/>
                  </a:cubicBezTo>
                  <a:lnTo>
                    <a:pt x="112889" y="812800"/>
                  </a:lnTo>
                  <a:cubicBezTo>
                    <a:pt x="50542" y="812800"/>
                    <a:pt x="0" y="762258"/>
                    <a:pt x="0" y="699911"/>
                  </a:cubicBezTo>
                  <a:lnTo>
                    <a:pt x="0" y="112889"/>
                  </a:lnTo>
                  <a:cubicBezTo>
                    <a:pt x="0" y="50542"/>
                    <a:pt x="50542" y="0"/>
                    <a:pt x="112889" y="0"/>
                  </a:cubicBezTo>
                  <a:close/>
                </a:path>
              </a:pathLst>
            </a:custGeom>
            <a:solidFill>
              <a:srgbClr val="FF001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52400"/>
              <a:ext cx="812800" cy="965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319862" y="9703548"/>
            <a:ext cx="4090342" cy="3086100"/>
            <a:chOff x="0" y="0"/>
            <a:chExt cx="1077292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77292" cy="812800"/>
            </a:xfrm>
            <a:custGeom>
              <a:avLst/>
              <a:gdLst/>
              <a:ahLst/>
              <a:cxnLst/>
              <a:rect r="r" b="b" t="t" l="l"/>
              <a:pathLst>
                <a:path h="812800" w="1077292">
                  <a:moveTo>
                    <a:pt x="85173" y="0"/>
                  </a:moveTo>
                  <a:lnTo>
                    <a:pt x="992119" y="0"/>
                  </a:lnTo>
                  <a:cubicBezTo>
                    <a:pt x="1014708" y="0"/>
                    <a:pt x="1036372" y="8974"/>
                    <a:pt x="1052345" y="24947"/>
                  </a:cubicBezTo>
                  <a:cubicBezTo>
                    <a:pt x="1068318" y="40920"/>
                    <a:pt x="1077292" y="62584"/>
                    <a:pt x="1077292" y="85173"/>
                  </a:cubicBezTo>
                  <a:lnTo>
                    <a:pt x="1077292" y="727627"/>
                  </a:lnTo>
                  <a:cubicBezTo>
                    <a:pt x="1077292" y="774667"/>
                    <a:pt x="1039158" y="812800"/>
                    <a:pt x="992119" y="812800"/>
                  </a:cubicBezTo>
                  <a:lnTo>
                    <a:pt x="85173" y="812800"/>
                  </a:lnTo>
                  <a:cubicBezTo>
                    <a:pt x="62584" y="812800"/>
                    <a:pt x="40920" y="803826"/>
                    <a:pt x="24947" y="787853"/>
                  </a:cubicBezTo>
                  <a:cubicBezTo>
                    <a:pt x="8974" y="771880"/>
                    <a:pt x="0" y="750216"/>
                    <a:pt x="0" y="727627"/>
                  </a:cubicBezTo>
                  <a:lnTo>
                    <a:pt x="0" y="85173"/>
                  </a:lnTo>
                  <a:cubicBezTo>
                    <a:pt x="0" y="62584"/>
                    <a:pt x="8974" y="40920"/>
                    <a:pt x="24947" y="24947"/>
                  </a:cubicBezTo>
                  <a:cubicBezTo>
                    <a:pt x="40920" y="8974"/>
                    <a:pt x="62584" y="0"/>
                    <a:pt x="85173" y="0"/>
                  </a:cubicBezTo>
                  <a:close/>
                </a:path>
              </a:pathLst>
            </a:custGeom>
            <a:solidFill>
              <a:srgbClr val="FF001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52400"/>
              <a:ext cx="1077292" cy="965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371536" y="1662323"/>
          <a:ext cx="5452722" cy="5257800"/>
        </p:xfrm>
        <a:graphic>
          <a:graphicData uri="http://schemas.openxmlformats.org/drawingml/2006/table">
            <a:tbl>
              <a:tblPr/>
              <a:tblGrid>
                <a:gridCol w="2726361"/>
                <a:gridCol w="2726361"/>
              </a:tblGrid>
              <a:tr h="13144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38"/>
                        </a:lnSpc>
                        <a:defRPr/>
                      </a:pPr>
                      <a:r>
                        <a:rPr lang="en-US" b="true" sz="3170">
                          <a:solidFill>
                            <a:srgbClr val="FF0010"/>
                          </a:solidFill>
                          <a:latin typeface="Anantason Bold"/>
                          <a:ea typeface="Anantason Bold"/>
                          <a:cs typeface="Anantason Bold"/>
                          <a:sym typeface="Anantason Bold"/>
                        </a:rPr>
                        <a:t>Number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38"/>
                        </a:lnSpc>
                        <a:defRPr/>
                      </a:pPr>
                      <a:r>
                        <a:rPr lang="en-US" sz="3170" b="true">
                          <a:solidFill>
                            <a:srgbClr val="FFFFFF"/>
                          </a:solidFill>
                          <a:latin typeface="Anantason Bold"/>
                          <a:ea typeface="Anantason Bold"/>
                          <a:cs typeface="Anantason Bold"/>
                          <a:sym typeface="Anantason Bold"/>
                        </a:rPr>
                        <a:t>Permission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144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38"/>
                        </a:lnSpc>
                        <a:defRPr/>
                      </a:pPr>
                      <a:r>
                        <a:rPr lang="en-US" b="true" sz="3170">
                          <a:solidFill>
                            <a:srgbClr val="FF0010"/>
                          </a:solidFill>
                          <a:latin typeface="Anantason Bold"/>
                          <a:ea typeface="Anantason Bold"/>
                          <a:cs typeface="Anantason Bold"/>
                          <a:sym typeface="Anantason Bold"/>
                        </a:rPr>
                        <a:t>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38"/>
                        </a:lnSpc>
                        <a:defRPr/>
                      </a:pPr>
                      <a:r>
                        <a:rPr lang="en-US" sz="3170" b="true">
                          <a:solidFill>
                            <a:srgbClr val="FFFFFF"/>
                          </a:solidFill>
                          <a:latin typeface="Anantason Bold"/>
                          <a:ea typeface="Anantason Bold"/>
                          <a:cs typeface="Anantason Bold"/>
                          <a:sym typeface="Anantason Bold"/>
                        </a:rPr>
                        <a:t>Read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144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38"/>
                        </a:lnSpc>
                        <a:defRPr/>
                      </a:pPr>
                      <a:r>
                        <a:rPr lang="en-US" b="true" sz="3170">
                          <a:solidFill>
                            <a:srgbClr val="FF0010"/>
                          </a:solidFill>
                          <a:latin typeface="Anantason Bold"/>
                          <a:ea typeface="Anantason Bold"/>
                          <a:cs typeface="Anantason Bold"/>
                          <a:sym typeface="Anantason Bold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38"/>
                        </a:lnSpc>
                        <a:defRPr/>
                      </a:pPr>
                      <a:r>
                        <a:rPr lang="en-US" sz="3170" b="true">
                          <a:solidFill>
                            <a:srgbClr val="FFFFFF"/>
                          </a:solidFill>
                          <a:latin typeface="Anantason Bold"/>
                          <a:ea typeface="Anantason Bold"/>
                          <a:cs typeface="Anantason Bold"/>
                          <a:sym typeface="Anantason Bold"/>
                        </a:rPr>
                        <a:t>Write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144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38"/>
                        </a:lnSpc>
                        <a:defRPr/>
                      </a:pPr>
                      <a:r>
                        <a:rPr lang="en-US" b="true" sz="3170">
                          <a:solidFill>
                            <a:srgbClr val="FF0010"/>
                          </a:solidFill>
                          <a:latin typeface="Anantason Bold"/>
                          <a:ea typeface="Anantason Bold"/>
                          <a:cs typeface="Anantason Bold"/>
                          <a:sym typeface="Anantason Bold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38"/>
                        </a:lnSpc>
                        <a:defRPr/>
                      </a:pPr>
                      <a:r>
                        <a:rPr lang="en-US" sz="3170" b="true">
                          <a:solidFill>
                            <a:srgbClr val="FFFFFF"/>
                          </a:solidFill>
                          <a:latin typeface="Anantason Bold"/>
                          <a:ea typeface="Anantason Bold"/>
                          <a:cs typeface="Anantason Bold"/>
                          <a:sym typeface="Anantason Bold"/>
                        </a:rPr>
                        <a:t>Execute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9" id="9"/>
          <p:cNvGrpSpPr/>
          <p:nvPr/>
        </p:nvGrpSpPr>
        <p:grpSpPr>
          <a:xfrm rot="0">
            <a:off x="3914408" y="8129529"/>
            <a:ext cx="8313215" cy="1735200"/>
            <a:chOff x="0" y="0"/>
            <a:chExt cx="11084286" cy="23136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4864904" cy="2313600"/>
              <a:chOff x="0" y="0"/>
              <a:chExt cx="960969" cy="457007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960969" cy="457007"/>
              </a:xfrm>
              <a:custGeom>
                <a:avLst/>
                <a:gdLst/>
                <a:ahLst/>
                <a:cxnLst/>
                <a:rect r="r" b="b" t="t" l="l"/>
                <a:pathLst>
                  <a:path h="457007" w="960969">
                    <a:moveTo>
                      <a:pt x="95483" y="0"/>
                    </a:moveTo>
                    <a:lnTo>
                      <a:pt x="865486" y="0"/>
                    </a:lnTo>
                    <a:cubicBezTo>
                      <a:pt x="918220" y="0"/>
                      <a:pt x="960969" y="42749"/>
                      <a:pt x="960969" y="95483"/>
                    </a:cubicBezTo>
                    <a:lnTo>
                      <a:pt x="960969" y="361524"/>
                    </a:lnTo>
                    <a:cubicBezTo>
                      <a:pt x="960969" y="414258"/>
                      <a:pt x="918220" y="457007"/>
                      <a:pt x="865486" y="457007"/>
                    </a:cubicBezTo>
                    <a:lnTo>
                      <a:pt x="95483" y="457007"/>
                    </a:lnTo>
                    <a:cubicBezTo>
                      <a:pt x="42749" y="457007"/>
                      <a:pt x="0" y="414258"/>
                      <a:pt x="0" y="361524"/>
                    </a:cubicBezTo>
                    <a:lnTo>
                      <a:pt x="0" y="95483"/>
                    </a:lnTo>
                    <a:cubicBezTo>
                      <a:pt x="0" y="42749"/>
                      <a:pt x="42749" y="0"/>
                      <a:pt x="95483" y="0"/>
                    </a:cubicBezTo>
                    <a:close/>
                  </a:path>
                </a:pathLst>
              </a:custGeom>
              <a:solidFill>
                <a:srgbClr val="8E8E8E">
                  <a:alpha val="48627"/>
                </a:srgbClr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152400"/>
                <a:ext cx="960969" cy="6094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38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304882" y="188990"/>
              <a:ext cx="10779405" cy="6109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751"/>
                </a:lnSpc>
              </a:pPr>
              <a:r>
                <a:rPr lang="en-US" sz="2679">
                  <a:solidFill>
                    <a:srgbClr val="FFFFFF"/>
                  </a:solidFill>
                  <a:latin typeface="Questrial"/>
                  <a:ea typeface="Questrial"/>
                  <a:cs typeface="Questrial"/>
                  <a:sym typeface="Questrial"/>
                </a:rPr>
                <a:t>E</a:t>
              </a:r>
              <a:r>
                <a:rPr lang="en-US" sz="2679">
                  <a:solidFill>
                    <a:srgbClr val="FFFFFF"/>
                  </a:solidFill>
                  <a:latin typeface="Questrial"/>
                  <a:ea typeface="Questrial"/>
                  <a:cs typeface="Questrial"/>
                  <a:sym typeface="Questrial"/>
                </a:rPr>
                <a:t>xample:</a:t>
              </a:r>
              <a:r>
                <a:rPr lang="en-US" sz="2679">
                  <a:solidFill>
                    <a:srgbClr val="FFFFFF"/>
                  </a:solidFill>
                  <a:latin typeface="Questrial"/>
                  <a:ea typeface="Questrial"/>
                  <a:cs typeface="Questrial"/>
                  <a:sym typeface="Questrial"/>
                </a:rPr>
                <a:t> 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304882" y="1090125"/>
              <a:ext cx="4374670" cy="6109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751"/>
                </a:lnSpc>
              </a:pPr>
              <a:r>
                <a:rPr lang="en-US" sz="2679">
                  <a:solidFill>
                    <a:srgbClr val="FFFFFF"/>
                  </a:solidFill>
                  <a:latin typeface="Questrial"/>
                  <a:ea typeface="Questrial"/>
                  <a:cs typeface="Questrial"/>
                  <a:sym typeface="Questrial"/>
                </a:rPr>
                <a:t>chmod 755 script.</a:t>
              </a:r>
              <a:r>
                <a:rPr lang="en-US" sz="2679">
                  <a:solidFill>
                    <a:srgbClr val="FFFFFF"/>
                  </a:solidFill>
                  <a:latin typeface="Questrial"/>
                  <a:ea typeface="Questrial"/>
                  <a:cs typeface="Questrial"/>
                  <a:sym typeface="Questrial"/>
                </a:rPr>
                <a:t>sh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848924" y="8069041"/>
            <a:ext cx="3327385" cy="1735200"/>
            <a:chOff x="0" y="0"/>
            <a:chExt cx="876348" cy="45700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76348" cy="457007"/>
            </a:xfrm>
            <a:custGeom>
              <a:avLst/>
              <a:gdLst/>
              <a:ahLst/>
              <a:cxnLst/>
              <a:rect r="r" b="b" t="t" l="l"/>
              <a:pathLst>
                <a:path h="457007" w="876348">
                  <a:moveTo>
                    <a:pt x="104703" y="0"/>
                  </a:moveTo>
                  <a:lnTo>
                    <a:pt x="771646" y="0"/>
                  </a:lnTo>
                  <a:cubicBezTo>
                    <a:pt x="799415" y="0"/>
                    <a:pt x="826046" y="11031"/>
                    <a:pt x="845682" y="30667"/>
                  </a:cubicBezTo>
                  <a:cubicBezTo>
                    <a:pt x="865317" y="50302"/>
                    <a:pt x="876348" y="76934"/>
                    <a:pt x="876348" y="104703"/>
                  </a:cubicBezTo>
                  <a:lnTo>
                    <a:pt x="876348" y="352305"/>
                  </a:lnTo>
                  <a:cubicBezTo>
                    <a:pt x="876348" y="410130"/>
                    <a:pt x="829471" y="457007"/>
                    <a:pt x="771646" y="457007"/>
                  </a:cubicBezTo>
                  <a:lnTo>
                    <a:pt x="104703" y="457007"/>
                  </a:lnTo>
                  <a:cubicBezTo>
                    <a:pt x="46877" y="457007"/>
                    <a:pt x="0" y="410130"/>
                    <a:pt x="0" y="352305"/>
                  </a:cubicBezTo>
                  <a:lnTo>
                    <a:pt x="0" y="104703"/>
                  </a:lnTo>
                  <a:cubicBezTo>
                    <a:pt x="0" y="46877"/>
                    <a:pt x="46877" y="0"/>
                    <a:pt x="104703" y="0"/>
                  </a:cubicBezTo>
                  <a:close/>
                </a:path>
              </a:pathLst>
            </a:custGeom>
            <a:solidFill>
              <a:srgbClr val="8E8E8E">
                <a:alpha val="48627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52400"/>
              <a:ext cx="876348" cy="6094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8016574" y="9142145"/>
            <a:ext cx="2992086" cy="474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51"/>
              </a:lnSpc>
            </a:pPr>
            <a:r>
              <a:rPr lang="en-US" sz="2679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sudo apt update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057450" y="8194115"/>
            <a:ext cx="2765501" cy="951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1"/>
              </a:lnSpc>
            </a:pPr>
            <a:r>
              <a:rPr lang="en-US" sz="2679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Update system to save changes: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6066811" y="2007770"/>
            <a:ext cx="5572701" cy="4912352"/>
          </a:xfrm>
          <a:custGeom>
            <a:avLst/>
            <a:gdLst/>
            <a:ahLst/>
            <a:cxnLst/>
            <a:rect r="r" b="b" t="t" l="l"/>
            <a:pathLst>
              <a:path h="4912352" w="5572701">
                <a:moveTo>
                  <a:pt x="0" y="0"/>
                </a:moveTo>
                <a:lnTo>
                  <a:pt x="5572701" y="0"/>
                </a:lnTo>
                <a:lnTo>
                  <a:pt x="5572701" y="4912353"/>
                </a:lnTo>
                <a:lnTo>
                  <a:pt x="0" y="49123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8296897" y="-1012279"/>
            <a:ext cx="2153831" cy="3223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7423"/>
              </a:lnSpc>
            </a:pPr>
            <a:r>
              <a:rPr lang="en-US" sz="15418">
                <a:solidFill>
                  <a:srgbClr val="FF0010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17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450729" y="-499431"/>
            <a:ext cx="7837271" cy="4510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296"/>
              </a:lnSpc>
            </a:pPr>
            <a:r>
              <a:rPr lang="en-US" sz="9112" b="true">
                <a:solidFill>
                  <a:srgbClr val="FFFFFF"/>
                </a:solidFill>
                <a:latin typeface="Pattanakarn Expanded Medium"/>
                <a:ea typeface="Pattanakarn Expanded Medium"/>
                <a:cs typeface="Pattanakarn Expanded Medium"/>
                <a:sym typeface="Pattanakarn Expanded Medium"/>
              </a:rPr>
              <a:t>Permissions and admin access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028700" y="344207"/>
            <a:ext cx="5483560" cy="693251"/>
            <a:chOff x="0" y="0"/>
            <a:chExt cx="7311413" cy="924334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0" y="411367"/>
              <a:ext cx="6462648" cy="512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226"/>
                </a:lnSpc>
              </a:pPr>
              <a:r>
                <a:rPr lang="en-US" sz="1970">
                  <a:solidFill>
                    <a:srgbClr val="FFFFFF"/>
                  </a:solidFill>
                  <a:latin typeface="Pattanakarn Expanded"/>
                  <a:ea typeface="Pattanakarn Expanded"/>
                  <a:cs typeface="Pattanakarn Expanded"/>
                  <a:sym typeface="Pattanakarn Expanded"/>
                </a:rPr>
                <a:t>DECODE .  DEFEND . DOMINATE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0" y="-114300"/>
              <a:ext cx="7311413" cy="5059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226"/>
                </a:lnSpc>
              </a:pPr>
              <a:r>
                <a:rPr lang="en-US" sz="1970">
                  <a:solidFill>
                    <a:srgbClr val="FF0010"/>
                  </a:solidFill>
                  <a:latin typeface="Pattanakarn Expanded"/>
                  <a:ea typeface="Pattanakarn Expanded"/>
                  <a:cs typeface="Pattanakarn Expanded"/>
                  <a:sym typeface="Pattanakarn Expanded"/>
                </a:rPr>
                <a:t>PROTOCOL CYBERSECURITY CLUB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0" y="7150577"/>
            <a:ext cx="6195793" cy="91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8"/>
              </a:lnSpc>
              <a:spcBef>
                <a:spcPct val="0"/>
              </a:spcBef>
            </a:pPr>
            <a:r>
              <a:rPr lang="en-US" sz="2600">
                <a:solidFill>
                  <a:srgbClr val="F82822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Add them together:</a:t>
            </a:r>
            <a:r>
              <a:rPr lang="en-US" sz="2600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 </a:t>
            </a:r>
          </a:p>
          <a:p>
            <a:pPr algn="ctr">
              <a:lnSpc>
                <a:spcPts val="2938"/>
              </a:lnSpc>
              <a:spcBef>
                <a:spcPct val="0"/>
              </a:spcBef>
            </a:pPr>
            <a:r>
              <a:rPr lang="en-US" sz="2600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7 = read + write + execute.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371551" y="4310273"/>
            <a:ext cx="5556097" cy="2151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4"/>
              </a:lnSpc>
              <a:spcBef>
                <a:spcPct val="0"/>
              </a:spcBef>
            </a:pPr>
            <a:r>
              <a:rPr lang="en-US" sz="3039">
                <a:solidFill>
                  <a:srgbClr val="FF0010"/>
                </a:solidFill>
                <a:latin typeface="Anantason"/>
                <a:ea typeface="Anantason"/>
                <a:cs typeface="Anantason"/>
                <a:sym typeface="Anantason"/>
              </a:rPr>
              <a:t>Owner gets </a:t>
            </a:r>
          </a:p>
          <a:p>
            <a:pPr algn="ctr">
              <a:lnSpc>
                <a:spcPts val="3434"/>
              </a:lnSpc>
              <a:spcBef>
                <a:spcPct val="0"/>
              </a:spcBef>
            </a:pPr>
            <a:r>
              <a:rPr lang="en-US" sz="3039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7: read, write, execute.</a:t>
            </a:r>
          </a:p>
          <a:p>
            <a:pPr algn="ctr">
              <a:lnSpc>
                <a:spcPts val="3434"/>
              </a:lnSpc>
              <a:spcBef>
                <a:spcPct val="0"/>
              </a:spcBef>
            </a:pPr>
          </a:p>
          <a:p>
            <a:pPr algn="ctr">
              <a:lnSpc>
                <a:spcPts val="3434"/>
              </a:lnSpc>
              <a:spcBef>
                <a:spcPct val="0"/>
              </a:spcBef>
            </a:pPr>
            <a:r>
              <a:rPr lang="en-US" sz="3039">
                <a:solidFill>
                  <a:srgbClr val="F82822"/>
                </a:solidFill>
                <a:latin typeface="Anantason"/>
                <a:ea typeface="Anantason"/>
                <a:cs typeface="Anantason"/>
                <a:sym typeface="Anantason"/>
              </a:rPr>
              <a:t>Group and others get </a:t>
            </a:r>
          </a:p>
          <a:p>
            <a:pPr algn="ctr">
              <a:lnSpc>
                <a:spcPts val="3434"/>
              </a:lnSpc>
              <a:spcBef>
                <a:spcPct val="0"/>
              </a:spcBef>
            </a:pPr>
            <a:r>
              <a:rPr lang="en-US" sz="3039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5: read and execute.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371551" y="6975779"/>
            <a:ext cx="5473147" cy="1489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8"/>
              </a:lnSpc>
              <a:spcBef>
                <a:spcPct val="0"/>
              </a:spcBef>
            </a:pPr>
            <a:r>
              <a:rPr lang="en-US" sz="260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Ru</a:t>
            </a:r>
            <a:r>
              <a:rPr lang="en-US" sz="260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ns the command with administrator privileges and </a:t>
            </a:r>
            <a:r>
              <a:rPr lang="en-US" sz="2600">
                <a:solidFill>
                  <a:srgbClr val="F82822"/>
                </a:solidFill>
                <a:latin typeface="Anantason"/>
                <a:ea typeface="Anantason"/>
                <a:cs typeface="Anantason"/>
                <a:sym typeface="Anantason"/>
              </a:rPr>
              <a:t>refreshes package information</a:t>
            </a:r>
            <a:r>
              <a:rPr lang="en-US" sz="260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 on Debian-based systems.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457651" y="8780130"/>
            <a:ext cx="6469997" cy="1084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3"/>
              </a:lnSpc>
              <a:spcBef>
                <a:spcPct val="0"/>
              </a:spcBef>
            </a:pPr>
            <a:r>
              <a:rPr lang="en-US" sz="3073">
                <a:solidFill>
                  <a:srgbClr val="F82822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sudo</a:t>
            </a:r>
            <a:r>
              <a:rPr lang="en-US" sz="3073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 gives a command extra power.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155040" y="176482"/>
            <a:ext cx="5759444" cy="3205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96"/>
              </a:lnSpc>
            </a:pPr>
            <a:r>
              <a:rPr lang="en-US" sz="9112" b="true">
                <a:solidFill>
                  <a:srgbClr val="FFFFFF"/>
                </a:solidFill>
                <a:latin typeface="Pattanakarn Expanded Medium"/>
                <a:ea typeface="Pattanakarn Expanded Medium"/>
                <a:cs typeface="Pattanakarn Expanded Medium"/>
                <a:sym typeface="Pattanakarn Expanded Medium"/>
              </a:rPr>
              <a:t>grep and pipes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2504990" y="-1767157"/>
            <a:ext cx="3086100" cy="30861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12889" y="0"/>
                  </a:moveTo>
                  <a:lnTo>
                    <a:pt x="699911" y="0"/>
                  </a:lnTo>
                  <a:cubicBezTo>
                    <a:pt x="762258" y="0"/>
                    <a:pt x="812800" y="50542"/>
                    <a:pt x="812800" y="112889"/>
                  </a:cubicBezTo>
                  <a:lnTo>
                    <a:pt x="812800" y="699911"/>
                  </a:lnTo>
                  <a:cubicBezTo>
                    <a:pt x="812800" y="762258"/>
                    <a:pt x="762258" y="812800"/>
                    <a:pt x="699911" y="812800"/>
                  </a:cubicBezTo>
                  <a:lnTo>
                    <a:pt x="112889" y="812800"/>
                  </a:lnTo>
                  <a:cubicBezTo>
                    <a:pt x="50542" y="812800"/>
                    <a:pt x="0" y="762258"/>
                    <a:pt x="0" y="699911"/>
                  </a:cubicBezTo>
                  <a:lnTo>
                    <a:pt x="0" y="112889"/>
                  </a:lnTo>
                  <a:cubicBezTo>
                    <a:pt x="0" y="50542"/>
                    <a:pt x="50542" y="0"/>
                    <a:pt x="112889" y="0"/>
                  </a:cubicBezTo>
                  <a:close/>
                </a:path>
              </a:pathLst>
            </a:custGeom>
            <a:solidFill>
              <a:srgbClr val="FF001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52400"/>
              <a:ext cx="812800" cy="965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858963" y="9590531"/>
            <a:ext cx="6111041" cy="3086100"/>
            <a:chOff x="0" y="0"/>
            <a:chExt cx="1609492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09492" cy="812800"/>
            </a:xfrm>
            <a:custGeom>
              <a:avLst/>
              <a:gdLst/>
              <a:ahLst/>
              <a:cxnLst/>
              <a:rect r="r" b="b" t="t" l="l"/>
              <a:pathLst>
                <a:path h="812800" w="1609492">
                  <a:moveTo>
                    <a:pt x="57009" y="0"/>
                  </a:moveTo>
                  <a:lnTo>
                    <a:pt x="1552483" y="0"/>
                  </a:lnTo>
                  <a:cubicBezTo>
                    <a:pt x="1583968" y="0"/>
                    <a:pt x="1609492" y="25524"/>
                    <a:pt x="1609492" y="57009"/>
                  </a:cubicBezTo>
                  <a:lnTo>
                    <a:pt x="1609492" y="755791"/>
                  </a:lnTo>
                  <a:cubicBezTo>
                    <a:pt x="1609492" y="787276"/>
                    <a:pt x="1583968" y="812800"/>
                    <a:pt x="1552483" y="812800"/>
                  </a:cubicBezTo>
                  <a:lnTo>
                    <a:pt x="57009" y="812800"/>
                  </a:lnTo>
                  <a:cubicBezTo>
                    <a:pt x="25524" y="812800"/>
                    <a:pt x="0" y="787276"/>
                    <a:pt x="0" y="755791"/>
                  </a:cubicBezTo>
                  <a:lnTo>
                    <a:pt x="0" y="57009"/>
                  </a:lnTo>
                  <a:cubicBezTo>
                    <a:pt x="0" y="25524"/>
                    <a:pt x="25524" y="0"/>
                    <a:pt x="57009" y="0"/>
                  </a:cubicBezTo>
                  <a:close/>
                </a:path>
              </a:pathLst>
            </a:custGeom>
            <a:solidFill>
              <a:srgbClr val="FF001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52400"/>
              <a:ext cx="1609492" cy="965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 flipH="true">
            <a:off x="10413783" y="763266"/>
            <a:ext cx="1337173" cy="0"/>
          </a:xfrm>
          <a:prstGeom prst="line">
            <a:avLst/>
          </a:prstGeom>
          <a:ln cap="flat" w="38100">
            <a:solidFill>
              <a:srgbClr val="FF001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472240" y="2571377"/>
            <a:ext cx="4780652" cy="1735200"/>
            <a:chOff x="0" y="0"/>
            <a:chExt cx="1259102" cy="45700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59102" cy="457007"/>
            </a:xfrm>
            <a:custGeom>
              <a:avLst/>
              <a:gdLst/>
              <a:ahLst/>
              <a:cxnLst/>
              <a:rect r="r" b="b" t="t" l="l"/>
              <a:pathLst>
                <a:path h="457007" w="1259102">
                  <a:moveTo>
                    <a:pt x="72874" y="0"/>
                  </a:moveTo>
                  <a:lnTo>
                    <a:pt x="1186227" y="0"/>
                  </a:lnTo>
                  <a:cubicBezTo>
                    <a:pt x="1226475" y="0"/>
                    <a:pt x="1259102" y="32627"/>
                    <a:pt x="1259102" y="72874"/>
                  </a:cubicBezTo>
                  <a:lnTo>
                    <a:pt x="1259102" y="384133"/>
                  </a:lnTo>
                  <a:cubicBezTo>
                    <a:pt x="1259102" y="403461"/>
                    <a:pt x="1251424" y="421996"/>
                    <a:pt x="1237757" y="435663"/>
                  </a:cubicBezTo>
                  <a:cubicBezTo>
                    <a:pt x="1224091" y="449330"/>
                    <a:pt x="1205555" y="457007"/>
                    <a:pt x="1186227" y="457007"/>
                  </a:cubicBezTo>
                  <a:lnTo>
                    <a:pt x="72874" y="457007"/>
                  </a:lnTo>
                  <a:cubicBezTo>
                    <a:pt x="32627" y="457007"/>
                    <a:pt x="0" y="424380"/>
                    <a:pt x="0" y="384133"/>
                  </a:cubicBezTo>
                  <a:lnTo>
                    <a:pt x="0" y="72874"/>
                  </a:lnTo>
                  <a:cubicBezTo>
                    <a:pt x="0" y="53547"/>
                    <a:pt x="7678" y="35011"/>
                    <a:pt x="21344" y="21344"/>
                  </a:cubicBezTo>
                  <a:cubicBezTo>
                    <a:pt x="35011" y="7678"/>
                    <a:pt x="53547" y="0"/>
                    <a:pt x="72874" y="0"/>
                  </a:cubicBezTo>
                  <a:close/>
                </a:path>
              </a:pathLst>
            </a:custGeom>
            <a:solidFill>
              <a:srgbClr val="8E8E8E">
                <a:alpha val="48627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52400"/>
              <a:ext cx="1259102" cy="6094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72240" y="5290780"/>
            <a:ext cx="4780652" cy="1735200"/>
            <a:chOff x="0" y="0"/>
            <a:chExt cx="1259102" cy="45700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59102" cy="457007"/>
            </a:xfrm>
            <a:custGeom>
              <a:avLst/>
              <a:gdLst/>
              <a:ahLst/>
              <a:cxnLst/>
              <a:rect r="r" b="b" t="t" l="l"/>
              <a:pathLst>
                <a:path h="457007" w="1259102">
                  <a:moveTo>
                    <a:pt x="72874" y="0"/>
                  </a:moveTo>
                  <a:lnTo>
                    <a:pt x="1186227" y="0"/>
                  </a:lnTo>
                  <a:cubicBezTo>
                    <a:pt x="1226475" y="0"/>
                    <a:pt x="1259102" y="32627"/>
                    <a:pt x="1259102" y="72874"/>
                  </a:cubicBezTo>
                  <a:lnTo>
                    <a:pt x="1259102" y="384133"/>
                  </a:lnTo>
                  <a:cubicBezTo>
                    <a:pt x="1259102" y="403461"/>
                    <a:pt x="1251424" y="421996"/>
                    <a:pt x="1237757" y="435663"/>
                  </a:cubicBezTo>
                  <a:cubicBezTo>
                    <a:pt x="1224091" y="449330"/>
                    <a:pt x="1205555" y="457007"/>
                    <a:pt x="1186227" y="457007"/>
                  </a:cubicBezTo>
                  <a:lnTo>
                    <a:pt x="72874" y="457007"/>
                  </a:lnTo>
                  <a:cubicBezTo>
                    <a:pt x="32627" y="457007"/>
                    <a:pt x="0" y="424380"/>
                    <a:pt x="0" y="384133"/>
                  </a:cubicBezTo>
                  <a:lnTo>
                    <a:pt x="0" y="72874"/>
                  </a:lnTo>
                  <a:cubicBezTo>
                    <a:pt x="0" y="53547"/>
                    <a:pt x="7678" y="35011"/>
                    <a:pt x="21344" y="21344"/>
                  </a:cubicBezTo>
                  <a:cubicBezTo>
                    <a:pt x="35011" y="7678"/>
                    <a:pt x="53547" y="0"/>
                    <a:pt x="72874" y="0"/>
                  </a:cubicBezTo>
                  <a:close/>
                </a:path>
              </a:pathLst>
            </a:custGeom>
            <a:solidFill>
              <a:srgbClr val="8E8E8E">
                <a:alpha val="48627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52400"/>
              <a:ext cx="1259102" cy="6094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72240" y="8117506"/>
            <a:ext cx="4780652" cy="1735200"/>
            <a:chOff x="0" y="0"/>
            <a:chExt cx="6374203" cy="2313600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6374203" cy="2313600"/>
              <a:chOff x="0" y="0"/>
              <a:chExt cx="1259102" cy="457007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259102" cy="457007"/>
              </a:xfrm>
              <a:custGeom>
                <a:avLst/>
                <a:gdLst/>
                <a:ahLst/>
                <a:cxnLst/>
                <a:rect r="r" b="b" t="t" l="l"/>
                <a:pathLst>
                  <a:path h="457007" w="1259102">
                    <a:moveTo>
                      <a:pt x="72874" y="0"/>
                    </a:moveTo>
                    <a:lnTo>
                      <a:pt x="1186227" y="0"/>
                    </a:lnTo>
                    <a:cubicBezTo>
                      <a:pt x="1226475" y="0"/>
                      <a:pt x="1259102" y="32627"/>
                      <a:pt x="1259102" y="72874"/>
                    </a:cubicBezTo>
                    <a:lnTo>
                      <a:pt x="1259102" y="384133"/>
                    </a:lnTo>
                    <a:cubicBezTo>
                      <a:pt x="1259102" y="403461"/>
                      <a:pt x="1251424" y="421996"/>
                      <a:pt x="1237757" y="435663"/>
                    </a:cubicBezTo>
                    <a:cubicBezTo>
                      <a:pt x="1224091" y="449330"/>
                      <a:pt x="1205555" y="457007"/>
                      <a:pt x="1186227" y="457007"/>
                    </a:cubicBezTo>
                    <a:lnTo>
                      <a:pt x="72874" y="457007"/>
                    </a:lnTo>
                    <a:cubicBezTo>
                      <a:pt x="32627" y="457007"/>
                      <a:pt x="0" y="424380"/>
                      <a:pt x="0" y="384133"/>
                    </a:cubicBezTo>
                    <a:lnTo>
                      <a:pt x="0" y="72874"/>
                    </a:lnTo>
                    <a:cubicBezTo>
                      <a:pt x="0" y="53547"/>
                      <a:pt x="7678" y="35011"/>
                      <a:pt x="21344" y="21344"/>
                    </a:cubicBezTo>
                    <a:cubicBezTo>
                      <a:pt x="35011" y="7678"/>
                      <a:pt x="53547" y="0"/>
                      <a:pt x="72874" y="0"/>
                    </a:cubicBezTo>
                    <a:close/>
                  </a:path>
                </a:pathLst>
              </a:custGeom>
              <a:solidFill>
                <a:srgbClr val="8E8E8E">
                  <a:alpha val="48627"/>
                </a:srgbClr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152400"/>
                <a:ext cx="1259102" cy="6094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38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304882" y="188990"/>
              <a:ext cx="2127570" cy="6109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751"/>
                </a:lnSpc>
              </a:pPr>
              <a:r>
                <a:rPr lang="en-US" sz="2679">
                  <a:solidFill>
                    <a:srgbClr val="FFFFFF"/>
                  </a:solidFill>
                  <a:latin typeface="Questrial"/>
                  <a:ea typeface="Questrial"/>
                  <a:cs typeface="Questrial"/>
                  <a:sym typeface="Questrial"/>
                </a:rPr>
                <a:t>E</a:t>
              </a:r>
              <a:r>
                <a:rPr lang="en-US" sz="2679">
                  <a:solidFill>
                    <a:srgbClr val="FFFFFF"/>
                  </a:solidFill>
                  <a:latin typeface="Questrial"/>
                  <a:ea typeface="Questrial"/>
                  <a:cs typeface="Questrial"/>
                  <a:sym typeface="Questrial"/>
                </a:rPr>
                <a:t>xample:</a:t>
              </a:r>
              <a:r>
                <a:rPr lang="en-US" sz="2679">
                  <a:solidFill>
                    <a:srgbClr val="FFFFFF"/>
                  </a:solidFill>
                  <a:latin typeface="Questrial"/>
                  <a:ea typeface="Questrial"/>
                  <a:cs typeface="Questrial"/>
                  <a:sym typeface="Questrial"/>
                </a:rPr>
                <a:t> 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1314728" y="1090125"/>
              <a:ext cx="4798333" cy="6109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751"/>
                </a:lnSpc>
              </a:pPr>
              <a:r>
                <a:rPr lang="en-US" sz="2679">
                  <a:solidFill>
                    <a:srgbClr val="FFFFFF"/>
                  </a:solidFill>
                  <a:latin typeface="Questrial"/>
                  <a:ea typeface="Questrial"/>
                  <a:cs typeface="Questrial"/>
                  <a:sym typeface="Questrial"/>
                </a:rPr>
                <a:t>ps aux | grep apache</a:t>
              </a: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9480081" y="3658296"/>
            <a:ext cx="7490867" cy="3824884"/>
          </a:xfrm>
          <a:custGeom>
            <a:avLst/>
            <a:gdLst/>
            <a:ahLst/>
            <a:cxnLst/>
            <a:rect r="r" b="b" t="t" l="l"/>
            <a:pathLst>
              <a:path h="3824884" w="7490867">
                <a:moveTo>
                  <a:pt x="0" y="0"/>
                </a:moveTo>
                <a:lnTo>
                  <a:pt x="7490867" y="0"/>
                </a:lnTo>
                <a:lnTo>
                  <a:pt x="7490867" y="3824884"/>
                </a:lnTo>
                <a:lnTo>
                  <a:pt x="0" y="38248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915" t="-12829" r="-6550" b="-13061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6259626" y="257418"/>
            <a:ext cx="2105529" cy="2709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72"/>
              </a:lnSpc>
            </a:pPr>
            <a:r>
              <a:rPr lang="en-US" sz="12984">
                <a:solidFill>
                  <a:srgbClr val="FF0010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18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028700" y="344207"/>
            <a:ext cx="5483560" cy="693251"/>
            <a:chOff x="0" y="0"/>
            <a:chExt cx="7311413" cy="924334"/>
          </a:xfrm>
        </p:grpSpPr>
        <p:sp>
          <p:nvSpPr>
            <p:cNvPr name="TextBox 25" id="25"/>
            <p:cNvSpPr txBox="true"/>
            <p:nvPr/>
          </p:nvSpPr>
          <p:spPr>
            <a:xfrm rot="0">
              <a:off x="0" y="411367"/>
              <a:ext cx="6462648" cy="512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226"/>
                </a:lnSpc>
              </a:pPr>
              <a:r>
                <a:rPr lang="en-US" sz="1970">
                  <a:solidFill>
                    <a:srgbClr val="FFFFFF"/>
                  </a:solidFill>
                  <a:latin typeface="Pattanakarn Expanded"/>
                  <a:ea typeface="Pattanakarn Expanded"/>
                  <a:cs typeface="Pattanakarn Expanded"/>
                  <a:sym typeface="Pattanakarn Expanded"/>
                </a:rPr>
                <a:t>DECODE .  DEFEND . DOMINATE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0" y="-114300"/>
              <a:ext cx="7311413" cy="5059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226"/>
                </a:lnSpc>
              </a:pPr>
              <a:r>
                <a:rPr lang="en-US" sz="1970">
                  <a:solidFill>
                    <a:srgbClr val="FF0010"/>
                  </a:solidFill>
                  <a:latin typeface="Pattanakarn Expanded"/>
                  <a:ea typeface="Pattanakarn Expanded"/>
                  <a:cs typeface="Pattanakarn Expanded"/>
                  <a:sym typeface="Pattanakarn Expanded"/>
                </a:rPr>
                <a:t>PROTOCOL CYBERSECURITY CLUB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330513" y="1833888"/>
            <a:ext cx="8596668" cy="375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8"/>
              </a:lnSpc>
              <a:spcBef>
                <a:spcPct val="0"/>
              </a:spcBef>
            </a:pPr>
            <a:r>
              <a:rPr lang="en-US" sz="260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GREP </a:t>
            </a:r>
            <a:r>
              <a:rPr lang="en-US" sz="2600">
                <a:solidFill>
                  <a:srgbClr val="F82822"/>
                </a:solidFill>
                <a:latin typeface="Anantason"/>
                <a:ea typeface="Anantason"/>
                <a:cs typeface="Anantason"/>
                <a:sym typeface="Anantason"/>
              </a:rPr>
              <a:t>SEARCHES TEXT</a:t>
            </a:r>
            <a:r>
              <a:rPr lang="en-US" sz="260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, LIKE CTRL+F IN THE TERMINAL.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00901" y="2696451"/>
            <a:ext cx="1595678" cy="474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51"/>
              </a:lnSpc>
            </a:pPr>
            <a:r>
              <a:rPr lang="en-US" sz="2679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E</a:t>
            </a:r>
            <a:r>
              <a:rPr lang="en-US" sz="2679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xample:</a:t>
            </a:r>
            <a:r>
              <a:rPr lang="en-US" sz="2679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00901" y="3372302"/>
            <a:ext cx="3598749" cy="474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51"/>
              </a:lnSpc>
            </a:pPr>
            <a:r>
              <a:rPr lang="en-US" sz="2679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grep "password" file.txt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47332" y="4648541"/>
            <a:ext cx="5964928" cy="375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8"/>
              </a:lnSpc>
              <a:spcBef>
                <a:spcPct val="0"/>
              </a:spcBef>
            </a:pPr>
            <a:r>
              <a:rPr lang="en-US" sz="260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FIND</a:t>
            </a:r>
            <a:r>
              <a:rPr lang="en-US" sz="260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S LINES CONTAINING PASSWORD.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00901" y="5415854"/>
            <a:ext cx="1595678" cy="474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51"/>
              </a:lnSpc>
            </a:pPr>
            <a:r>
              <a:rPr lang="en-US" sz="2679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E</a:t>
            </a:r>
            <a:r>
              <a:rPr lang="en-US" sz="2679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xample:</a:t>
            </a:r>
            <a:r>
              <a:rPr lang="en-US" sz="2679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00901" y="6091705"/>
            <a:ext cx="3598749" cy="474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51"/>
              </a:lnSpc>
            </a:pPr>
            <a:r>
              <a:rPr lang="en-US" sz="2679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grep -i "error" log.txt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-295479" y="7502230"/>
            <a:ext cx="8596668" cy="375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8"/>
              </a:lnSpc>
              <a:spcBef>
                <a:spcPct val="0"/>
              </a:spcBef>
            </a:pPr>
            <a:r>
              <a:rPr lang="en-US" sz="260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M</a:t>
            </a:r>
            <a:r>
              <a:rPr lang="en-US" sz="260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atches error, ERROR, and other capitalisation.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927181" y="7896819"/>
            <a:ext cx="8596668" cy="375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8"/>
              </a:lnSpc>
              <a:spcBef>
                <a:spcPct val="0"/>
              </a:spcBef>
            </a:pPr>
            <a:r>
              <a:rPr lang="en-US" sz="260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S</a:t>
            </a:r>
            <a:r>
              <a:rPr lang="en-US" sz="260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EARCHES THE </a:t>
            </a:r>
            <a:r>
              <a:rPr lang="en-US" sz="2600">
                <a:solidFill>
                  <a:srgbClr val="F82822"/>
                </a:solidFill>
                <a:latin typeface="Anantason"/>
                <a:ea typeface="Anantason"/>
                <a:cs typeface="Anantason"/>
                <a:sym typeface="Anantason"/>
              </a:rPr>
              <a:t>RUNNING-PROCESS</a:t>
            </a:r>
            <a:r>
              <a:rPr lang="en-US" sz="260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 LIST FOR APACHE.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927181" y="8511286"/>
            <a:ext cx="8596668" cy="747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8"/>
              </a:lnSpc>
              <a:spcBef>
                <a:spcPct val="0"/>
              </a:spcBef>
            </a:pPr>
            <a:r>
              <a:rPr lang="en-US" sz="260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T</a:t>
            </a:r>
            <a:r>
              <a:rPr lang="en-US" sz="260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HE </a:t>
            </a:r>
            <a:r>
              <a:rPr lang="en-US" sz="2600">
                <a:solidFill>
                  <a:srgbClr val="F82822"/>
                </a:solidFill>
                <a:latin typeface="Anantason"/>
                <a:ea typeface="Anantason"/>
                <a:cs typeface="Anantason"/>
                <a:sym typeface="Anantason"/>
              </a:rPr>
              <a:t>PIPE | PASSES</a:t>
            </a:r>
            <a:r>
              <a:rPr lang="en-US" sz="260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 ONE COMMAND’S OUTPUT </a:t>
            </a:r>
            <a:r>
              <a:rPr lang="en-US" sz="2600">
                <a:solidFill>
                  <a:srgbClr val="F82822"/>
                </a:solidFill>
                <a:latin typeface="Anantason"/>
                <a:ea typeface="Anantason"/>
                <a:cs typeface="Anantason"/>
                <a:sym typeface="Anantason"/>
              </a:rPr>
              <a:t>TO THE NEXT COMMAND.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987985" y="801782"/>
            <a:ext cx="542630" cy="453836"/>
          </a:xfrm>
          <a:custGeom>
            <a:avLst/>
            <a:gdLst/>
            <a:ahLst/>
            <a:cxnLst/>
            <a:rect r="r" b="b" t="t" l="l"/>
            <a:pathLst>
              <a:path h="453836" w="542630">
                <a:moveTo>
                  <a:pt x="0" y="0"/>
                </a:moveTo>
                <a:lnTo>
                  <a:pt x="542630" y="0"/>
                </a:lnTo>
                <a:lnTo>
                  <a:pt x="542630" y="453836"/>
                </a:lnTo>
                <a:lnTo>
                  <a:pt x="0" y="4538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504990" y="-1767157"/>
            <a:ext cx="3086100" cy="30861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12889" y="0"/>
                  </a:moveTo>
                  <a:lnTo>
                    <a:pt x="699911" y="0"/>
                  </a:lnTo>
                  <a:cubicBezTo>
                    <a:pt x="762258" y="0"/>
                    <a:pt x="812800" y="50542"/>
                    <a:pt x="812800" y="112889"/>
                  </a:cubicBezTo>
                  <a:lnTo>
                    <a:pt x="812800" y="699911"/>
                  </a:lnTo>
                  <a:cubicBezTo>
                    <a:pt x="812800" y="762258"/>
                    <a:pt x="762258" y="812800"/>
                    <a:pt x="699911" y="812800"/>
                  </a:cubicBezTo>
                  <a:lnTo>
                    <a:pt x="112889" y="812800"/>
                  </a:lnTo>
                  <a:cubicBezTo>
                    <a:pt x="50542" y="812800"/>
                    <a:pt x="0" y="762258"/>
                    <a:pt x="0" y="699911"/>
                  </a:cubicBezTo>
                  <a:lnTo>
                    <a:pt x="0" y="112889"/>
                  </a:lnTo>
                  <a:cubicBezTo>
                    <a:pt x="0" y="50542"/>
                    <a:pt x="50542" y="0"/>
                    <a:pt x="112889" y="0"/>
                  </a:cubicBezTo>
                  <a:close/>
                </a:path>
              </a:pathLst>
            </a:custGeom>
            <a:solidFill>
              <a:srgbClr val="FF001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52400"/>
              <a:ext cx="812800" cy="965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917980" y="9697771"/>
            <a:ext cx="6036543" cy="3086100"/>
            <a:chOff x="0" y="0"/>
            <a:chExt cx="1589871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89871" cy="812800"/>
            </a:xfrm>
            <a:custGeom>
              <a:avLst/>
              <a:gdLst/>
              <a:ahLst/>
              <a:cxnLst/>
              <a:rect r="r" b="b" t="t" l="l"/>
              <a:pathLst>
                <a:path h="812800" w="1589871">
                  <a:moveTo>
                    <a:pt x="57713" y="0"/>
                  </a:moveTo>
                  <a:lnTo>
                    <a:pt x="1532159" y="0"/>
                  </a:lnTo>
                  <a:cubicBezTo>
                    <a:pt x="1564032" y="0"/>
                    <a:pt x="1589871" y="25839"/>
                    <a:pt x="1589871" y="57713"/>
                  </a:cubicBezTo>
                  <a:lnTo>
                    <a:pt x="1589871" y="755087"/>
                  </a:lnTo>
                  <a:cubicBezTo>
                    <a:pt x="1589871" y="786961"/>
                    <a:pt x="1564032" y="812800"/>
                    <a:pt x="1532159" y="812800"/>
                  </a:cubicBezTo>
                  <a:lnTo>
                    <a:pt x="57713" y="812800"/>
                  </a:lnTo>
                  <a:cubicBezTo>
                    <a:pt x="25839" y="812800"/>
                    <a:pt x="0" y="786961"/>
                    <a:pt x="0" y="755087"/>
                  </a:cubicBezTo>
                  <a:lnTo>
                    <a:pt x="0" y="57713"/>
                  </a:lnTo>
                  <a:cubicBezTo>
                    <a:pt x="0" y="25839"/>
                    <a:pt x="25839" y="0"/>
                    <a:pt x="57713" y="0"/>
                  </a:cubicBezTo>
                  <a:close/>
                </a:path>
              </a:pathLst>
            </a:custGeom>
            <a:solidFill>
              <a:srgbClr val="FF001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52400"/>
              <a:ext cx="1589871" cy="965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1398423" y="1926406"/>
            <a:ext cx="5891943" cy="7490762"/>
          </a:xfrm>
          <a:custGeom>
            <a:avLst/>
            <a:gdLst/>
            <a:ahLst/>
            <a:cxnLst/>
            <a:rect r="r" b="b" t="t" l="l"/>
            <a:pathLst>
              <a:path h="7490762" w="5891943">
                <a:moveTo>
                  <a:pt x="0" y="0"/>
                </a:moveTo>
                <a:lnTo>
                  <a:pt x="5891943" y="0"/>
                </a:lnTo>
                <a:lnTo>
                  <a:pt x="5891943" y="7490761"/>
                </a:lnTo>
                <a:lnTo>
                  <a:pt x="0" y="74907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4869033" y="-262588"/>
            <a:ext cx="1453568" cy="2030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970"/>
              </a:lnSpc>
            </a:pPr>
            <a:r>
              <a:rPr lang="en-US" sz="9708">
                <a:solidFill>
                  <a:srgbClr val="FF0010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19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-2425062" y="1162813"/>
            <a:ext cx="8241023" cy="1801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798"/>
              </a:lnSpc>
            </a:pPr>
            <a:r>
              <a:rPr lang="en-US" sz="8671" b="true">
                <a:solidFill>
                  <a:srgbClr val="FFFFFF"/>
                </a:solidFill>
                <a:latin typeface="Pattanakarn Expanded Medium"/>
                <a:ea typeface="Pattanakarn Expanded Medium"/>
                <a:cs typeface="Pattanakarn Expanded Medium"/>
                <a:sym typeface="Pattanakarn Expanded Medium"/>
              </a:rPr>
              <a:t> Hashing 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28700" y="344207"/>
            <a:ext cx="5483560" cy="693251"/>
            <a:chOff x="0" y="0"/>
            <a:chExt cx="7311413" cy="924334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411367"/>
              <a:ext cx="6462648" cy="512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226"/>
                </a:lnSpc>
              </a:pPr>
              <a:r>
                <a:rPr lang="en-US" sz="1970">
                  <a:solidFill>
                    <a:srgbClr val="FFFFFF"/>
                  </a:solidFill>
                  <a:latin typeface="Pattanakarn Expanded"/>
                  <a:ea typeface="Pattanakarn Expanded"/>
                  <a:cs typeface="Pattanakarn Expanded"/>
                  <a:sym typeface="Pattanakarn Expanded"/>
                </a:rPr>
                <a:t>DECODE .  DEFEND . DOMINATE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114300"/>
              <a:ext cx="7311413" cy="5059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226"/>
                </a:lnSpc>
              </a:pPr>
              <a:r>
                <a:rPr lang="en-US" sz="1970">
                  <a:solidFill>
                    <a:srgbClr val="FF0010"/>
                  </a:solidFill>
                  <a:latin typeface="Pattanakarn Expanded"/>
                  <a:ea typeface="Pattanakarn Expanded"/>
                  <a:cs typeface="Pattanakarn Expanded"/>
                  <a:sym typeface="Pattanakarn Expanded"/>
                </a:rPr>
                <a:t>PROTOCOL CYBERSECURITY CLUB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581110" y="3602102"/>
            <a:ext cx="10817313" cy="3469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1379" indent="-375689" lvl="1">
              <a:lnSpc>
                <a:spcPts val="3932"/>
              </a:lnSpc>
              <a:spcBef>
                <a:spcPct val="0"/>
              </a:spcBef>
              <a:buFont typeface="Arial"/>
              <a:buChar char="•"/>
            </a:pPr>
            <a:r>
              <a:rPr lang="en-US" sz="348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A hash </a:t>
            </a:r>
            <a:r>
              <a:rPr lang="en-US" sz="3480">
                <a:solidFill>
                  <a:srgbClr val="F82822"/>
                </a:solidFill>
                <a:latin typeface="Anantason"/>
                <a:ea typeface="Anantason"/>
                <a:cs typeface="Anantason"/>
                <a:sym typeface="Anantason"/>
              </a:rPr>
              <a:t>converts da</a:t>
            </a:r>
            <a:r>
              <a:rPr lang="en-US" sz="3480">
                <a:solidFill>
                  <a:srgbClr val="F82822"/>
                </a:solidFill>
                <a:latin typeface="Anantason"/>
                <a:ea typeface="Anantason"/>
                <a:cs typeface="Anantason"/>
                <a:sym typeface="Anantason"/>
              </a:rPr>
              <a:t>ta into a fingerprint </a:t>
            </a:r>
            <a:r>
              <a:rPr lang="en-US" sz="348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of a fixed length.</a:t>
            </a:r>
          </a:p>
          <a:p>
            <a:pPr algn="l" marL="751379" indent="-375689" lvl="1">
              <a:lnSpc>
                <a:spcPts val="3932"/>
              </a:lnSpc>
              <a:spcBef>
                <a:spcPct val="0"/>
              </a:spcBef>
              <a:buFont typeface="Arial"/>
              <a:buChar char="•"/>
            </a:pPr>
            <a:r>
              <a:rPr lang="en-US" sz="348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The </a:t>
            </a:r>
            <a:r>
              <a:rPr lang="en-US" sz="3480">
                <a:solidFill>
                  <a:srgbClr val="F82822"/>
                </a:solidFill>
                <a:latin typeface="Anantason"/>
                <a:ea typeface="Anantason"/>
                <a:cs typeface="Anantason"/>
                <a:sym typeface="Anantason"/>
              </a:rPr>
              <a:t>same input produces the same hash</a:t>
            </a:r>
            <a:r>
              <a:rPr lang="en-US" sz="348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.</a:t>
            </a:r>
          </a:p>
          <a:p>
            <a:pPr algn="l" marL="751379" indent="-375689" lvl="1">
              <a:lnSpc>
                <a:spcPts val="3932"/>
              </a:lnSpc>
              <a:spcBef>
                <a:spcPct val="0"/>
              </a:spcBef>
              <a:buFont typeface="Arial"/>
              <a:buChar char="•"/>
            </a:pPr>
            <a:r>
              <a:rPr lang="en-US" sz="348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A </a:t>
            </a:r>
            <a:r>
              <a:rPr lang="en-US" sz="3480">
                <a:solidFill>
                  <a:srgbClr val="F82822"/>
                </a:solidFill>
                <a:latin typeface="Anantason"/>
                <a:ea typeface="Anantason"/>
                <a:cs typeface="Anantason"/>
                <a:sym typeface="Anantason"/>
              </a:rPr>
              <a:t>tiny change </a:t>
            </a:r>
            <a:r>
              <a:rPr lang="en-US" sz="348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produces a </a:t>
            </a:r>
            <a:r>
              <a:rPr lang="en-US" sz="3480">
                <a:solidFill>
                  <a:srgbClr val="F82822"/>
                </a:solidFill>
                <a:latin typeface="Anantason"/>
                <a:ea typeface="Anantason"/>
                <a:cs typeface="Anantason"/>
                <a:sym typeface="Anantason"/>
              </a:rPr>
              <a:t>very different-looking hash</a:t>
            </a:r>
            <a:r>
              <a:rPr lang="en-US" sz="348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.</a:t>
            </a:r>
          </a:p>
          <a:p>
            <a:pPr algn="l" marL="751379" indent="-375689" lvl="1">
              <a:lnSpc>
                <a:spcPts val="3932"/>
              </a:lnSpc>
              <a:spcBef>
                <a:spcPct val="0"/>
              </a:spcBef>
              <a:buFont typeface="Arial"/>
              <a:buChar char="•"/>
            </a:pPr>
            <a:r>
              <a:rPr lang="en-US" sz="348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Hashes help check whether </a:t>
            </a:r>
            <a:r>
              <a:rPr lang="en-US" sz="3480">
                <a:solidFill>
                  <a:srgbClr val="F82822"/>
                </a:solidFill>
                <a:latin typeface="Anantason"/>
                <a:ea typeface="Anantason"/>
                <a:cs typeface="Anantason"/>
                <a:sym typeface="Anantason"/>
              </a:rPr>
              <a:t>files have changed.</a:t>
            </a:r>
          </a:p>
          <a:p>
            <a:pPr algn="l" marL="751379" indent="-375689" lvl="1">
              <a:lnSpc>
                <a:spcPts val="3932"/>
              </a:lnSpc>
              <a:spcBef>
                <a:spcPct val="0"/>
              </a:spcBef>
              <a:buFont typeface="Arial"/>
              <a:buChar char="•"/>
            </a:pPr>
            <a:r>
              <a:rPr lang="en-US" sz="348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There is </a:t>
            </a:r>
            <a:r>
              <a:rPr lang="en-US" sz="3480">
                <a:solidFill>
                  <a:srgbClr val="F82822"/>
                </a:solidFill>
                <a:latin typeface="Anantason"/>
                <a:ea typeface="Anantason"/>
                <a:cs typeface="Anantason"/>
                <a:sym typeface="Anantason"/>
              </a:rPr>
              <a:t>no decryption operation for a hash</a:t>
            </a:r>
            <a:r>
              <a:rPr lang="en-US" sz="348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861727" y="7771038"/>
            <a:ext cx="7908469" cy="1192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27"/>
              </a:lnSpc>
              <a:spcBef>
                <a:spcPct val="0"/>
              </a:spcBef>
            </a:pPr>
            <a:r>
              <a:rPr lang="en-US" sz="3387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However, attackers can </a:t>
            </a:r>
            <a:r>
              <a:rPr lang="en-US" sz="3387">
                <a:solidFill>
                  <a:srgbClr val="F82822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guess an input</a:t>
            </a:r>
            <a:r>
              <a:rPr lang="en-US" sz="3387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 and compare i</a:t>
            </a:r>
            <a:r>
              <a:rPr lang="en-US" sz="3387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ts hash.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12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504990" y="-1767157"/>
            <a:ext cx="3086100" cy="30861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12889" y="0"/>
                  </a:moveTo>
                  <a:lnTo>
                    <a:pt x="699911" y="0"/>
                  </a:lnTo>
                  <a:cubicBezTo>
                    <a:pt x="762258" y="0"/>
                    <a:pt x="812800" y="50542"/>
                    <a:pt x="812800" y="112889"/>
                  </a:cubicBezTo>
                  <a:lnTo>
                    <a:pt x="812800" y="699911"/>
                  </a:lnTo>
                  <a:cubicBezTo>
                    <a:pt x="812800" y="762258"/>
                    <a:pt x="762258" y="812800"/>
                    <a:pt x="699911" y="812800"/>
                  </a:cubicBezTo>
                  <a:lnTo>
                    <a:pt x="112889" y="812800"/>
                  </a:lnTo>
                  <a:cubicBezTo>
                    <a:pt x="50542" y="812800"/>
                    <a:pt x="0" y="762258"/>
                    <a:pt x="0" y="699911"/>
                  </a:cubicBezTo>
                  <a:lnTo>
                    <a:pt x="0" y="112889"/>
                  </a:lnTo>
                  <a:cubicBezTo>
                    <a:pt x="0" y="50542"/>
                    <a:pt x="50542" y="0"/>
                    <a:pt x="112889" y="0"/>
                  </a:cubicBezTo>
                  <a:close/>
                </a:path>
              </a:pathLst>
            </a:custGeom>
            <a:solidFill>
              <a:srgbClr val="FF001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52400"/>
              <a:ext cx="812800" cy="965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88160" y="-499376"/>
            <a:ext cx="1956327" cy="2030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970"/>
              </a:lnSpc>
            </a:pPr>
            <a:r>
              <a:rPr lang="en-US" sz="9708">
                <a:solidFill>
                  <a:srgbClr val="FF0010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20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1917980" y="9697771"/>
            <a:ext cx="6036543" cy="3086100"/>
            <a:chOff x="0" y="0"/>
            <a:chExt cx="1589871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89871" cy="812800"/>
            </a:xfrm>
            <a:custGeom>
              <a:avLst/>
              <a:gdLst/>
              <a:ahLst/>
              <a:cxnLst/>
              <a:rect r="r" b="b" t="t" l="l"/>
              <a:pathLst>
                <a:path h="812800" w="1589871">
                  <a:moveTo>
                    <a:pt x="57713" y="0"/>
                  </a:moveTo>
                  <a:lnTo>
                    <a:pt x="1532159" y="0"/>
                  </a:lnTo>
                  <a:cubicBezTo>
                    <a:pt x="1564032" y="0"/>
                    <a:pt x="1589871" y="25839"/>
                    <a:pt x="1589871" y="57713"/>
                  </a:cubicBezTo>
                  <a:lnTo>
                    <a:pt x="1589871" y="755087"/>
                  </a:lnTo>
                  <a:cubicBezTo>
                    <a:pt x="1589871" y="786961"/>
                    <a:pt x="1564032" y="812800"/>
                    <a:pt x="1532159" y="812800"/>
                  </a:cubicBezTo>
                  <a:lnTo>
                    <a:pt x="57713" y="812800"/>
                  </a:lnTo>
                  <a:cubicBezTo>
                    <a:pt x="25839" y="812800"/>
                    <a:pt x="0" y="786961"/>
                    <a:pt x="0" y="755087"/>
                  </a:cubicBezTo>
                  <a:lnTo>
                    <a:pt x="0" y="57713"/>
                  </a:lnTo>
                  <a:cubicBezTo>
                    <a:pt x="0" y="25839"/>
                    <a:pt x="25839" y="0"/>
                    <a:pt x="57713" y="0"/>
                  </a:cubicBezTo>
                  <a:close/>
                </a:path>
              </a:pathLst>
            </a:custGeom>
            <a:solidFill>
              <a:srgbClr val="FF001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52400"/>
              <a:ext cx="1589871" cy="965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81110" y="1319677"/>
            <a:ext cx="10220270" cy="3103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87"/>
              </a:lnSpc>
            </a:pPr>
            <a:r>
              <a:rPr lang="en-US" sz="6271" b="true">
                <a:solidFill>
                  <a:srgbClr val="FFFFFF"/>
                </a:solidFill>
                <a:latin typeface="Pattanakarn Expanded Medium"/>
                <a:ea typeface="Pattanakarn Expanded Medium"/>
                <a:cs typeface="Pattanakarn Expanded Medium"/>
                <a:sym typeface="Pattanakarn Expanded Medium"/>
              </a:rPr>
              <a:t>SHA-256 produces 64 hexadecimal characters.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2804440" y="335449"/>
            <a:ext cx="5483560" cy="693251"/>
            <a:chOff x="0" y="0"/>
            <a:chExt cx="7311413" cy="924334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411367"/>
              <a:ext cx="6462648" cy="512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226"/>
                </a:lnSpc>
              </a:pPr>
              <a:r>
                <a:rPr lang="en-US" sz="1970">
                  <a:solidFill>
                    <a:srgbClr val="FFFFFF"/>
                  </a:solidFill>
                  <a:latin typeface="Pattanakarn Expanded"/>
                  <a:ea typeface="Pattanakarn Expanded"/>
                  <a:cs typeface="Pattanakarn Expanded"/>
                  <a:sym typeface="Pattanakarn Expanded"/>
                </a:rPr>
                <a:t>DECODE .  DEFEND . DOMINATE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-114300"/>
              <a:ext cx="7311413" cy="5059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226"/>
                </a:lnSpc>
              </a:pPr>
              <a:r>
                <a:rPr lang="en-US" sz="1970">
                  <a:solidFill>
                    <a:srgbClr val="FF0010"/>
                  </a:solidFill>
                  <a:latin typeface="Pattanakarn Expanded"/>
                  <a:ea typeface="Pattanakarn Expanded"/>
                  <a:cs typeface="Pattanakarn Expanded"/>
                  <a:sym typeface="Pattanakarn Expanded"/>
                </a:rPr>
                <a:t>PROTOCOL CYBERSECURITY CLUB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81110" y="5702745"/>
            <a:ext cx="6607698" cy="1477030"/>
            <a:chOff x="0" y="0"/>
            <a:chExt cx="8810264" cy="1969374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8810264" cy="1969374"/>
              <a:chOff x="0" y="0"/>
              <a:chExt cx="1740299" cy="389012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740299" cy="389012"/>
              </a:xfrm>
              <a:custGeom>
                <a:avLst/>
                <a:gdLst/>
                <a:ahLst/>
                <a:cxnLst/>
                <a:rect r="r" b="b" t="t" l="l"/>
                <a:pathLst>
                  <a:path h="389012" w="1740299">
                    <a:moveTo>
                      <a:pt x="52724" y="0"/>
                    </a:moveTo>
                    <a:lnTo>
                      <a:pt x="1687575" y="0"/>
                    </a:lnTo>
                    <a:cubicBezTo>
                      <a:pt x="1701558" y="0"/>
                      <a:pt x="1714969" y="5555"/>
                      <a:pt x="1724856" y="15443"/>
                    </a:cubicBezTo>
                    <a:cubicBezTo>
                      <a:pt x="1734744" y="25330"/>
                      <a:pt x="1740299" y="38741"/>
                      <a:pt x="1740299" y="52724"/>
                    </a:cubicBezTo>
                    <a:lnTo>
                      <a:pt x="1740299" y="336288"/>
                    </a:lnTo>
                    <a:cubicBezTo>
                      <a:pt x="1740299" y="350271"/>
                      <a:pt x="1734744" y="363682"/>
                      <a:pt x="1724856" y="373569"/>
                    </a:cubicBezTo>
                    <a:cubicBezTo>
                      <a:pt x="1714969" y="383457"/>
                      <a:pt x="1701558" y="389012"/>
                      <a:pt x="1687575" y="389012"/>
                    </a:cubicBezTo>
                    <a:lnTo>
                      <a:pt x="52724" y="389012"/>
                    </a:lnTo>
                    <a:cubicBezTo>
                      <a:pt x="23605" y="389012"/>
                      <a:pt x="0" y="365407"/>
                      <a:pt x="0" y="336288"/>
                    </a:cubicBezTo>
                    <a:lnTo>
                      <a:pt x="0" y="52724"/>
                    </a:lnTo>
                    <a:cubicBezTo>
                      <a:pt x="0" y="38741"/>
                      <a:pt x="5555" y="25330"/>
                      <a:pt x="15443" y="15443"/>
                    </a:cubicBezTo>
                    <a:cubicBezTo>
                      <a:pt x="25330" y="5555"/>
                      <a:pt x="38741" y="0"/>
                      <a:pt x="52724" y="0"/>
                    </a:cubicBezTo>
                    <a:close/>
                  </a:path>
                </a:pathLst>
              </a:custGeom>
              <a:solidFill>
                <a:srgbClr val="8E8E8E">
                  <a:alpha val="48627"/>
                </a:srgbClr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152400"/>
                <a:ext cx="1740299" cy="54141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38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304882" y="328383"/>
              <a:ext cx="8328260" cy="12459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751"/>
                </a:lnSpc>
              </a:pPr>
              <a:r>
                <a:rPr lang="en-US" sz="2679">
                  <a:solidFill>
                    <a:srgbClr val="FFFFFF"/>
                  </a:solidFill>
                  <a:latin typeface="Questrial"/>
                  <a:ea typeface="Questrial"/>
                  <a:cs typeface="Questrial"/>
                  <a:sym typeface="Questrial"/>
                </a:rPr>
                <a:t>printf 'hello' | sha256sum</a:t>
              </a:r>
            </a:p>
            <a:p>
              <a:pPr algn="just">
                <a:lnSpc>
                  <a:spcPts val="3751"/>
                </a:lnSpc>
              </a:pPr>
              <a:r>
                <a:rPr lang="en-US" sz="2679">
                  <a:solidFill>
                    <a:srgbClr val="FFFFFF"/>
                  </a:solidFill>
                  <a:latin typeface="Questrial"/>
                  <a:ea typeface="Questrial"/>
                  <a:cs typeface="Questrial"/>
                  <a:sym typeface="Questrial"/>
                </a:rPr>
                <a:t>printf 'Hello' | sha256sum</a:t>
              </a:r>
            </a:p>
          </p:txBody>
        </p:sp>
      </p:grpSp>
      <p:graphicFrame>
        <p:nvGraphicFramePr>
          <p:cNvPr name="Table 18" id="18"/>
          <p:cNvGraphicFramePr>
            <a:graphicFrameLocks noGrp="true"/>
          </p:cNvGraphicFramePr>
          <p:nvPr/>
        </p:nvGraphicFramePr>
        <p:xfrm>
          <a:off x="9850757" y="3321949"/>
          <a:ext cx="6701703" cy="4514850"/>
        </p:xfrm>
        <a:graphic>
          <a:graphicData uri="http://schemas.openxmlformats.org/drawingml/2006/table">
            <a:tbl>
              <a:tblPr/>
              <a:tblGrid>
                <a:gridCol w="3350851"/>
                <a:gridCol w="3350851"/>
              </a:tblGrid>
              <a:tr h="188278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38"/>
                        </a:lnSpc>
                        <a:defRPr/>
                      </a:pPr>
                      <a:r>
                        <a:rPr lang="en-US" b="true" sz="3170">
                          <a:solidFill>
                            <a:srgbClr val="FF0010"/>
                          </a:solidFill>
                          <a:latin typeface="Anantason Bold"/>
                          <a:ea typeface="Anantason Bold"/>
                          <a:cs typeface="Anantason Bold"/>
                          <a:sym typeface="Anantason Bold"/>
                        </a:rPr>
                        <a:t>Input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38"/>
                        </a:lnSpc>
                        <a:defRPr/>
                      </a:pPr>
                      <a:r>
                        <a:rPr lang="en-US" sz="3170" b="true">
                          <a:solidFill>
                            <a:srgbClr val="FFFFFF"/>
                          </a:solidFill>
                          <a:latin typeface="Anantason Bold"/>
                          <a:ea typeface="Anantason Bold"/>
                          <a:cs typeface="Anantason Bold"/>
                          <a:sym typeface="Anantason Bold"/>
                        </a:rPr>
                        <a:t>Beginning of SHA-256 hash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1603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38"/>
                        </a:lnSpc>
                        <a:defRPr/>
                      </a:pPr>
                      <a:r>
                        <a:rPr lang="en-US" b="true" sz="3170">
                          <a:solidFill>
                            <a:srgbClr val="FF0010"/>
                          </a:solidFill>
                          <a:latin typeface="Anantason Bold"/>
                          <a:ea typeface="Anantason Bold"/>
                          <a:cs typeface="Anantason Bold"/>
                          <a:sym typeface="Anantason Bold"/>
                        </a:rPr>
                        <a:t>hello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38"/>
                        </a:lnSpc>
                        <a:defRPr/>
                      </a:pPr>
                      <a:r>
                        <a:rPr lang="en-US" sz="3170" b="true">
                          <a:solidFill>
                            <a:srgbClr val="FFFFFF"/>
                          </a:solidFill>
                          <a:latin typeface="Anantason Bold"/>
                          <a:ea typeface="Anantason Bold"/>
                          <a:cs typeface="Anantason Bold"/>
                          <a:sym typeface="Anantason Bold"/>
                        </a:rPr>
                        <a:t>2cf24dba…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1603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38"/>
                        </a:lnSpc>
                        <a:defRPr/>
                      </a:pPr>
                      <a:r>
                        <a:rPr lang="en-US" b="true" sz="3170">
                          <a:solidFill>
                            <a:srgbClr val="FF0010"/>
                          </a:solidFill>
                          <a:latin typeface="Anantason Bold"/>
                          <a:ea typeface="Anantason Bold"/>
                          <a:cs typeface="Anantason Bold"/>
                          <a:sym typeface="Anantason Bold"/>
                        </a:rPr>
                        <a:t>Hello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38"/>
                        </a:lnSpc>
                        <a:defRPr/>
                      </a:pPr>
                      <a:r>
                        <a:rPr lang="en-US" sz="3170" b="true">
                          <a:solidFill>
                            <a:srgbClr val="FFFFFF"/>
                          </a:solidFill>
                          <a:latin typeface="Anantason Bold"/>
                          <a:ea typeface="Anantason Bold"/>
                          <a:cs typeface="Anantason Bold"/>
                          <a:sym typeface="Anantason Bold"/>
                        </a:rPr>
                        <a:t>185f8db3…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9" id="19"/>
          <p:cNvSpPr txBox="true"/>
          <p:nvPr/>
        </p:nvSpPr>
        <p:spPr>
          <a:xfrm rot="0">
            <a:off x="717002" y="7628072"/>
            <a:ext cx="6950909" cy="436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  <a:spcBef>
                <a:spcPct val="0"/>
              </a:spcBef>
            </a:pPr>
            <a:r>
              <a:rPr lang="en-US" sz="3029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Y</a:t>
            </a:r>
            <a:r>
              <a:rPr lang="en-US" sz="3029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o</a:t>
            </a:r>
            <a:r>
              <a:rPr lang="en-US" sz="3029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u can al</a:t>
            </a:r>
            <a:r>
              <a:rPr lang="en-US" sz="3029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so demonstrate an older hash: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713951" y="8257890"/>
            <a:ext cx="6474856" cy="1000410"/>
            <a:chOff x="0" y="0"/>
            <a:chExt cx="8633142" cy="1333879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5235609" cy="1333879"/>
              <a:chOff x="0" y="0"/>
              <a:chExt cx="1034194" cy="263482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034194" cy="263482"/>
              </a:xfrm>
              <a:custGeom>
                <a:avLst/>
                <a:gdLst/>
                <a:ahLst/>
                <a:cxnLst/>
                <a:rect r="r" b="b" t="t" l="l"/>
                <a:pathLst>
                  <a:path h="263482" w="1034194">
                    <a:moveTo>
                      <a:pt x="88722" y="0"/>
                    </a:moveTo>
                    <a:lnTo>
                      <a:pt x="945472" y="0"/>
                    </a:lnTo>
                    <a:cubicBezTo>
                      <a:pt x="969003" y="0"/>
                      <a:pt x="991570" y="9348"/>
                      <a:pt x="1008208" y="25986"/>
                    </a:cubicBezTo>
                    <a:cubicBezTo>
                      <a:pt x="1024847" y="42625"/>
                      <a:pt x="1034194" y="65192"/>
                      <a:pt x="1034194" y="88722"/>
                    </a:cubicBezTo>
                    <a:lnTo>
                      <a:pt x="1034194" y="174760"/>
                    </a:lnTo>
                    <a:cubicBezTo>
                      <a:pt x="1034194" y="223760"/>
                      <a:pt x="994472" y="263482"/>
                      <a:pt x="945472" y="263482"/>
                    </a:cubicBezTo>
                    <a:lnTo>
                      <a:pt x="88722" y="263482"/>
                    </a:lnTo>
                    <a:cubicBezTo>
                      <a:pt x="39722" y="263482"/>
                      <a:pt x="0" y="223760"/>
                      <a:pt x="0" y="174760"/>
                    </a:cubicBezTo>
                    <a:lnTo>
                      <a:pt x="0" y="88722"/>
                    </a:lnTo>
                    <a:cubicBezTo>
                      <a:pt x="0" y="39722"/>
                      <a:pt x="39722" y="0"/>
                      <a:pt x="88722" y="0"/>
                    </a:cubicBezTo>
                    <a:close/>
                  </a:path>
                </a:pathLst>
              </a:custGeom>
              <a:solidFill>
                <a:srgbClr val="8E8E8E">
                  <a:alpha val="48627"/>
                </a:srgbClr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152400"/>
                <a:ext cx="1034194" cy="4158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38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304882" y="328383"/>
              <a:ext cx="8328260" cy="6109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751"/>
                </a:lnSpc>
              </a:pPr>
              <a:r>
                <a:rPr lang="en-US" sz="2679">
                  <a:solidFill>
                    <a:srgbClr val="FFFFFF"/>
                  </a:solidFill>
                  <a:latin typeface="Questrial"/>
                  <a:ea typeface="Questrial"/>
                  <a:cs typeface="Questrial"/>
                  <a:sym typeface="Questrial"/>
                </a:rPr>
                <a:t>printf 'hello' | md5sum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8275199" y="8513074"/>
            <a:ext cx="9852819" cy="1002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5"/>
              </a:lnSpc>
              <a:spcBef>
                <a:spcPct val="0"/>
              </a:spcBef>
            </a:pPr>
            <a:r>
              <a:rPr lang="en-US" b="true" sz="3500">
                <a:solidFill>
                  <a:srgbClr val="FFFFFF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MD5 and SH</a:t>
            </a:r>
            <a:r>
              <a:rPr lang="en-US" b="true" sz="3500">
                <a:solidFill>
                  <a:srgbClr val="FFFFFF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A-1 hav</a:t>
            </a:r>
            <a:r>
              <a:rPr lang="en-US" b="true" sz="3500">
                <a:solidFill>
                  <a:srgbClr val="FFFFFF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e </a:t>
            </a:r>
            <a:r>
              <a:rPr lang="en-US" b="true" sz="3500">
                <a:solidFill>
                  <a:srgbClr val="F82822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known weaknesses</a:t>
            </a:r>
            <a:r>
              <a:rPr lang="en-US" b="true" sz="3500">
                <a:solidFill>
                  <a:srgbClr val="FFFFFF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 and </a:t>
            </a:r>
            <a:r>
              <a:rPr lang="en-US" b="true" sz="3500">
                <a:solidFill>
                  <a:srgbClr val="F82822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should not</a:t>
            </a:r>
            <a:r>
              <a:rPr lang="en-US" b="true" sz="3500">
                <a:solidFill>
                  <a:srgbClr val="FFFFFF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 serve as </a:t>
            </a:r>
            <a:r>
              <a:rPr lang="en-US" b="true" sz="3500">
                <a:solidFill>
                  <a:srgbClr val="F82822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modern security checks.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81110" y="4793805"/>
            <a:ext cx="6089904" cy="546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8"/>
              </a:lnSpc>
              <a:spcBef>
                <a:spcPct val="0"/>
              </a:spcBef>
            </a:pPr>
            <a:r>
              <a:rPr lang="en-US" sz="2600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 One letter changes the fingerprint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4526" y="2953093"/>
            <a:ext cx="4350482" cy="4470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4"/>
              </a:lnSpc>
            </a:pPr>
            <a:r>
              <a:rPr lang="en-US" sz="7012" b="true">
                <a:solidFill>
                  <a:srgbClr val="FFFFFF"/>
                </a:solidFill>
                <a:latin typeface="Pattanakarn Expanded Medium"/>
                <a:ea typeface="Pattanakarn Expanded Medium"/>
                <a:cs typeface="Pattanakarn Expanded Medium"/>
                <a:sym typeface="Pattanakarn Expanded Medium"/>
              </a:rPr>
              <a:t>Base64 changes the format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6987985" y="801782"/>
            <a:ext cx="542630" cy="453836"/>
          </a:xfrm>
          <a:custGeom>
            <a:avLst/>
            <a:gdLst/>
            <a:ahLst/>
            <a:cxnLst/>
            <a:rect r="r" b="b" t="t" l="l"/>
            <a:pathLst>
              <a:path h="453836" w="542630">
                <a:moveTo>
                  <a:pt x="0" y="0"/>
                </a:moveTo>
                <a:lnTo>
                  <a:pt x="542630" y="0"/>
                </a:lnTo>
                <a:lnTo>
                  <a:pt x="542630" y="453836"/>
                </a:lnTo>
                <a:lnTo>
                  <a:pt x="0" y="4538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2504990" y="-1767157"/>
            <a:ext cx="3086100" cy="308610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12889" y="0"/>
                  </a:moveTo>
                  <a:lnTo>
                    <a:pt x="699911" y="0"/>
                  </a:lnTo>
                  <a:cubicBezTo>
                    <a:pt x="762258" y="0"/>
                    <a:pt x="812800" y="50542"/>
                    <a:pt x="812800" y="112889"/>
                  </a:cubicBezTo>
                  <a:lnTo>
                    <a:pt x="812800" y="699911"/>
                  </a:lnTo>
                  <a:cubicBezTo>
                    <a:pt x="812800" y="762258"/>
                    <a:pt x="762258" y="812800"/>
                    <a:pt x="699911" y="812800"/>
                  </a:cubicBezTo>
                  <a:lnTo>
                    <a:pt x="112889" y="812800"/>
                  </a:lnTo>
                  <a:cubicBezTo>
                    <a:pt x="50542" y="812800"/>
                    <a:pt x="0" y="762258"/>
                    <a:pt x="0" y="699911"/>
                  </a:cubicBezTo>
                  <a:lnTo>
                    <a:pt x="0" y="112889"/>
                  </a:lnTo>
                  <a:cubicBezTo>
                    <a:pt x="0" y="50542"/>
                    <a:pt x="50542" y="0"/>
                    <a:pt x="112889" y="0"/>
                  </a:cubicBezTo>
                  <a:close/>
                </a:path>
              </a:pathLst>
            </a:custGeom>
            <a:solidFill>
              <a:srgbClr val="FF001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52400"/>
              <a:ext cx="812800" cy="965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620581" y="3434508"/>
            <a:ext cx="3827411" cy="1040128"/>
            <a:chOff x="0" y="0"/>
            <a:chExt cx="1008042" cy="27394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08042" cy="273943"/>
            </a:xfrm>
            <a:custGeom>
              <a:avLst/>
              <a:gdLst/>
              <a:ahLst/>
              <a:cxnLst/>
              <a:rect r="r" b="b" t="t" l="l"/>
              <a:pathLst>
                <a:path h="273943" w="1008042">
                  <a:moveTo>
                    <a:pt x="91024" y="0"/>
                  </a:moveTo>
                  <a:lnTo>
                    <a:pt x="917018" y="0"/>
                  </a:lnTo>
                  <a:cubicBezTo>
                    <a:pt x="941159" y="0"/>
                    <a:pt x="964312" y="9590"/>
                    <a:pt x="981382" y="26660"/>
                  </a:cubicBezTo>
                  <a:cubicBezTo>
                    <a:pt x="998452" y="43731"/>
                    <a:pt x="1008042" y="66883"/>
                    <a:pt x="1008042" y="91024"/>
                  </a:cubicBezTo>
                  <a:lnTo>
                    <a:pt x="1008042" y="182919"/>
                  </a:lnTo>
                  <a:cubicBezTo>
                    <a:pt x="1008042" y="207060"/>
                    <a:pt x="998452" y="230213"/>
                    <a:pt x="981382" y="247283"/>
                  </a:cubicBezTo>
                  <a:cubicBezTo>
                    <a:pt x="964312" y="264353"/>
                    <a:pt x="941159" y="273943"/>
                    <a:pt x="917018" y="273943"/>
                  </a:cubicBezTo>
                  <a:lnTo>
                    <a:pt x="91024" y="273943"/>
                  </a:lnTo>
                  <a:cubicBezTo>
                    <a:pt x="66883" y="273943"/>
                    <a:pt x="43731" y="264353"/>
                    <a:pt x="26660" y="247283"/>
                  </a:cubicBezTo>
                  <a:cubicBezTo>
                    <a:pt x="9590" y="230213"/>
                    <a:pt x="0" y="207060"/>
                    <a:pt x="0" y="182919"/>
                  </a:cubicBezTo>
                  <a:lnTo>
                    <a:pt x="0" y="91024"/>
                  </a:lnTo>
                  <a:cubicBezTo>
                    <a:pt x="0" y="66883"/>
                    <a:pt x="9590" y="43731"/>
                    <a:pt x="26660" y="26660"/>
                  </a:cubicBezTo>
                  <a:cubicBezTo>
                    <a:pt x="43731" y="9590"/>
                    <a:pt x="66883" y="0"/>
                    <a:pt x="91024" y="0"/>
                  </a:cubicBezTo>
                  <a:close/>
                </a:path>
              </a:pathLst>
            </a:custGeom>
            <a:solidFill>
              <a:srgbClr val="8E8E8E">
                <a:alpha val="48627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52400"/>
              <a:ext cx="1008042" cy="4263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620581" y="5586260"/>
            <a:ext cx="2174273" cy="1040128"/>
            <a:chOff x="0" y="0"/>
            <a:chExt cx="572648" cy="27394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2648" cy="273943"/>
            </a:xfrm>
            <a:custGeom>
              <a:avLst/>
              <a:gdLst/>
              <a:ahLst/>
              <a:cxnLst/>
              <a:rect r="r" b="b" t="t" l="l"/>
              <a:pathLst>
                <a:path h="273943" w="572648">
                  <a:moveTo>
                    <a:pt x="136972" y="0"/>
                  </a:moveTo>
                  <a:lnTo>
                    <a:pt x="435677" y="0"/>
                  </a:lnTo>
                  <a:cubicBezTo>
                    <a:pt x="511324" y="0"/>
                    <a:pt x="572648" y="61324"/>
                    <a:pt x="572648" y="136972"/>
                  </a:cubicBezTo>
                  <a:lnTo>
                    <a:pt x="572648" y="136972"/>
                  </a:lnTo>
                  <a:cubicBezTo>
                    <a:pt x="572648" y="173299"/>
                    <a:pt x="558217" y="208138"/>
                    <a:pt x="532530" y="233825"/>
                  </a:cubicBezTo>
                  <a:cubicBezTo>
                    <a:pt x="506843" y="259512"/>
                    <a:pt x="472004" y="273943"/>
                    <a:pt x="435677" y="273943"/>
                  </a:cubicBezTo>
                  <a:lnTo>
                    <a:pt x="136972" y="273943"/>
                  </a:lnTo>
                  <a:cubicBezTo>
                    <a:pt x="61324" y="273943"/>
                    <a:pt x="0" y="212619"/>
                    <a:pt x="0" y="136972"/>
                  </a:cubicBezTo>
                  <a:lnTo>
                    <a:pt x="0" y="136972"/>
                  </a:lnTo>
                  <a:cubicBezTo>
                    <a:pt x="0" y="61324"/>
                    <a:pt x="61324" y="0"/>
                    <a:pt x="136972" y="0"/>
                  </a:cubicBezTo>
                  <a:close/>
                </a:path>
              </a:pathLst>
            </a:custGeom>
            <a:solidFill>
              <a:srgbClr val="8E8E8E">
                <a:alpha val="48627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52400"/>
              <a:ext cx="572648" cy="4263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620581" y="7750014"/>
            <a:ext cx="5018962" cy="1040128"/>
            <a:chOff x="0" y="0"/>
            <a:chExt cx="1321867" cy="27394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21867" cy="273943"/>
            </a:xfrm>
            <a:custGeom>
              <a:avLst/>
              <a:gdLst/>
              <a:ahLst/>
              <a:cxnLst/>
              <a:rect r="r" b="b" t="t" l="l"/>
              <a:pathLst>
                <a:path h="273943" w="1321867">
                  <a:moveTo>
                    <a:pt x="69414" y="0"/>
                  </a:moveTo>
                  <a:lnTo>
                    <a:pt x="1252453" y="0"/>
                  </a:lnTo>
                  <a:cubicBezTo>
                    <a:pt x="1270862" y="0"/>
                    <a:pt x="1288518" y="7313"/>
                    <a:pt x="1301536" y="20331"/>
                  </a:cubicBezTo>
                  <a:cubicBezTo>
                    <a:pt x="1314553" y="33349"/>
                    <a:pt x="1321867" y="51004"/>
                    <a:pt x="1321867" y="69414"/>
                  </a:cubicBezTo>
                  <a:lnTo>
                    <a:pt x="1321867" y="204529"/>
                  </a:lnTo>
                  <a:cubicBezTo>
                    <a:pt x="1321867" y="222939"/>
                    <a:pt x="1314553" y="240595"/>
                    <a:pt x="1301536" y="253612"/>
                  </a:cubicBezTo>
                  <a:cubicBezTo>
                    <a:pt x="1288518" y="266630"/>
                    <a:pt x="1270862" y="273943"/>
                    <a:pt x="1252453" y="273943"/>
                  </a:cubicBezTo>
                  <a:lnTo>
                    <a:pt x="69414" y="273943"/>
                  </a:lnTo>
                  <a:cubicBezTo>
                    <a:pt x="31078" y="273943"/>
                    <a:pt x="0" y="242865"/>
                    <a:pt x="0" y="204529"/>
                  </a:cubicBezTo>
                  <a:lnTo>
                    <a:pt x="0" y="69414"/>
                  </a:lnTo>
                  <a:cubicBezTo>
                    <a:pt x="0" y="51004"/>
                    <a:pt x="7313" y="33349"/>
                    <a:pt x="20331" y="20331"/>
                  </a:cubicBezTo>
                  <a:cubicBezTo>
                    <a:pt x="33349" y="7313"/>
                    <a:pt x="51004" y="0"/>
                    <a:pt x="69414" y="0"/>
                  </a:cubicBezTo>
                  <a:close/>
                </a:path>
              </a:pathLst>
            </a:custGeom>
            <a:solidFill>
              <a:srgbClr val="8E8E8E">
                <a:alpha val="48627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52400"/>
              <a:ext cx="1321867" cy="4263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  <p:sp>
        <p:nvSpPr>
          <p:cNvPr name="AutoShape 16" id="16"/>
          <p:cNvSpPr/>
          <p:nvPr/>
        </p:nvSpPr>
        <p:spPr>
          <a:xfrm flipV="true">
            <a:off x="4795007" y="1670115"/>
            <a:ext cx="19050" cy="5753809"/>
          </a:xfrm>
          <a:prstGeom prst="line">
            <a:avLst/>
          </a:prstGeom>
          <a:ln cap="flat" w="38100">
            <a:solidFill>
              <a:srgbClr val="FF001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11312399" y="2919584"/>
            <a:ext cx="5675586" cy="4114800"/>
          </a:xfrm>
          <a:custGeom>
            <a:avLst/>
            <a:gdLst/>
            <a:ahLst/>
            <a:cxnLst/>
            <a:rect r="r" b="b" t="t" l="l"/>
            <a:pathLst>
              <a:path h="4114800" w="5675586">
                <a:moveTo>
                  <a:pt x="0" y="0"/>
                </a:moveTo>
                <a:lnTo>
                  <a:pt x="5675586" y="0"/>
                </a:lnTo>
                <a:lnTo>
                  <a:pt x="567558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63363" y="995653"/>
            <a:ext cx="2026742" cy="2044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78"/>
              </a:lnSpc>
            </a:pPr>
            <a:r>
              <a:rPr lang="en-US" sz="9803">
                <a:solidFill>
                  <a:srgbClr val="FF0010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21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28700" y="344207"/>
            <a:ext cx="5483560" cy="693251"/>
            <a:chOff x="0" y="0"/>
            <a:chExt cx="7311413" cy="924334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0" y="411367"/>
              <a:ext cx="6462648" cy="512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226"/>
                </a:lnSpc>
              </a:pPr>
              <a:r>
                <a:rPr lang="en-US" sz="1970">
                  <a:solidFill>
                    <a:srgbClr val="FFFFFF"/>
                  </a:solidFill>
                  <a:latin typeface="Pattanakarn Expanded"/>
                  <a:ea typeface="Pattanakarn Expanded"/>
                  <a:cs typeface="Pattanakarn Expanded"/>
                  <a:sym typeface="Pattanakarn Expanded"/>
                </a:rPr>
                <a:t>DECODE .  DEFEND . DOMINATE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-114300"/>
              <a:ext cx="7311413" cy="5059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226"/>
                </a:lnSpc>
              </a:pPr>
              <a:r>
                <a:rPr lang="en-US" sz="1970">
                  <a:solidFill>
                    <a:srgbClr val="FF0010"/>
                  </a:solidFill>
                  <a:latin typeface="Pattanakarn Expanded"/>
                  <a:ea typeface="Pattanakarn Expanded"/>
                  <a:cs typeface="Pattanakarn Expanded"/>
                  <a:sym typeface="Pattanakarn Expanded"/>
                </a:rPr>
                <a:t>PROTOCOL CYBERSECURITY CLUB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5849242" y="1043553"/>
            <a:ext cx="9881807" cy="1250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1"/>
              </a:lnSpc>
              <a:spcBef>
                <a:spcPct val="0"/>
              </a:spcBef>
            </a:pPr>
            <a:r>
              <a:rPr lang="en-US" sz="3540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Ba</a:t>
            </a:r>
            <a:r>
              <a:rPr lang="en-US" sz="3540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se64 represents data using a </a:t>
            </a:r>
            <a:r>
              <a:rPr lang="en-US" sz="3540">
                <a:solidFill>
                  <a:srgbClr val="F82822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set of printable characters</a:t>
            </a:r>
            <a:r>
              <a:rPr lang="en-US" sz="3540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833195" y="2672832"/>
            <a:ext cx="1732998" cy="54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4"/>
              </a:lnSpc>
              <a:spcBef>
                <a:spcPct val="0"/>
              </a:spcBef>
            </a:pPr>
            <a:r>
              <a:rPr lang="en-US" sz="2640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E</a:t>
            </a:r>
            <a:r>
              <a:rPr lang="en-US" sz="2640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NCODE: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849242" y="3664127"/>
            <a:ext cx="6246195" cy="474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51"/>
              </a:lnSpc>
            </a:pPr>
            <a:r>
              <a:rPr lang="en-US" sz="2679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printf 'hello' | base64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833195" y="4824584"/>
            <a:ext cx="1732998" cy="54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4"/>
              </a:lnSpc>
              <a:spcBef>
                <a:spcPct val="0"/>
              </a:spcBef>
            </a:pPr>
            <a:r>
              <a:rPr lang="en-US" sz="2640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OUTPUT</a:t>
            </a:r>
            <a:r>
              <a:rPr lang="en-US" sz="2640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: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849242" y="5815879"/>
            <a:ext cx="6246195" cy="474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51"/>
              </a:lnSpc>
            </a:pPr>
            <a:r>
              <a:rPr lang="en-US" sz="2679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aGVsbG8=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833195" y="6988338"/>
            <a:ext cx="1732998" cy="54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4"/>
              </a:lnSpc>
              <a:spcBef>
                <a:spcPct val="0"/>
              </a:spcBef>
            </a:pPr>
            <a:r>
              <a:rPr lang="en-US" sz="2640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E</a:t>
            </a:r>
            <a:r>
              <a:rPr lang="en-US" sz="2640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NCODE: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849242" y="7979632"/>
            <a:ext cx="6246195" cy="474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51"/>
              </a:lnSpc>
            </a:pPr>
            <a:r>
              <a:rPr lang="en-US" sz="2679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printf 'aGVsbG8=' | base64 -d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823772" y="9113992"/>
            <a:ext cx="3421030" cy="636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  <a:spcBef>
                <a:spcPct val="0"/>
              </a:spcBef>
            </a:pPr>
            <a:r>
              <a:rPr lang="en-US" sz="3040">
                <a:solidFill>
                  <a:srgbClr val="F82822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Result</a:t>
            </a:r>
            <a:r>
              <a:rPr lang="en-US" sz="3040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: hello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484330" y="7715043"/>
            <a:ext cx="6046285" cy="1497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5"/>
              </a:lnSpc>
              <a:spcBef>
                <a:spcPct val="0"/>
              </a:spcBef>
            </a:pPr>
            <a:r>
              <a:rPr lang="en-US" sz="350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A</a:t>
            </a:r>
            <a:r>
              <a:rPr lang="en-US" sz="350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nyone can decode</a:t>
            </a:r>
            <a:r>
              <a:rPr lang="en-US" sz="350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 Base64 wit</a:t>
            </a:r>
            <a:r>
              <a:rPr lang="en-US" sz="350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hout a</a:t>
            </a:r>
            <a:r>
              <a:rPr lang="en-US" sz="350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 secret key. It </a:t>
            </a:r>
            <a:r>
              <a:rPr lang="en-US" sz="3500">
                <a:solidFill>
                  <a:srgbClr val="F82822"/>
                </a:solidFill>
                <a:latin typeface="Anantason"/>
                <a:ea typeface="Anantason"/>
                <a:cs typeface="Anantason"/>
                <a:sym typeface="Anantason"/>
              </a:rPr>
              <a:t>does not provide secrecy.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987985" y="801782"/>
            <a:ext cx="542630" cy="453836"/>
          </a:xfrm>
          <a:custGeom>
            <a:avLst/>
            <a:gdLst/>
            <a:ahLst/>
            <a:cxnLst/>
            <a:rect r="r" b="b" t="t" l="l"/>
            <a:pathLst>
              <a:path h="453836" w="542630">
                <a:moveTo>
                  <a:pt x="0" y="0"/>
                </a:moveTo>
                <a:lnTo>
                  <a:pt x="542630" y="0"/>
                </a:lnTo>
                <a:lnTo>
                  <a:pt x="542630" y="453836"/>
                </a:lnTo>
                <a:lnTo>
                  <a:pt x="0" y="4538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504990" y="-1767157"/>
            <a:ext cx="3086100" cy="30861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12889" y="0"/>
                  </a:moveTo>
                  <a:lnTo>
                    <a:pt x="699911" y="0"/>
                  </a:lnTo>
                  <a:cubicBezTo>
                    <a:pt x="762258" y="0"/>
                    <a:pt x="812800" y="50542"/>
                    <a:pt x="812800" y="112889"/>
                  </a:cubicBezTo>
                  <a:lnTo>
                    <a:pt x="812800" y="699911"/>
                  </a:lnTo>
                  <a:cubicBezTo>
                    <a:pt x="812800" y="762258"/>
                    <a:pt x="762258" y="812800"/>
                    <a:pt x="699911" y="812800"/>
                  </a:cubicBezTo>
                  <a:lnTo>
                    <a:pt x="112889" y="812800"/>
                  </a:lnTo>
                  <a:cubicBezTo>
                    <a:pt x="50542" y="812800"/>
                    <a:pt x="0" y="762258"/>
                    <a:pt x="0" y="699911"/>
                  </a:cubicBezTo>
                  <a:lnTo>
                    <a:pt x="0" y="112889"/>
                  </a:lnTo>
                  <a:cubicBezTo>
                    <a:pt x="0" y="50542"/>
                    <a:pt x="50542" y="0"/>
                    <a:pt x="112889" y="0"/>
                  </a:cubicBezTo>
                  <a:close/>
                </a:path>
              </a:pathLst>
            </a:custGeom>
            <a:solidFill>
              <a:srgbClr val="FF001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52400"/>
              <a:ext cx="812800" cy="965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 flipH="true">
            <a:off x="9144000" y="1677630"/>
            <a:ext cx="19050" cy="7032545"/>
          </a:xfrm>
          <a:prstGeom prst="line">
            <a:avLst/>
          </a:prstGeom>
          <a:ln cap="flat" w="38100">
            <a:solidFill>
              <a:srgbClr val="FF001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581110" y="1258530"/>
            <a:ext cx="7857119" cy="2603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78"/>
              </a:lnSpc>
            </a:pPr>
            <a:r>
              <a:rPr lang="en-US" sz="7414" b="true">
                <a:solidFill>
                  <a:srgbClr val="FFFFFF"/>
                </a:solidFill>
                <a:latin typeface="Pattanakarn Expanded Medium"/>
                <a:ea typeface="Pattanakarn Expanded Medium"/>
                <a:cs typeface="Pattanakarn Expanded Medium"/>
                <a:sym typeface="Pattanakarn Expanded Medium"/>
              </a:rPr>
              <a:t>Binwalk, the file detective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740715" y="-345117"/>
            <a:ext cx="1639128" cy="1664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7928">
                <a:solidFill>
                  <a:srgbClr val="FF0010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22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-451449" y="9791700"/>
            <a:ext cx="6751767" cy="1439440"/>
            <a:chOff x="0" y="0"/>
            <a:chExt cx="1778243" cy="37911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78243" cy="379112"/>
            </a:xfrm>
            <a:custGeom>
              <a:avLst/>
              <a:gdLst/>
              <a:ahLst/>
              <a:cxnLst/>
              <a:rect r="r" b="b" t="t" l="l"/>
              <a:pathLst>
                <a:path h="379112" w="1778243">
                  <a:moveTo>
                    <a:pt x="51599" y="0"/>
                  </a:moveTo>
                  <a:lnTo>
                    <a:pt x="1726644" y="0"/>
                  </a:lnTo>
                  <a:cubicBezTo>
                    <a:pt x="1755141" y="0"/>
                    <a:pt x="1778243" y="23102"/>
                    <a:pt x="1778243" y="51599"/>
                  </a:cubicBezTo>
                  <a:lnTo>
                    <a:pt x="1778243" y="327512"/>
                  </a:lnTo>
                  <a:cubicBezTo>
                    <a:pt x="1778243" y="341197"/>
                    <a:pt x="1772807" y="354322"/>
                    <a:pt x="1763130" y="363999"/>
                  </a:cubicBezTo>
                  <a:cubicBezTo>
                    <a:pt x="1753453" y="373675"/>
                    <a:pt x="1740329" y="379112"/>
                    <a:pt x="1726644" y="379112"/>
                  </a:cubicBezTo>
                  <a:lnTo>
                    <a:pt x="51599" y="379112"/>
                  </a:lnTo>
                  <a:cubicBezTo>
                    <a:pt x="23102" y="379112"/>
                    <a:pt x="0" y="356010"/>
                    <a:pt x="0" y="327512"/>
                  </a:cubicBezTo>
                  <a:lnTo>
                    <a:pt x="0" y="51599"/>
                  </a:lnTo>
                  <a:cubicBezTo>
                    <a:pt x="0" y="23102"/>
                    <a:pt x="23102" y="0"/>
                    <a:pt x="51599" y="0"/>
                  </a:cubicBezTo>
                  <a:close/>
                </a:path>
              </a:pathLst>
            </a:custGeom>
            <a:solidFill>
              <a:srgbClr val="FF001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52400"/>
              <a:ext cx="1778243" cy="531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403925" y="9791700"/>
            <a:ext cx="6751767" cy="1439440"/>
            <a:chOff x="0" y="0"/>
            <a:chExt cx="1778243" cy="37911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78243" cy="379112"/>
            </a:xfrm>
            <a:custGeom>
              <a:avLst/>
              <a:gdLst/>
              <a:ahLst/>
              <a:cxnLst/>
              <a:rect r="r" b="b" t="t" l="l"/>
              <a:pathLst>
                <a:path h="379112" w="1778243">
                  <a:moveTo>
                    <a:pt x="51599" y="0"/>
                  </a:moveTo>
                  <a:lnTo>
                    <a:pt x="1726644" y="0"/>
                  </a:lnTo>
                  <a:cubicBezTo>
                    <a:pt x="1755141" y="0"/>
                    <a:pt x="1778243" y="23102"/>
                    <a:pt x="1778243" y="51599"/>
                  </a:cubicBezTo>
                  <a:lnTo>
                    <a:pt x="1778243" y="327512"/>
                  </a:lnTo>
                  <a:cubicBezTo>
                    <a:pt x="1778243" y="341197"/>
                    <a:pt x="1772807" y="354322"/>
                    <a:pt x="1763130" y="363999"/>
                  </a:cubicBezTo>
                  <a:cubicBezTo>
                    <a:pt x="1753453" y="373675"/>
                    <a:pt x="1740329" y="379112"/>
                    <a:pt x="1726644" y="379112"/>
                  </a:cubicBezTo>
                  <a:lnTo>
                    <a:pt x="51599" y="379112"/>
                  </a:lnTo>
                  <a:cubicBezTo>
                    <a:pt x="23102" y="379112"/>
                    <a:pt x="0" y="356010"/>
                    <a:pt x="0" y="327512"/>
                  </a:cubicBezTo>
                  <a:lnTo>
                    <a:pt x="0" y="51599"/>
                  </a:lnTo>
                  <a:cubicBezTo>
                    <a:pt x="0" y="23102"/>
                    <a:pt x="23102" y="0"/>
                    <a:pt x="51599" y="0"/>
                  </a:cubicBezTo>
                  <a:close/>
                </a:path>
              </a:pathLst>
            </a:custGeom>
            <a:solidFill>
              <a:srgbClr val="FF001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52400"/>
              <a:ext cx="1778243" cy="531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7259300" y="9791700"/>
            <a:ext cx="6751767" cy="1439440"/>
            <a:chOff x="0" y="0"/>
            <a:chExt cx="1778243" cy="37911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78243" cy="379112"/>
            </a:xfrm>
            <a:custGeom>
              <a:avLst/>
              <a:gdLst/>
              <a:ahLst/>
              <a:cxnLst/>
              <a:rect r="r" b="b" t="t" l="l"/>
              <a:pathLst>
                <a:path h="379112" w="1778243">
                  <a:moveTo>
                    <a:pt x="51599" y="0"/>
                  </a:moveTo>
                  <a:lnTo>
                    <a:pt x="1726644" y="0"/>
                  </a:lnTo>
                  <a:cubicBezTo>
                    <a:pt x="1755141" y="0"/>
                    <a:pt x="1778243" y="23102"/>
                    <a:pt x="1778243" y="51599"/>
                  </a:cubicBezTo>
                  <a:lnTo>
                    <a:pt x="1778243" y="327512"/>
                  </a:lnTo>
                  <a:cubicBezTo>
                    <a:pt x="1778243" y="341197"/>
                    <a:pt x="1772807" y="354322"/>
                    <a:pt x="1763130" y="363999"/>
                  </a:cubicBezTo>
                  <a:cubicBezTo>
                    <a:pt x="1753453" y="373675"/>
                    <a:pt x="1740329" y="379112"/>
                    <a:pt x="1726644" y="379112"/>
                  </a:cubicBezTo>
                  <a:lnTo>
                    <a:pt x="51599" y="379112"/>
                  </a:lnTo>
                  <a:cubicBezTo>
                    <a:pt x="23102" y="379112"/>
                    <a:pt x="0" y="356010"/>
                    <a:pt x="0" y="327512"/>
                  </a:cubicBezTo>
                  <a:lnTo>
                    <a:pt x="0" y="51599"/>
                  </a:lnTo>
                  <a:cubicBezTo>
                    <a:pt x="0" y="23102"/>
                    <a:pt x="23102" y="0"/>
                    <a:pt x="51599" y="0"/>
                  </a:cubicBezTo>
                  <a:close/>
                </a:path>
              </a:pathLst>
            </a:custGeom>
            <a:solidFill>
              <a:srgbClr val="FF001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52400"/>
              <a:ext cx="1778243" cy="531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28700" y="344207"/>
            <a:ext cx="5483560" cy="693251"/>
            <a:chOff x="0" y="0"/>
            <a:chExt cx="7311413" cy="924334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411367"/>
              <a:ext cx="6462648" cy="512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226"/>
                </a:lnSpc>
              </a:pPr>
              <a:r>
                <a:rPr lang="en-US" sz="1970">
                  <a:solidFill>
                    <a:srgbClr val="FFFFFF"/>
                  </a:solidFill>
                  <a:latin typeface="Pattanakarn Expanded"/>
                  <a:ea typeface="Pattanakarn Expanded"/>
                  <a:cs typeface="Pattanakarn Expanded"/>
                  <a:sym typeface="Pattanakarn Expanded"/>
                </a:rPr>
                <a:t>DECODE .  DEFEND . DOMINATE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-114300"/>
              <a:ext cx="7311413" cy="5059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226"/>
                </a:lnSpc>
              </a:pPr>
              <a:r>
                <a:rPr lang="en-US" sz="1970">
                  <a:solidFill>
                    <a:srgbClr val="FF0010"/>
                  </a:solidFill>
                  <a:latin typeface="Pattanakarn Expanded"/>
                  <a:ea typeface="Pattanakarn Expanded"/>
                  <a:cs typeface="Pattanakarn Expanded"/>
                  <a:sym typeface="Pattanakarn Expanded"/>
                </a:rPr>
                <a:t>PROTOCOL CYBERSECURITY CLUB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028700" y="4105721"/>
            <a:ext cx="7653448" cy="1292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0"/>
              </a:lnSpc>
              <a:spcBef>
                <a:spcPct val="0"/>
              </a:spcBef>
            </a:pPr>
            <a:r>
              <a:rPr lang="en-US" sz="3682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A</a:t>
            </a:r>
            <a:r>
              <a:rPr lang="en-US" sz="3682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 file can contain </a:t>
            </a:r>
            <a:r>
              <a:rPr lang="en-US" sz="3682">
                <a:solidFill>
                  <a:srgbClr val="F82822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other files</a:t>
            </a:r>
            <a:r>
              <a:rPr lang="en-US" sz="3682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 or </a:t>
            </a:r>
            <a:r>
              <a:rPr lang="en-US" sz="3682">
                <a:solidFill>
                  <a:srgbClr val="F82822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embedded data</a:t>
            </a:r>
            <a:r>
              <a:rPr lang="en-US" sz="3682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8700" y="5813898"/>
            <a:ext cx="7359690" cy="2260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1"/>
              </a:lnSpc>
            </a:pPr>
            <a:r>
              <a:rPr lang="en-US" sz="3540">
                <a:solidFill>
                  <a:srgbClr val="F82822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Example:</a:t>
            </a:r>
          </a:p>
          <a:p>
            <a:pPr algn="l">
              <a:lnSpc>
                <a:spcPts val="4001"/>
              </a:lnSpc>
              <a:spcBef>
                <a:spcPct val="0"/>
              </a:spcBef>
            </a:pPr>
            <a:r>
              <a:rPr lang="en-US" sz="3540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A</a:t>
            </a:r>
            <a:r>
              <a:rPr lang="en-US" sz="3540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 picture might contain an</a:t>
            </a:r>
            <a:r>
              <a:rPr lang="en-US" sz="3540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 appended ZIP archive</a:t>
            </a:r>
            <a:r>
              <a:rPr lang="en-US" sz="3540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.</a:t>
            </a:r>
          </a:p>
          <a:p>
            <a:pPr algn="l">
              <a:lnSpc>
                <a:spcPts val="4001"/>
              </a:lnSpc>
              <a:spcBef>
                <a:spcPct val="0"/>
              </a:spcBef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8592868" y="2915847"/>
            <a:ext cx="1595678" cy="474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51"/>
              </a:lnSpc>
            </a:pPr>
          </a:p>
        </p:txBody>
      </p:sp>
      <p:grpSp>
        <p:nvGrpSpPr>
          <p:cNvPr name="Group 24" id="24"/>
          <p:cNvGrpSpPr/>
          <p:nvPr/>
        </p:nvGrpSpPr>
        <p:grpSpPr>
          <a:xfrm rot="0">
            <a:off x="1028700" y="8043801"/>
            <a:ext cx="3827411" cy="1332749"/>
            <a:chOff x="0" y="0"/>
            <a:chExt cx="5103214" cy="1776998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4554136" cy="1776998"/>
              <a:chOff x="0" y="0"/>
              <a:chExt cx="899582" cy="351012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99582" cy="351012"/>
              </a:xfrm>
              <a:custGeom>
                <a:avLst/>
                <a:gdLst/>
                <a:ahLst/>
                <a:cxnLst/>
                <a:rect r="r" b="b" t="t" l="l"/>
                <a:pathLst>
                  <a:path h="351012" w="899582">
                    <a:moveTo>
                      <a:pt x="101999" y="0"/>
                    </a:moveTo>
                    <a:lnTo>
                      <a:pt x="797584" y="0"/>
                    </a:lnTo>
                    <a:cubicBezTo>
                      <a:pt x="853916" y="0"/>
                      <a:pt x="899582" y="45666"/>
                      <a:pt x="899582" y="101999"/>
                    </a:cubicBezTo>
                    <a:lnTo>
                      <a:pt x="899582" y="249013"/>
                    </a:lnTo>
                    <a:cubicBezTo>
                      <a:pt x="899582" y="276065"/>
                      <a:pt x="888836" y="302009"/>
                      <a:pt x="869708" y="321137"/>
                    </a:cubicBezTo>
                    <a:cubicBezTo>
                      <a:pt x="850579" y="340266"/>
                      <a:pt x="824635" y="351012"/>
                      <a:pt x="797584" y="351012"/>
                    </a:cubicBezTo>
                    <a:lnTo>
                      <a:pt x="101999" y="351012"/>
                    </a:lnTo>
                    <a:cubicBezTo>
                      <a:pt x="74947" y="351012"/>
                      <a:pt x="49003" y="340266"/>
                      <a:pt x="29875" y="321137"/>
                    </a:cubicBezTo>
                    <a:cubicBezTo>
                      <a:pt x="10746" y="302009"/>
                      <a:pt x="0" y="276065"/>
                      <a:pt x="0" y="249013"/>
                    </a:cubicBezTo>
                    <a:lnTo>
                      <a:pt x="0" y="101999"/>
                    </a:lnTo>
                    <a:cubicBezTo>
                      <a:pt x="0" y="45666"/>
                      <a:pt x="45666" y="0"/>
                      <a:pt x="101999" y="0"/>
                    </a:cubicBezTo>
                    <a:close/>
                  </a:path>
                </a:pathLst>
              </a:custGeom>
              <a:solidFill>
                <a:srgbClr val="8E8E8E">
                  <a:alpha val="48627"/>
                </a:srgbClr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152400"/>
                <a:ext cx="899582" cy="50341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38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304882" y="562331"/>
              <a:ext cx="4798333" cy="6109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751"/>
                </a:lnSpc>
              </a:pPr>
              <a:r>
                <a:rPr lang="en-US" sz="2679">
                  <a:solidFill>
                    <a:srgbClr val="FFFFFF"/>
                  </a:solidFill>
                  <a:latin typeface="Questrial"/>
                  <a:ea typeface="Questrial"/>
                  <a:cs typeface="Questrial"/>
                  <a:sym typeface="Questrial"/>
                </a:rPr>
                <a:t>binwalk image.jpg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328281" y="1881162"/>
            <a:ext cx="3827411" cy="1332749"/>
            <a:chOff x="0" y="0"/>
            <a:chExt cx="5103214" cy="1776998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4950773" cy="1776998"/>
              <a:chOff x="0" y="0"/>
              <a:chExt cx="977931" cy="351012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977931" cy="351012"/>
              </a:xfrm>
              <a:custGeom>
                <a:avLst/>
                <a:gdLst/>
                <a:ahLst/>
                <a:cxnLst/>
                <a:rect r="r" b="b" t="t" l="l"/>
                <a:pathLst>
                  <a:path h="351012" w="977931">
                    <a:moveTo>
                      <a:pt x="93827" y="0"/>
                    </a:moveTo>
                    <a:lnTo>
                      <a:pt x="884104" y="0"/>
                    </a:lnTo>
                    <a:cubicBezTo>
                      <a:pt x="908988" y="0"/>
                      <a:pt x="932853" y="9885"/>
                      <a:pt x="950449" y="27481"/>
                    </a:cubicBezTo>
                    <a:cubicBezTo>
                      <a:pt x="968045" y="45077"/>
                      <a:pt x="977931" y="68942"/>
                      <a:pt x="977931" y="93827"/>
                    </a:cubicBezTo>
                    <a:lnTo>
                      <a:pt x="977931" y="257185"/>
                    </a:lnTo>
                    <a:cubicBezTo>
                      <a:pt x="977931" y="309004"/>
                      <a:pt x="935923" y="351012"/>
                      <a:pt x="884104" y="351012"/>
                    </a:cubicBezTo>
                    <a:lnTo>
                      <a:pt x="93827" y="351012"/>
                    </a:lnTo>
                    <a:cubicBezTo>
                      <a:pt x="68942" y="351012"/>
                      <a:pt x="45077" y="341127"/>
                      <a:pt x="27481" y="323531"/>
                    </a:cubicBezTo>
                    <a:cubicBezTo>
                      <a:pt x="9885" y="305935"/>
                      <a:pt x="0" y="282070"/>
                      <a:pt x="0" y="257185"/>
                    </a:cubicBezTo>
                    <a:lnTo>
                      <a:pt x="0" y="93827"/>
                    </a:lnTo>
                    <a:cubicBezTo>
                      <a:pt x="0" y="68942"/>
                      <a:pt x="9885" y="45077"/>
                      <a:pt x="27481" y="27481"/>
                    </a:cubicBezTo>
                    <a:cubicBezTo>
                      <a:pt x="45077" y="9885"/>
                      <a:pt x="68942" y="0"/>
                      <a:pt x="93827" y="0"/>
                    </a:cubicBezTo>
                    <a:close/>
                  </a:path>
                </a:pathLst>
              </a:custGeom>
              <a:solidFill>
                <a:srgbClr val="8E8E8E">
                  <a:alpha val="48627"/>
                </a:srgbClr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152400"/>
                <a:ext cx="977931" cy="50341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38"/>
                  </a:lnSpc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304882" y="562331"/>
              <a:ext cx="4798333" cy="6109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751"/>
                </a:lnSpc>
              </a:pPr>
              <a:r>
                <a:rPr lang="en-US" sz="2679">
                  <a:solidFill>
                    <a:srgbClr val="FFFFFF"/>
                  </a:solidFill>
                  <a:latin typeface="Questrial"/>
                  <a:ea typeface="Questrial"/>
                  <a:cs typeface="Questrial"/>
                  <a:sym typeface="Questrial"/>
                </a:rPr>
                <a:t>binwalk -e image.jpg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9877166" y="3566579"/>
            <a:ext cx="7653448" cy="1290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0"/>
              </a:lnSpc>
              <a:spcBef>
                <a:spcPct val="0"/>
              </a:spcBef>
            </a:pPr>
            <a:r>
              <a:rPr lang="en-US" sz="3682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Att</a:t>
            </a:r>
            <a:r>
              <a:rPr lang="en-US" sz="3682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empts to </a:t>
            </a:r>
            <a:r>
              <a:rPr lang="en-US" sz="3682">
                <a:solidFill>
                  <a:srgbClr val="F82822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extract supported embedded content.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425382" y="6320722"/>
            <a:ext cx="8557018" cy="1256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1"/>
              </a:lnSpc>
              <a:spcBef>
                <a:spcPct val="0"/>
              </a:spcBef>
            </a:pPr>
            <a:r>
              <a:rPr lang="en-US" b="true" sz="3443">
                <a:solidFill>
                  <a:srgbClr val="FFFFFF"/>
                </a:solidFill>
                <a:latin typeface="Pattanakarn Expanded Bold"/>
                <a:ea typeface="Pattanakarn Expanded Bold"/>
                <a:cs typeface="Pattanakarn Expanded Bold"/>
                <a:sym typeface="Pattanakarn Expanded Bold"/>
              </a:rPr>
              <a:t>Us</a:t>
            </a:r>
            <a:r>
              <a:rPr lang="en-US" b="true" sz="3443">
                <a:solidFill>
                  <a:srgbClr val="FFFFFF"/>
                </a:solidFill>
                <a:latin typeface="Pattanakarn Expanded Bold"/>
                <a:ea typeface="Pattanakarn Expanded Bold"/>
                <a:cs typeface="Pattanakarn Expanded Bold"/>
                <a:sym typeface="Pattanakarn Expanded Bold"/>
              </a:rPr>
              <a:t>eful for CTFs, digi</a:t>
            </a:r>
            <a:r>
              <a:rPr lang="en-US" b="true" sz="3443">
                <a:solidFill>
                  <a:srgbClr val="FFFFFF"/>
                </a:solidFill>
                <a:latin typeface="Pattanakarn Expanded Bold"/>
                <a:ea typeface="Pattanakarn Expanded Bold"/>
                <a:cs typeface="Pattanakarn Expanded Bold"/>
                <a:sym typeface="Pattanakarn Expanded Bold"/>
              </a:rPr>
              <a:t>tal forensics, and firmware analysis.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987985" y="801782"/>
            <a:ext cx="542630" cy="453836"/>
          </a:xfrm>
          <a:custGeom>
            <a:avLst/>
            <a:gdLst/>
            <a:ahLst/>
            <a:cxnLst/>
            <a:rect r="r" b="b" t="t" l="l"/>
            <a:pathLst>
              <a:path h="453836" w="542630">
                <a:moveTo>
                  <a:pt x="0" y="0"/>
                </a:moveTo>
                <a:lnTo>
                  <a:pt x="542630" y="0"/>
                </a:lnTo>
                <a:lnTo>
                  <a:pt x="542630" y="453836"/>
                </a:lnTo>
                <a:lnTo>
                  <a:pt x="0" y="4538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504990" y="-1767157"/>
            <a:ext cx="3086100" cy="30861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12889" y="0"/>
                  </a:moveTo>
                  <a:lnTo>
                    <a:pt x="699911" y="0"/>
                  </a:lnTo>
                  <a:cubicBezTo>
                    <a:pt x="762258" y="0"/>
                    <a:pt x="812800" y="50542"/>
                    <a:pt x="812800" y="112889"/>
                  </a:cubicBezTo>
                  <a:lnTo>
                    <a:pt x="812800" y="699911"/>
                  </a:lnTo>
                  <a:cubicBezTo>
                    <a:pt x="812800" y="762258"/>
                    <a:pt x="762258" y="812800"/>
                    <a:pt x="699911" y="812800"/>
                  </a:cubicBezTo>
                  <a:lnTo>
                    <a:pt x="112889" y="812800"/>
                  </a:lnTo>
                  <a:cubicBezTo>
                    <a:pt x="50542" y="812800"/>
                    <a:pt x="0" y="762258"/>
                    <a:pt x="0" y="699911"/>
                  </a:cubicBezTo>
                  <a:lnTo>
                    <a:pt x="0" y="112889"/>
                  </a:lnTo>
                  <a:cubicBezTo>
                    <a:pt x="0" y="50542"/>
                    <a:pt x="50542" y="0"/>
                    <a:pt x="112889" y="0"/>
                  </a:cubicBezTo>
                  <a:close/>
                </a:path>
              </a:pathLst>
            </a:custGeom>
            <a:solidFill>
              <a:srgbClr val="FF001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52400"/>
              <a:ext cx="812800" cy="965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6531310" y="1841862"/>
            <a:ext cx="0" cy="3937185"/>
          </a:xfrm>
          <a:prstGeom prst="line">
            <a:avLst/>
          </a:prstGeom>
          <a:ln cap="flat" w="38100">
            <a:solidFill>
              <a:srgbClr val="FF001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593686" y="1528232"/>
            <a:ext cx="5322867" cy="3802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53"/>
              </a:lnSpc>
            </a:pPr>
            <a:r>
              <a:rPr lang="en-US" sz="5976" b="true">
                <a:solidFill>
                  <a:srgbClr val="FFFFFF"/>
                </a:solidFill>
                <a:latin typeface="Pattanakarn Expanded Medium"/>
                <a:ea typeface="Pattanakarn Expanded Medium"/>
                <a:cs typeface="Pattanakarn Expanded Medium"/>
                <a:sym typeface="Pattanakarn Expanded Medium"/>
              </a:rPr>
              <a:t>strings, readable clues inside files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545417" y="-234429"/>
            <a:ext cx="1769184" cy="1788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70"/>
              </a:lnSpc>
            </a:pPr>
            <a:r>
              <a:rPr lang="en-US" sz="8558">
                <a:solidFill>
                  <a:srgbClr val="FF0010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23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-451449" y="9791700"/>
            <a:ext cx="6751767" cy="1439440"/>
            <a:chOff x="0" y="0"/>
            <a:chExt cx="1778243" cy="37911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78243" cy="379112"/>
            </a:xfrm>
            <a:custGeom>
              <a:avLst/>
              <a:gdLst/>
              <a:ahLst/>
              <a:cxnLst/>
              <a:rect r="r" b="b" t="t" l="l"/>
              <a:pathLst>
                <a:path h="379112" w="1778243">
                  <a:moveTo>
                    <a:pt x="51599" y="0"/>
                  </a:moveTo>
                  <a:lnTo>
                    <a:pt x="1726644" y="0"/>
                  </a:lnTo>
                  <a:cubicBezTo>
                    <a:pt x="1755141" y="0"/>
                    <a:pt x="1778243" y="23102"/>
                    <a:pt x="1778243" y="51599"/>
                  </a:cubicBezTo>
                  <a:lnTo>
                    <a:pt x="1778243" y="327512"/>
                  </a:lnTo>
                  <a:cubicBezTo>
                    <a:pt x="1778243" y="341197"/>
                    <a:pt x="1772807" y="354322"/>
                    <a:pt x="1763130" y="363999"/>
                  </a:cubicBezTo>
                  <a:cubicBezTo>
                    <a:pt x="1753453" y="373675"/>
                    <a:pt x="1740329" y="379112"/>
                    <a:pt x="1726644" y="379112"/>
                  </a:cubicBezTo>
                  <a:lnTo>
                    <a:pt x="51599" y="379112"/>
                  </a:lnTo>
                  <a:cubicBezTo>
                    <a:pt x="23102" y="379112"/>
                    <a:pt x="0" y="356010"/>
                    <a:pt x="0" y="327512"/>
                  </a:cubicBezTo>
                  <a:lnTo>
                    <a:pt x="0" y="51599"/>
                  </a:lnTo>
                  <a:cubicBezTo>
                    <a:pt x="0" y="23102"/>
                    <a:pt x="23102" y="0"/>
                    <a:pt x="51599" y="0"/>
                  </a:cubicBezTo>
                  <a:close/>
                </a:path>
              </a:pathLst>
            </a:custGeom>
            <a:solidFill>
              <a:srgbClr val="FF001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52400"/>
              <a:ext cx="1778243" cy="531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403925" y="9791700"/>
            <a:ext cx="6751767" cy="1439440"/>
            <a:chOff x="0" y="0"/>
            <a:chExt cx="1778243" cy="37911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78243" cy="379112"/>
            </a:xfrm>
            <a:custGeom>
              <a:avLst/>
              <a:gdLst/>
              <a:ahLst/>
              <a:cxnLst/>
              <a:rect r="r" b="b" t="t" l="l"/>
              <a:pathLst>
                <a:path h="379112" w="1778243">
                  <a:moveTo>
                    <a:pt x="51599" y="0"/>
                  </a:moveTo>
                  <a:lnTo>
                    <a:pt x="1726644" y="0"/>
                  </a:lnTo>
                  <a:cubicBezTo>
                    <a:pt x="1755141" y="0"/>
                    <a:pt x="1778243" y="23102"/>
                    <a:pt x="1778243" y="51599"/>
                  </a:cubicBezTo>
                  <a:lnTo>
                    <a:pt x="1778243" y="327512"/>
                  </a:lnTo>
                  <a:cubicBezTo>
                    <a:pt x="1778243" y="341197"/>
                    <a:pt x="1772807" y="354322"/>
                    <a:pt x="1763130" y="363999"/>
                  </a:cubicBezTo>
                  <a:cubicBezTo>
                    <a:pt x="1753453" y="373675"/>
                    <a:pt x="1740329" y="379112"/>
                    <a:pt x="1726644" y="379112"/>
                  </a:cubicBezTo>
                  <a:lnTo>
                    <a:pt x="51599" y="379112"/>
                  </a:lnTo>
                  <a:cubicBezTo>
                    <a:pt x="23102" y="379112"/>
                    <a:pt x="0" y="356010"/>
                    <a:pt x="0" y="327512"/>
                  </a:cubicBezTo>
                  <a:lnTo>
                    <a:pt x="0" y="51599"/>
                  </a:lnTo>
                  <a:cubicBezTo>
                    <a:pt x="0" y="23102"/>
                    <a:pt x="23102" y="0"/>
                    <a:pt x="51599" y="0"/>
                  </a:cubicBezTo>
                  <a:close/>
                </a:path>
              </a:pathLst>
            </a:custGeom>
            <a:solidFill>
              <a:srgbClr val="FF001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52400"/>
              <a:ext cx="1778243" cy="531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7259300" y="9791700"/>
            <a:ext cx="6751767" cy="1439440"/>
            <a:chOff x="0" y="0"/>
            <a:chExt cx="1778243" cy="37911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78243" cy="379112"/>
            </a:xfrm>
            <a:custGeom>
              <a:avLst/>
              <a:gdLst/>
              <a:ahLst/>
              <a:cxnLst/>
              <a:rect r="r" b="b" t="t" l="l"/>
              <a:pathLst>
                <a:path h="379112" w="1778243">
                  <a:moveTo>
                    <a:pt x="51599" y="0"/>
                  </a:moveTo>
                  <a:lnTo>
                    <a:pt x="1726644" y="0"/>
                  </a:lnTo>
                  <a:cubicBezTo>
                    <a:pt x="1755141" y="0"/>
                    <a:pt x="1778243" y="23102"/>
                    <a:pt x="1778243" y="51599"/>
                  </a:cubicBezTo>
                  <a:lnTo>
                    <a:pt x="1778243" y="327512"/>
                  </a:lnTo>
                  <a:cubicBezTo>
                    <a:pt x="1778243" y="341197"/>
                    <a:pt x="1772807" y="354322"/>
                    <a:pt x="1763130" y="363999"/>
                  </a:cubicBezTo>
                  <a:cubicBezTo>
                    <a:pt x="1753453" y="373675"/>
                    <a:pt x="1740329" y="379112"/>
                    <a:pt x="1726644" y="379112"/>
                  </a:cubicBezTo>
                  <a:lnTo>
                    <a:pt x="51599" y="379112"/>
                  </a:lnTo>
                  <a:cubicBezTo>
                    <a:pt x="23102" y="379112"/>
                    <a:pt x="0" y="356010"/>
                    <a:pt x="0" y="327512"/>
                  </a:cubicBezTo>
                  <a:lnTo>
                    <a:pt x="0" y="51599"/>
                  </a:lnTo>
                  <a:cubicBezTo>
                    <a:pt x="0" y="23102"/>
                    <a:pt x="23102" y="0"/>
                    <a:pt x="51599" y="0"/>
                  </a:cubicBezTo>
                  <a:close/>
                </a:path>
              </a:pathLst>
            </a:custGeom>
            <a:solidFill>
              <a:srgbClr val="FF001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52400"/>
              <a:ext cx="1778243" cy="531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28700" y="344207"/>
            <a:ext cx="5483560" cy="693251"/>
            <a:chOff x="0" y="0"/>
            <a:chExt cx="7311413" cy="924334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411367"/>
              <a:ext cx="6462648" cy="512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226"/>
                </a:lnSpc>
              </a:pPr>
              <a:r>
                <a:rPr lang="en-US" sz="1970">
                  <a:solidFill>
                    <a:srgbClr val="FFFFFF"/>
                  </a:solidFill>
                  <a:latin typeface="Pattanakarn Expanded"/>
                  <a:ea typeface="Pattanakarn Expanded"/>
                  <a:cs typeface="Pattanakarn Expanded"/>
                  <a:sym typeface="Pattanakarn Expanded"/>
                </a:rPr>
                <a:t>DECODE .  DEFEND . DOMINATE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-114300"/>
              <a:ext cx="7311413" cy="5059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226"/>
                </a:lnSpc>
              </a:pPr>
              <a:r>
                <a:rPr lang="en-US" sz="1970">
                  <a:solidFill>
                    <a:srgbClr val="FF0010"/>
                  </a:solidFill>
                  <a:latin typeface="Pattanakarn Expanded"/>
                  <a:ea typeface="Pattanakarn Expanded"/>
                  <a:cs typeface="Pattanakarn Expanded"/>
                  <a:sym typeface="Pattanakarn Expanded"/>
                </a:rPr>
                <a:t>PROTOCOL CYBERSECURITY CLUB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673934" y="6573481"/>
            <a:ext cx="11430246" cy="3036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2"/>
              </a:lnSpc>
              <a:spcBef>
                <a:spcPct val="0"/>
              </a:spcBef>
            </a:pPr>
            <a:r>
              <a:rPr lang="en-US" sz="2887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strings finds readable text inside files, including images and programs.</a:t>
            </a:r>
          </a:p>
          <a:p>
            <a:pPr algn="l" marL="623334" indent="-311667" lvl="1">
              <a:lnSpc>
                <a:spcPts val="3262"/>
              </a:lnSpc>
              <a:spcBef>
                <a:spcPct val="0"/>
              </a:spcBef>
              <a:buFont typeface="Arial"/>
              <a:buChar char="•"/>
            </a:pPr>
            <a:r>
              <a:rPr lang="en-US" sz="2887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Can reveal URLs, messages, or CTF flags.</a:t>
            </a:r>
          </a:p>
          <a:p>
            <a:pPr algn="l" marL="623334" indent="-311667" lvl="1">
              <a:lnSpc>
                <a:spcPts val="3262"/>
              </a:lnSpc>
              <a:spcBef>
                <a:spcPct val="0"/>
              </a:spcBef>
              <a:buFont typeface="Arial"/>
              <a:buChar char="•"/>
            </a:pPr>
            <a:r>
              <a:rPr lang="en-US" sz="2887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Normally looks for sequences of at least 4 printable characters.</a:t>
            </a:r>
          </a:p>
          <a:p>
            <a:pPr algn="l" marL="623334" indent="-311667" lvl="1">
              <a:lnSpc>
                <a:spcPts val="3262"/>
              </a:lnSpc>
              <a:spcBef>
                <a:spcPct val="0"/>
              </a:spcBef>
              <a:buFont typeface="Arial"/>
              <a:buChar char="•"/>
            </a:pPr>
            <a:r>
              <a:rPr lang="en-US" sz="2887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-a tells it to scan the whole file.</a:t>
            </a:r>
          </a:p>
          <a:p>
            <a:pPr algn="l">
              <a:lnSpc>
                <a:spcPts val="3262"/>
              </a:lnSpc>
              <a:spcBef>
                <a:spcPct val="0"/>
              </a:spcBef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8060445" y="1698987"/>
            <a:ext cx="6124291" cy="51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4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Sh</a:t>
            </a:r>
            <a:r>
              <a:rPr lang="en-US" sz="2499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ow </a:t>
            </a:r>
            <a:r>
              <a:rPr lang="en-US" sz="2499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the readable text: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8060445" y="2563455"/>
            <a:ext cx="3827411" cy="1332749"/>
            <a:chOff x="0" y="0"/>
            <a:chExt cx="5103214" cy="1776998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4950773" cy="1776998"/>
              <a:chOff x="0" y="0"/>
              <a:chExt cx="977931" cy="351012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977931" cy="351012"/>
              </a:xfrm>
              <a:custGeom>
                <a:avLst/>
                <a:gdLst/>
                <a:ahLst/>
                <a:cxnLst/>
                <a:rect r="r" b="b" t="t" l="l"/>
                <a:pathLst>
                  <a:path h="351012" w="977931">
                    <a:moveTo>
                      <a:pt x="93827" y="0"/>
                    </a:moveTo>
                    <a:lnTo>
                      <a:pt x="884104" y="0"/>
                    </a:lnTo>
                    <a:cubicBezTo>
                      <a:pt x="908988" y="0"/>
                      <a:pt x="932853" y="9885"/>
                      <a:pt x="950449" y="27481"/>
                    </a:cubicBezTo>
                    <a:cubicBezTo>
                      <a:pt x="968045" y="45077"/>
                      <a:pt x="977931" y="68942"/>
                      <a:pt x="977931" y="93827"/>
                    </a:cubicBezTo>
                    <a:lnTo>
                      <a:pt x="977931" y="257185"/>
                    </a:lnTo>
                    <a:cubicBezTo>
                      <a:pt x="977931" y="309004"/>
                      <a:pt x="935923" y="351012"/>
                      <a:pt x="884104" y="351012"/>
                    </a:cubicBezTo>
                    <a:lnTo>
                      <a:pt x="93827" y="351012"/>
                    </a:lnTo>
                    <a:cubicBezTo>
                      <a:pt x="68942" y="351012"/>
                      <a:pt x="45077" y="341127"/>
                      <a:pt x="27481" y="323531"/>
                    </a:cubicBezTo>
                    <a:cubicBezTo>
                      <a:pt x="9885" y="305935"/>
                      <a:pt x="0" y="282070"/>
                      <a:pt x="0" y="257185"/>
                    </a:cubicBezTo>
                    <a:lnTo>
                      <a:pt x="0" y="93827"/>
                    </a:lnTo>
                    <a:cubicBezTo>
                      <a:pt x="0" y="68942"/>
                      <a:pt x="9885" y="45077"/>
                      <a:pt x="27481" y="27481"/>
                    </a:cubicBezTo>
                    <a:cubicBezTo>
                      <a:pt x="45077" y="9885"/>
                      <a:pt x="68942" y="0"/>
                      <a:pt x="93827" y="0"/>
                    </a:cubicBezTo>
                    <a:close/>
                  </a:path>
                </a:pathLst>
              </a:custGeom>
              <a:solidFill>
                <a:srgbClr val="8E8E8E">
                  <a:alpha val="48627"/>
                </a:srgbClr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152400"/>
                <a:ext cx="977931" cy="50341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38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304882" y="562331"/>
              <a:ext cx="4798333" cy="6109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751"/>
                </a:lnSpc>
              </a:pPr>
              <a:r>
                <a:rPr lang="en-US" sz="2679">
                  <a:solidFill>
                    <a:srgbClr val="FFFFFF"/>
                  </a:solidFill>
                  <a:latin typeface="Questrial"/>
                  <a:ea typeface="Questrial"/>
                  <a:cs typeface="Questrial"/>
                  <a:sym typeface="Questrial"/>
                </a:rPr>
                <a:t>strings -a mystery.bin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8060445" y="4096229"/>
            <a:ext cx="6124291" cy="51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4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Search</a:t>
            </a:r>
            <a:r>
              <a:rPr lang="en-US" sz="2499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 </a:t>
            </a:r>
            <a:r>
              <a:rPr lang="en-US" sz="2499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that text for a flag: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8060445" y="4965695"/>
            <a:ext cx="5912626" cy="1332749"/>
            <a:chOff x="0" y="0"/>
            <a:chExt cx="7883501" cy="1776998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7836976" cy="1776998"/>
              <a:chOff x="0" y="0"/>
              <a:chExt cx="1548045" cy="351012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1548045" cy="351012"/>
              </a:xfrm>
              <a:custGeom>
                <a:avLst/>
                <a:gdLst/>
                <a:ahLst/>
                <a:cxnLst/>
                <a:rect r="r" b="b" t="t" l="l"/>
                <a:pathLst>
                  <a:path h="351012" w="1548045">
                    <a:moveTo>
                      <a:pt x="59272" y="0"/>
                    </a:moveTo>
                    <a:lnTo>
                      <a:pt x="1488772" y="0"/>
                    </a:lnTo>
                    <a:cubicBezTo>
                      <a:pt x="1504492" y="0"/>
                      <a:pt x="1519568" y="6245"/>
                      <a:pt x="1530684" y="17360"/>
                    </a:cubicBezTo>
                    <a:cubicBezTo>
                      <a:pt x="1541800" y="28476"/>
                      <a:pt x="1548045" y="43552"/>
                      <a:pt x="1548045" y="59272"/>
                    </a:cubicBezTo>
                    <a:lnTo>
                      <a:pt x="1548045" y="291740"/>
                    </a:lnTo>
                    <a:cubicBezTo>
                      <a:pt x="1548045" y="307460"/>
                      <a:pt x="1541800" y="322536"/>
                      <a:pt x="1530684" y="333652"/>
                    </a:cubicBezTo>
                    <a:cubicBezTo>
                      <a:pt x="1519568" y="344767"/>
                      <a:pt x="1504492" y="351012"/>
                      <a:pt x="1488772" y="351012"/>
                    </a:cubicBezTo>
                    <a:lnTo>
                      <a:pt x="59272" y="351012"/>
                    </a:lnTo>
                    <a:cubicBezTo>
                      <a:pt x="43552" y="351012"/>
                      <a:pt x="28476" y="344767"/>
                      <a:pt x="17360" y="333652"/>
                    </a:cubicBezTo>
                    <a:cubicBezTo>
                      <a:pt x="6245" y="322536"/>
                      <a:pt x="0" y="307460"/>
                      <a:pt x="0" y="291740"/>
                    </a:cubicBezTo>
                    <a:lnTo>
                      <a:pt x="0" y="59272"/>
                    </a:lnTo>
                    <a:cubicBezTo>
                      <a:pt x="0" y="43552"/>
                      <a:pt x="6245" y="28476"/>
                      <a:pt x="17360" y="17360"/>
                    </a:cubicBezTo>
                    <a:cubicBezTo>
                      <a:pt x="28476" y="6245"/>
                      <a:pt x="43552" y="0"/>
                      <a:pt x="59272" y="0"/>
                    </a:cubicBezTo>
                    <a:close/>
                  </a:path>
                </a:pathLst>
              </a:custGeom>
              <a:solidFill>
                <a:srgbClr val="8E8E8E">
                  <a:alpha val="48627"/>
                </a:srgbClr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152400"/>
                <a:ext cx="1548045" cy="50341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38"/>
                  </a:lnSpc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304882" y="562331"/>
              <a:ext cx="7578620" cy="6109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751"/>
                </a:lnSpc>
              </a:pPr>
              <a:r>
                <a:rPr lang="en-US" sz="2679">
                  <a:solidFill>
                    <a:srgbClr val="FFFFFF"/>
                  </a:solidFill>
                  <a:latin typeface="Questrial"/>
                  <a:ea typeface="Questrial"/>
                  <a:cs typeface="Questrial"/>
                  <a:sym typeface="Questrial"/>
                </a:rPr>
                <a:t>strings -a mystery.bin | grep -i "flag"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1779809" y="8334379"/>
            <a:ext cx="5931150" cy="1093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6"/>
              </a:lnSpc>
              <a:spcBef>
                <a:spcPct val="0"/>
              </a:spcBef>
            </a:pPr>
            <a:r>
              <a:rPr lang="en-US" sz="3138">
                <a:solidFill>
                  <a:srgbClr val="F82822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Ex</a:t>
            </a:r>
            <a:r>
              <a:rPr lang="en-US" sz="3138">
                <a:solidFill>
                  <a:srgbClr val="F82822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ample clue: </a:t>
            </a:r>
            <a:r>
              <a:rPr lang="en-US" sz="3138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FLAG{hiding_in_plain_sight}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987985" y="801782"/>
            <a:ext cx="542630" cy="453836"/>
          </a:xfrm>
          <a:custGeom>
            <a:avLst/>
            <a:gdLst/>
            <a:ahLst/>
            <a:cxnLst/>
            <a:rect r="r" b="b" t="t" l="l"/>
            <a:pathLst>
              <a:path h="453836" w="542630">
                <a:moveTo>
                  <a:pt x="0" y="0"/>
                </a:moveTo>
                <a:lnTo>
                  <a:pt x="542630" y="0"/>
                </a:lnTo>
                <a:lnTo>
                  <a:pt x="542630" y="453836"/>
                </a:lnTo>
                <a:lnTo>
                  <a:pt x="0" y="4538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504990" y="-1767157"/>
            <a:ext cx="3086100" cy="30861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12889" y="0"/>
                  </a:moveTo>
                  <a:lnTo>
                    <a:pt x="699911" y="0"/>
                  </a:lnTo>
                  <a:cubicBezTo>
                    <a:pt x="762258" y="0"/>
                    <a:pt x="812800" y="50542"/>
                    <a:pt x="812800" y="112889"/>
                  </a:cubicBezTo>
                  <a:lnTo>
                    <a:pt x="812800" y="699911"/>
                  </a:lnTo>
                  <a:cubicBezTo>
                    <a:pt x="812800" y="762258"/>
                    <a:pt x="762258" y="812800"/>
                    <a:pt x="699911" y="812800"/>
                  </a:cubicBezTo>
                  <a:lnTo>
                    <a:pt x="112889" y="812800"/>
                  </a:lnTo>
                  <a:cubicBezTo>
                    <a:pt x="50542" y="812800"/>
                    <a:pt x="0" y="762258"/>
                    <a:pt x="0" y="699911"/>
                  </a:cubicBezTo>
                  <a:lnTo>
                    <a:pt x="0" y="112889"/>
                  </a:lnTo>
                  <a:cubicBezTo>
                    <a:pt x="0" y="50542"/>
                    <a:pt x="50542" y="0"/>
                    <a:pt x="112889" y="0"/>
                  </a:cubicBezTo>
                  <a:close/>
                </a:path>
              </a:pathLst>
            </a:custGeom>
            <a:solidFill>
              <a:srgbClr val="FF001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52400"/>
              <a:ext cx="812800" cy="965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451449" y="9791700"/>
            <a:ext cx="6751767" cy="1439440"/>
            <a:chOff x="0" y="0"/>
            <a:chExt cx="1778243" cy="3791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78243" cy="379112"/>
            </a:xfrm>
            <a:custGeom>
              <a:avLst/>
              <a:gdLst/>
              <a:ahLst/>
              <a:cxnLst/>
              <a:rect r="r" b="b" t="t" l="l"/>
              <a:pathLst>
                <a:path h="379112" w="1778243">
                  <a:moveTo>
                    <a:pt x="51599" y="0"/>
                  </a:moveTo>
                  <a:lnTo>
                    <a:pt x="1726644" y="0"/>
                  </a:lnTo>
                  <a:cubicBezTo>
                    <a:pt x="1755141" y="0"/>
                    <a:pt x="1778243" y="23102"/>
                    <a:pt x="1778243" y="51599"/>
                  </a:cubicBezTo>
                  <a:lnTo>
                    <a:pt x="1778243" y="327512"/>
                  </a:lnTo>
                  <a:cubicBezTo>
                    <a:pt x="1778243" y="341197"/>
                    <a:pt x="1772807" y="354322"/>
                    <a:pt x="1763130" y="363999"/>
                  </a:cubicBezTo>
                  <a:cubicBezTo>
                    <a:pt x="1753453" y="373675"/>
                    <a:pt x="1740329" y="379112"/>
                    <a:pt x="1726644" y="379112"/>
                  </a:cubicBezTo>
                  <a:lnTo>
                    <a:pt x="51599" y="379112"/>
                  </a:lnTo>
                  <a:cubicBezTo>
                    <a:pt x="23102" y="379112"/>
                    <a:pt x="0" y="356010"/>
                    <a:pt x="0" y="327512"/>
                  </a:cubicBezTo>
                  <a:lnTo>
                    <a:pt x="0" y="51599"/>
                  </a:lnTo>
                  <a:cubicBezTo>
                    <a:pt x="0" y="23102"/>
                    <a:pt x="23102" y="0"/>
                    <a:pt x="51599" y="0"/>
                  </a:cubicBezTo>
                  <a:close/>
                </a:path>
              </a:pathLst>
            </a:custGeom>
            <a:solidFill>
              <a:srgbClr val="FF001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52400"/>
              <a:ext cx="1778243" cy="531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403925" y="9791700"/>
            <a:ext cx="6751767" cy="1439440"/>
            <a:chOff x="0" y="0"/>
            <a:chExt cx="1778243" cy="37911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78243" cy="379112"/>
            </a:xfrm>
            <a:custGeom>
              <a:avLst/>
              <a:gdLst/>
              <a:ahLst/>
              <a:cxnLst/>
              <a:rect r="r" b="b" t="t" l="l"/>
              <a:pathLst>
                <a:path h="379112" w="1778243">
                  <a:moveTo>
                    <a:pt x="51599" y="0"/>
                  </a:moveTo>
                  <a:lnTo>
                    <a:pt x="1726644" y="0"/>
                  </a:lnTo>
                  <a:cubicBezTo>
                    <a:pt x="1755141" y="0"/>
                    <a:pt x="1778243" y="23102"/>
                    <a:pt x="1778243" y="51599"/>
                  </a:cubicBezTo>
                  <a:lnTo>
                    <a:pt x="1778243" y="327512"/>
                  </a:lnTo>
                  <a:cubicBezTo>
                    <a:pt x="1778243" y="341197"/>
                    <a:pt x="1772807" y="354322"/>
                    <a:pt x="1763130" y="363999"/>
                  </a:cubicBezTo>
                  <a:cubicBezTo>
                    <a:pt x="1753453" y="373675"/>
                    <a:pt x="1740329" y="379112"/>
                    <a:pt x="1726644" y="379112"/>
                  </a:cubicBezTo>
                  <a:lnTo>
                    <a:pt x="51599" y="379112"/>
                  </a:lnTo>
                  <a:cubicBezTo>
                    <a:pt x="23102" y="379112"/>
                    <a:pt x="0" y="356010"/>
                    <a:pt x="0" y="327512"/>
                  </a:cubicBezTo>
                  <a:lnTo>
                    <a:pt x="0" y="51599"/>
                  </a:lnTo>
                  <a:cubicBezTo>
                    <a:pt x="0" y="23102"/>
                    <a:pt x="23102" y="0"/>
                    <a:pt x="51599" y="0"/>
                  </a:cubicBezTo>
                  <a:close/>
                </a:path>
              </a:pathLst>
            </a:custGeom>
            <a:solidFill>
              <a:srgbClr val="FF001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52400"/>
              <a:ext cx="1778243" cy="531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259300" y="9791700"/>
            <a:ext cx="6751767" cy="1439440"/>
            <a:chOff x="0" y="0"/>
            <a:chExt cx="1778243" cy="37911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78243" cy="379112"/>
            </a:xfrm>
            <a:custGeom>
              <a:avLst/>
              <a:gdLst/>
              <a:ahLst/>
              <a:cxnLst/>
              <a:rect r="r" b="b" t="t" l="l"/>
              <a:pathLst>
                <a:path h="379112" w="1778243">
                  <a:moveTo>
                    <a:pt x="51599" y="0"/>
                  </a:moveTo>
                  <a:lnTo>
                    <a:pt x="1726644" y="0"/>
                  </a:lnTo>
                  <a:cubicBezTo>
                    <a:pt x="1755141" y="0"/>
                    <a:pt x="1778243" y="23102"/>
                    <a:pt x="1778243" y="51599"/>
                  </a:cubicBezTo>
                  <a:lnTo>
                    <a:pt x="1778243" y="327512"/>
                  </a:lnTo>
                  <a:cubicBezTo>
                    <a:pt x="1778243" y="341197"/>
                    <a:pt x="1772807" y="354322"/>
                    <a:pt x="1763130" y="363999"/>
                  </a:cubicBezTo>
                  <a:cubicBezTo>
                    <a:pt x="1753453" y="373675"/>
                    <a:pt x="1740329" y="379112"/>
                    <a:pt x="1726644" y="379112"/>
                  </a:cubicBezTo>
                  <a:lnTo>
                    <a:pt x="51599" y="379112"/>
                  </a:lnTo>
                  <a:cubicBezTo>
                    <a:pt x="23102" y="379112"/>
                    <a:pt x="0" y="356010"/>
                    <a:pt x="0" y="327512"/>
                  </a:cubicBezTo>
                  <a:lnTo>
                    <a:pt x="0" y="51599"/>
                  </a:lnTo>
                  <a:cubicBezTo>
                    <a:pt x="0" y="23102"/>
                    <a:pt x="23102" y="0"/>
                    <a:pt x="51599" y="0"/>
                  </a:cubicBezTo>
                  <a:close/>
                </a:path>
              </a:pathLst>
            </a:custGeom>
            <a:solidFill>
              <a:srgbClr val="FF001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52400"/>
              <a:ext cx="1778243" cy="531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23331" y="8578557"/>
            <a:ext cx="9096459" cy="1228969"/>
            <a:chOff x="0" y="0"/>
            <a:chExt cx="12128612" cy="1638625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0962526" cy="1638625"/>
              <a:chOff x="0" y="0"/>
              <a:chExt cx="2348297" cy="351012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2348297" cy="351012"/>
              </a:xfrm>
              <a:custGeom>
                <a:avLst/>
                <a:gdLst/>
                <a:ahLst/>
                <a:cxnLst/>
                <a:rect r="r" b="b" t="t" l="l"/>
                <a:pathLst>
                  <a:path h="351012" w="2348297">
                    <a:moveTo>
                      <a:pt x="39073" y="0"/>
                    </a:moveTo>
                    <a:lnTo>
                      <a:pt x="2309223" y="0"/>
                    </a:lnTo>
                    <a:cubicBezTo>
                      <a:pt x="2319586" y="0"/>
                      <a:pt x="2329524" y="4117"/>
                      <a:pt x="2336852" y="11444"/>
                    </a:cubicBezTo>
                    <a:cubicBezTo>
                      <a:pt x="2344180" y="18772"/>
                      <a:pt x="2348297" y="28711"/>
                      <a:pt x="2348297" y="39073"/>
                    </a:cubicBezTo>
                    <a:lnTo>
                      <a:pt x="2348297" y="311939"/>
                    </a:lnTo>
                    <a:cubicBezTo>
                      <a:pt x="2348297" y="333518"/>
                      <a:pt x="2330803" y="351012"/>
                      <a:pt x="2309223" y="351012"/>
                    </a:cubicBezTo>
                    <a:lnTo>
                      <a:pt x="39073" y="351012"/>
                    </a:lnTo>
                    <a:cubicBezTo>
                      <a:pt x="28711" y="351012"/>
                      <a:pt x="18772" y="346895"/>
                      <a:pt x="11444" y="339568"/>
                    </a:cubicBezTo>
                    <a:cubicBezTo>
                      <a:pt x="4117" y="332240"/>
                      <a:pt x="0" y="322301"/>
                      <a:pt x="0" y="311939"/>
                    </a:cubicBezTo>
                    <a:lnTo>
                      <a:pt x="0" y="39073"/>
                    </a:lnTo>
                    <a:cubicBezTo>
                      <a:pt x="0" y="28711"/>
                      <a:pt x="4117" y="18772"/>
                      <a:pt x="11444" y="11444"/>
                    </a:cubicBezTo>
                    <a:cubicBezTo>
                      <a:pt x="18772" y="4117"/>
                      <a:pt x="28711" y="0"/>
                      <a:pt x="39073" y="0"/>
                    </a:cubicBezTo>
                    <a:close/>
                  </a:path>
                </a:pathLst>
              </a:custGeom>
              <a:solidFill>
                <a:srgbClr val="8E8E8E">
                  <a:alpha val="48627"/>
                </a:srgbClr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152400"/>
                <a:ext cx="2348297" cy="50341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38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281141" y="532401"/>
              <a:ext cx="11847472" cy="5495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459"/>
                </a:lnSpc>
              </a:pPr>
              <a:r>
                <a:rPr lang="en-US" sz="2470">
                  <a:solidFill>
                    <a:srgbClr val="FFFFFF"/>
                  </a:solidFill>
                  <a:latin typeface="Questrial"/>
                  <a:ea typeface="Questrial"/>
                  <a:cs typeface="Questrial"/>
                  <a:sym typeface="Questrial"/>
                </a:rPr>
                <a:t>steghide embed -cf photo.jpg -ef secret.txt -sf puzzle.jpg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210813" y="2583790"/>
            <a:ext cx="4944879" cy="1332749"/>
            <a:chOff x="0" y="0"/>
            <a:chExt cx="6593172" cy="1776998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6554261" cy="1776998"/>
              <a:chOff x="0" y="0"/>
              <a:chExt cx="1294669" cy="351012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294669" cy="351012"/>
              </a:xfrm>
              <a:custGeom>
                <a:avLst/>
                <a:gdLst/>
                <a:ahLst/>
                <a:cxnLst/>
                <a:rect r="r" b="b" t="t" l="l"/>
                <a:pathLst>
                  <a:path h="351012" w="1294669">
                    <a:moveTo>
                      <a:pt x="70872" y="0"/>
                    </a:moveTo>
                    <a:lnTo>
                      <a:pt x="1223797" y="0"/>
                    </a:lnTo>
                    <a:cubicBezTo>
                      <a:pt x="1242593" y="0"/>
                      <a:pt x="1260620" y="7467"/>
                      <a:pt x="1273911" y="20758"/>
                    </a:cubicBezTo>
                    <a:cubicBezTo>
                      <a:pt x="1287202" y="34049"/>
                      <a:pt x="1294669" y="52076"/>
                      <a:pt x="1294669" y="70872"/>
                    </a:cubicBezTo>
                    <a:lnTo>
                      <a:pt x="1294669" y="280140"/>
                    </a:lnTo>
                    <a:cubicBezTo>
                      <a:pt x="1294669" y="319281"/>
                      <a:pt x="1262938" y="351012"/>
                      <a:pt x="1223797" y="351012"/>
                    </a:cubicBezTo>
                    <a:lnTo>
                      <a:pt x="70872" y="351012"/>
                    </a:lnTo>
                    <a:cubicBezTo>
                      <a:pt x="52076" y="351012"/>
                      <a:pt x="34049" y="343545"/>
                      <a:pt x="20758" y="330254"/>
                    </a:cubicBezTo>
                    <a:cubicBezTo>
                      <a:pt x="7467" y="316963"/>
                      <a:pt x="0" y="298936"/>
                      <a:pt x="0" y="280140"/>
                    </a:cubicBezTo>
                    <a:lnTo>
                      <a:pt x="0" y="70872"/>
                    </a:lnTo>
                    <a:cubicBezTo>
                      <a:pt x="0" y="52076"/>
                      <a:pt x="7467" y="34049"/>
                      <a:pt x="20758" y="20758"/>
                    </a:cubicBezTo>
                    <a:cubicBezTo>
                      <a:pt x="34049" y="7467"/>
                      <a:pt x="52076" y="0"/>
                      <a:pt x="70872" y="0"/>
                    </a:cubicBezTo>
                    <a:close/>
                  </a:path>
                </a:pathLst>
              </a:custGeom>
              <a:solidFill>
                <a:srgbClr val="8E8E8E">
                  <a:alpha val="48627"/>
                </a:srgbClr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152400"/>
                <a:ext cx="1294669" cy="50341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38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254980" y="562331"/>
              <a:ext cx="6338191" cy="6109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751"/>
                </a:lnSpc>
              </a:pPr>
              <a:r>
                <a:rPr lang="en-US" sz="2679">
                  <a:solidFill>
                    <a:srgbClr val="FFFFFF"/>
                  </a:solidFill>
                  <a:latin typeface="Questrial"/>
                  <a:ea typeface="Questrial"/>
                  <a:cs typeface="Questrial"/>
                  <a:sym typeface="Questrial"/>
                </a:rPr>
                <a:t>steghide extract -sf puzzle.jpg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752559" y="1175754"/>
            <a:ext cx="6772588" cy="2948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53"/>
              </a:lnSpc>
            </a:pPr>
            <a:r>
              <a:rPr lang="en-US" sz="5976" b="true">
                <a:solidFill>
                  <a:srgbClr val="FFFFFF"/>
                </a:solidFill>
                <a:latin typeface="Pattanakarn Expanded Medium"/>
                <a:ea typeface="Pattanakarn Expanded Medium"/>
                <a:cs typeface="Pattanakarn Expanded Medium"/>
                <a:sym typeface="Pattanakarn Expanded Medium"/>
              </a:rPr>
              <a:t>Steganography, a secret inside a picture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621648" y="-279264"/>
            <a:ext cx="1769184" cy="1788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70"/>
              </a:lnSpc>
            </a:pPr>
            <a:r>
              <a:rPr lang="en-US" sz="8558">
                <a:solidFill>
                  <a:srgbClr val="FF0010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24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028700" y="344207"/>
            <a:ext cx="5483560" cy="693251"/>
            <a:chOff x="0" y="0"/>
            <a:chExt cx="7311413" cy="924334"/>
          </a:xfrm>
        </p:grpSpPr>
        <p:sp>
          <p:nvSpPr>
            <p:cNvPr name="TextBox 28" id="28"/>
            <p:cNvSpPr txBox="true"/>
            <p:nvPr/>
          </p:nvSpPr>
          <p:spPr>
            <a:xfrm rot="0">
              <a:off x="0" y="411367"/>
              <a:ext cx="6462648" cy="512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226"/>
                </a:lnSpc>
              </a:pPr>
              <a:r>
                <a:rPr lang="en-US" sz="1970">
                  <a:solidFill>
                    <a:srgbClr val="FFFFFF"/>
                  </a:solidFill>
                  <a:latin typeface="Pattanakarn Expanded"/>
                  <a:ea typeface="Pattanakarn Expanded"/>
                  <a:cs typeface="Pattanakarn Expanded"/>
                  <a:sym typeface="Pattanakarn Expanded"/>
                </a:rPr>
                <a:t>DECODE .  DEFEND . DOMINATE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0" y="-114300"/>
              <a:ext cx="7311413" cy="5059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226"/>
                </a:lnSpc>
              </a:pPr>
              <a:r>
                <a:rPr lang="en-US" sz="1970">
                  <a:solidFill>
                    <a:srgbClr val="FF0010"/>
                  </a:solidFill>
                  <a:latin typeface="Pattanakarn Expanded"/>
                  <a:ea typeface="Pattanakarn Expanded"/>
                  <a:cs typeface="Pattanakarn Expanded"/>
                  <a:sym typeface="Pattanakarn Expanded"/>
                </a:rPr>
                <a:t>PROTOCOL CYBERSECURITY CLUB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22792" y="4483100"/>
            <a:ext cx="9897537" cy="3464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  <a:spcBef>
                <a:spcPct val="0"/>
              </a:spcBef>
            </a:pPr>
            <a:r>
              <a:rPr lang="en-US" sz="2899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S</a:t>
            </a:r>
            <a:r>
              <a:rPr lang="en-US" sz="2899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teganography hides information inside another file while keeping its ordinary appearance.</a:t>
            </a:r>
          </a:p>
          <a:p>
            <a:pPr algn="l" marL="626107" indent="-313054" lvl="1">
              <a:lnSpc>
                <a:spcPts val="3276"/>
              </a:lnSpc>
              <a:spcBef>
                <a:spcPct val="0"/>
              </a:spcBef>
              <a:buFont typeface="Arial"/>
              <a:buChar char="•"/>
            </a:pPr>
            <a:r>
              <a:rPr lang="en-US" sz="2899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A n</a:t>
            </a:r>
            <a:r>
              <a:rPr lang="en-US" sz="2899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ormal-looking photo might carry a secret message.</a:t>
            </a:r>
          </a:p>
          <a:p>
            <a:pPr algn="l" marL="626107" indent="-313054" lvl="1">
              <a:lnSpc>
                <a:spcPts val="3276"/>
              </a:lnSpc>
              <a:spcBef>
                <a:spcPct val="0"/>
              </a:spcBef>
              <a:buFont typeface="Arial"/>
              <a:buChar char="•"/>
            </a:pPr>
            <a:r>
              <a:rPr lang="en-US" sz="2899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Images and audio can act as hiding places.</a:t>
            </a:r>
          </a:p>
          <a:p>
            <a:pPr algn="l" marL="626107" indent="-313054" lvl="1">
              <a:lnSpc>
                <a:spcPts val="3276"/>
              </a:lnSpc>
              <a:spcBef>
                <a:spcPct val="0"/>
              </a:spcBef>
              <a:buFont typeface="Arial"/>
              <a:buChar char="•"/>
            </a:pPr>
            <a:r>
              <a:rPr lang="en-US" sz="2899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In</a:t>
            </a:r>
            <a:r>
              <a:rPr lang="en-US" sz="2899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 CTFs, the hidden content might contain a flag.</a:t>
            </a:r>
          </a:p>
          <a:p>
            <a:pPr algn="l">
              <a:lnSpc>
                <a:spcPts val="3276"/>
              </a:lnSpc>
              <a:spcBef>
                <a:spcPct val="0"/>
              </a:spcBef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387969" y="7565732"/>
            <a:ext cx="8930945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4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Dem</a:t>
            </a:r>
            <a:r>
              <a:rPr lang="en-US" sz="2499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o with s</a:t>
            </a:r>
            <a:r>
              <a:rPr lang="en-US" sz="2499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teghide: Start with photo.jpg and secret.txt.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020329" y="1799427"/>
            <a:ext cx="7792463" cy="51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4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Creates puzzle.jpg</a:t>
            </a:r>
            <a:r>
              <a:rPr lang="en-US" sz="2499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 con</a:t>
            </a:r>
            <a:r>
              <a:rPr lang="en-US" sz="2499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taining the secret.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331088" y="4328821"/>
            <a:ext cx="7087079" cy="199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6"/>
              </a:lnSpc>
              <a:spcBef>
                <a:spcPct val="0"/>
              </a:spcBef>
            </a:pPr>
            <a:r>
              <a:rPr lang="en-US" sz="3138">
                <a:solidFill>
                  <a:srgbClr val="F82822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Me</a:t>
            </a:r>
            <a:r>
              <a:rPr lang="en-US" sz="3138">
                <a:solidFill>
                  <a:srgbClr val="F82822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mory trick: </a:t>
            </a:r>
            <a:r>
              <a:rPr lang="en-US" sz="3138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Encryption protects a message’s meaning. Steganography conceals its presence.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478647" y="7094709"/>
            <a:ext cx="6124291" cy="1903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9"/>
              </a:lnSpc>
              <a:spcBef>
                <a:spcPct val="0"/>
              </a:spcBef>
            </a:pPr>
            <a:r>
              <a:rPr lang="en-US" sz="2999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Extracts the message</a:t>
            </a:r>
            <a:r>
              <a:rPr lang="en-US" sz="2999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 using the same passphras</a:t>
            </a:r>
            <a:r>
              <a:rPr lang="en-US" sz="2999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e. This extraction method works for data embedded with steghide</a:t>
            </a:r>
          </a:p>
        </p:txBody>
      </p:sp>
      <p:sp>
        <p:nvSpPr>
          <p:cNvPr name="AutoShape 35" id="35"/>
          <p:cNvSpPr/>
          <p:nvPr/>
        </p:nvSpPr>
        <p:spPr>
          <a:xfrm>
            <a:off x="9786028" y="1318943"/>
            <a:ext cx="0" cy="7678861"/>
          </a:xfrm>
          <a:prstGeom prst="line">
            <a:avLst/>
          </a:prstGeom>
          <a:ln cap="flat" w="38100">
            <a:solidFill>
              <a:srgbClr val="FF001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987985" y="801782"/>
            <a:ext cx="542630" cy="453836"/>
          </a:xfrm>
          <a:custGeom>
            <a:avLst/>
            <a:gdLst/>
            <a:ahLst/>
            <a:cxnLst/>
            <a:rect r="r" b="b" t="t" l="l"/>
            <a:pathLst>
              <a:path h="453836" w="542630">
                <a:moveTo>
                  <a:pt x="0" y="0"/>
                </a:moveTo>
                <a:lnTo>
                  <a:pt x="542630" y="0"/>
                </a:lnTo>
                <a:lnTo>
                  <a:pt x="542630" y="453836"/>
                </a:lnTo>
                <a:lnTo>
                  <a:pt x="0" y="4538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504990" y="-1767157"/>
            <a:ext cx="3086100" cy="30861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12889" y="0"/>
                  </a:moveTo>
                  <a:lnTo>
                    <a:pt x="699911" y="0"/>
                  </a:lnTo>
                  <a:cubicBezTo>
                    <a:pt x="762258" y="0"/>
                    <a:pt x="812800" y="50542"/>
                    <a:pt x="812800" y="112889"/>
                  </a:cubicBezTo>
                  <a:lnTo>
                    <a:pt x="812800" y="699911"/>
                  </a:lnTo>
                  <a:cubicBezTo>
                    <a:pt x="812800" y="762258"/>
                    <a:pt x="762258" y="812800"/>
                    <a:pt x="699911" y="812800"/>
                  </a:cubicBezTo>
                  <a:lnTo>
                    <a:pt x="112889" y="812800"/>
                  </a:lnTo>
                  <a:cubicBezTo>
                    <a:pt x="50542" y="812800"/>
                    <a:pt x="0" y="762258"/>
                    <a:pt x="0" y="699911"/>
                  </a:cubicBezTo>
                  <a:lnTo>
                    <a:pt x="0" y="112889"/>
                  </a:lnTo>
                  <a:cubicBezTo>
                    <a:pt x="0" y="50542"/>
                    <a:pt x="50542" y="0"/>
                    <a:pt x="112889" y="0"/>
                  </a:cubicBezTo>
                  <a:close/>
                </a:path>
              </a:pathLst>
            </a:custGeom>
            <a:solidFill>
              <a:srgbClr val="FF001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52400"/>
              <a:ext cx="812800" cy="965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451449" y="9791700"/>
            <a:ext cx="6751767" cy="1439440"/>
            <a:chOff x="0" y="0"/>
            <a:chExt cx="1778243" cy="3791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78243" cy="379112"/>
            </a:xfrm>
            <a:custGeom>
              <a:avLst/>
              <a:gdLst/>
              <a:ahLst/>
              <a:cxnLst/>
              <a:rect r="r" b="b" t="t" l="l"/>
              <a:pathLst>
                <a:path h="379112" w="1778243">
                  <a:moveTo>
                    <a:pt x="51599" y="0"/>
                  </a:moveTo>
                  <a:lnTo>
                    <a:pt x="1726644" y="0"/>
                  </a:lnTo>
                  <a:cubicBezTo>
                    <a:pt x="1755141" y="0"/>
                    <a:pt x="1778243" y="23102"/>
                    <a:pt x="1778243" y="51599"/>
                  </a:cubicBezTo>
                  <a:lnTo>
                    <a:pt x="1778243" y="327512"/>
                  </a:lnTo>
                  <a:cubicBezTo>
                    <a:pt x="1778243" y="341197"/>
                    <a:pt x="1772807" y="354322"/>
                    <a:pt x="1763130" y="363999"/>
                  </a:cubicBezTo>
                  <a:cubicBezTo>
                    <a:pt x="1753453" y="373675"/>
                    <a:pt x="1740329" y="379112"/>
                    <a:pt x="1726644" y="379112"/>
                  </a:cubicBezTo>
                  <a:lnTo>
                    <a:pt x="51599" y="379112"/>
                  </a:lnTo>
                  <a:cubicBezTo>
                    <a:pt x="23102" y="379112"/>
                    <a:pt x="0" y="356010"/>
                    <a:pt x="0" y="327512"/>
                  </a:cubicBezTo>
                  <a:lnTo>
                    <a:pt x="0" y="51599"/>
                  </a:lnTo>
                  <a:cubicBezTo>
                    <a:pt x="0" y="23102"/>
                    <a:pt x="23102" y="0"/>
                    <a:pt x="51599" y="0"/>
                  </a:cubicBezTo>
                  <a:close/>
                </a:path>
              </a:pathLst>
            </a:custGeom>
            <a:solidFill>
              <a:srgbClr val="FF001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52400"/>
              <a:ext cx="1778243" cy="531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403925" y="9791700"/>
            <a:ext cx="6751767" cy="1439440"/>
            <a:chOff x="0" y="0"/>
            <a:chExt cx="1778243" cy="37911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78243" cy="379112"/>
            </a:xfrm>
            <a:custGeom>
              <a:avLst/>
              <a:gdLst/>
              <a:ahLst/>
              <a:cxnLst/>
              <a:rect r="r" b="b" t="t" l="l"/>
              <a:pathLst>
                <a:path h="379112" w="1778243">
                  <a:moveTo>
                    <a:pt x="51599" y="0"/>
                  </a:moveTo>
                  <a:lnTo>
                    <a:pt x="1726644" y="0"/>
                  </a:lnTo>
                  <a:cubicBezTo>
                    <a:pt x="1755141" y="0"/>
                    <a:pt x="1778243" y="23102"/>
                    <a:pt x="1778243" y="51599"/>
                  </a:cubicBezTo>
                  <a:lnTo>
                    <a:pt x="1778243" y="327512"/>
                  </a:lnTo>
                  <a:cubicBezTo>
                    <a:pt x="1778243" y="341197"/>
                    <a:pt x="1772807" y="354322"/>
                    <a:pt x="1763130" y="363999"/>
                  </a:cubicBezTo>
                  <a:cubicBezTo>
                    <a:pt x="1753453" y="373675"/>
                    <a:pt x="1740329" y="379112"/>
                    <a:pt x="1726644" y="379112"/>
                  </a:cubicBezTo>
                  <a:lnTo>
                    <a:pt x="51599" y="379112"/>
                  </a:lnTo>
                  <a:cubicBezTo>
                    <a:pt x="23102" y="379112"/>
                    <a:pt x="0" y="356010"/>
                    <a:pt x="0" y="327512"/>
                  </a:cubicBezTo>
                  <a:lnTo>
                    <a:pt x="0" y="51599"/>
                  </a:lnTo>
                  <a:cubicBezTo>
                    <a:pt x="0" y="23102"/>
                    <a:pt x="23102" y="0"/>
                    <a:pt x="51599" y="0"/>
                  </a:cubicBezTo>
                  <a:close/>
                </a:path>
              </a:pathLst>
            </a:custGeom>
            <a:solidFill>
              <a:srgbClr val="FF001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52400"/>
              <a:ext cx="1778243" cy="531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259300" y="9791700"/>
            <a:ext cx="6751767" cy="1439440"/>
            <a:chOff x="0" y="0"/>
            <a:chExt cx="1778243" cy="37911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78243" cy="379112"/>
            </a:xfrm>
            <a:custGeom>
              <a:avLst/>
              <a:gdLst/>
              <a:ahLst/>
              <a:cxnLst/>
              <a:rect r="r" b="b" t="t" l="l"/>
              <a:pathLst>
                <a:path h="379112" w="1778243">
                  <a:moveTo>
                    <a:pt x="51599" y="0"/>
                  </a:moveTo>
                  <a:lnTo>
                    <a:pt x="1726644" y="0"/>
                  </a:lnTo>
                  <a:cubicBezTo>
                    <a:pt x="1755141" y="0"/>
                    <a:pt x="1778243" y="23102"/>
                    <a:pt x="1778243" y="51599"/>
                  </a:cubicBezTo>
                  <a:lnTo>
                    <a:pt x="1778243" y="327512"/>
                  </a:lnTo>
                  <a:cubicBezTo>
                    <a:pt x="1778243" y="341197"/>
                    <a:pt x="1772807" y="354322"/>
                    <a:pt x="1763130" y="363999"/>
                  </a:cubicBezTo>
                  <a:cubicBezTo>
                    <a:pt x="1753453" y="373675"/>
                    <a:pt x="1740329" y="379112"/>
                    <a:pt x="1726644" y="379112"/>
                  </a:cubicBezTo>
                  <a:lnTo>
                    <a:pt x="51599" y="379112"/>
                  </a:lnTo>
                  <a:cubicBezTo>
                    <a:pt x="23102" y="379112"/>
                    <a:pt x="0" y="356010"/>
                    <a:pt x="0" y="327512"/>
                  </a:cubicBezTo>
                  <a:lnTo>
                    <a:pt x="0" y="51599"/>
                  </a:lnTo>
                  <a:cubicBezTo>
                    <a:pt x="0" y="23102"/>
                    <a:pt x="23102" y="0"/>
                    <a:pt x="51599" y="0"/>
                  </a:cubicBezTo>
                  <a:close/>
                </a:path>
              </a:pathLst>
            </a:custGeom>
            <a:solidFill>
              <a:srgbClr val="FF001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52400"/>
              <a:ext cx="1778243" cy="531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57725" y="3502527"/>
            <a:ext cx="6825510" cy="2948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53"/>
              </a:lnSpc>
            </a:pPr>
            <a:r>
              <a:rPr lang="en-US" sz="5976" b="true">
                <a:solidFill>
                  <a:srgbClr val="FFFFFF"/>
                </a:solidFill>
                <a:latin typeface="Pattanakarn Expanded Medium"/>
                <a:ea typeface="Pattanakarn Expanded Medium"/>
                <a:cs typeface="Pattanakarn Expanded Medium"/>
                <a:sym typeface="Pattanakarn Expanded Medium"/>
              </a:rPr>
              <a:t>Steganography, a secret inside a picture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57725" y="1440339"/>
            <a:ext cx="1769184" cy="1788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70"/>
              </a:lnSpc>
            </a:pPr>
            <a:r>
              <a:rPr lang="en-US" sz="8558">
                <a:solidFill>
                  <a:srgbClr val="FF0010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25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28700" y="344207"/>
            <a:ext cx="5483560" cy="693251"/>
            <a:chOff x="0" y="0"/>
            <a:chExt cx="7311413" cy="924334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411367"/>
              <a:ext cx="6462648" cy="512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226"/>
                </a:lnSpc>
              </a:pPr>
              <a:r>
                <a:rPr lang="en-US" sz="1970">
                  <a:solidFill>
                    <a:srgbClr val="FFFFFF"/>
                  </a:solidFill>
                  <a:latin typeface="Pattanakarn Expanded"/>
                  <a:ea typeface="Pattanakarn Expanded"/>
                  <a:cs typeface="Pattanakarn Expanded"/>
                  <a:sym typeface="Pattanakarn Expanded"/>
                </a:rPr>
                <a:t>DECODE .  DEFEND . DOMINATE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-114300"/>
              <a:ext cx="7311413" cy="5059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226"/>
                </a:lnSpc>
              </a:pPr>
              <a:r>
                <a:rPr lang="en-US" sz="1970">
                  <a:solidFill>
                    <a:srgbClr val="FF0010"/>
                  </a:solidFill>
                  <a:latin typeface="Pattanakarn Expanded"/>
                  <a:ea typeface="Pattanakarn Expanded"/>
                  <a:cs typeface="Pattanakarn Expanded"/>
                  <a:sym typeface="Pattanakarn Expanded"/>
                </a:rPr>
                <a:t>PROTOCOL CYBERSECURITY CLUB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7406620" y="1736748"/>
            <a:ext cx="10018268" cy="7521552"/>
          </a:xfrm>
          <a:custGeom>
            <a:avLst/>
            <a:gdLst/>
            <a:ahLst/>
            <a:cxnLst/>
            <a:rect r="r" b="b" t="t" l="l"/>
            <a:pathLst>
              <a:path h="7521552" w="10018268">
                <a:moveTo>
                  <a:pt x="0" y="0"/>
                </a:moveTo>
                <a:lnTo>
                  <a:pt x="10018267" y="0"/>
                </a:lnTo>
                <a:lnTo>
                  <a:pt x="10018267" y="7521552"/>
                </a:lnTo>
                <a:lnTo>
                  <a:pt x="0" y="75215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2225" t="-15464" r="-36771" b="-6101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961940" y="8431089"/>
            <a:ext cx="8795188" cy="827211"/>
            <a:chOff x="0" y="0"/>
            <a:chExt cx="2316428" cy="2178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16428" cy="217866"/>
            </a:xfrm>
            <a:custGeom>
              <a:avLst/>
              <a:gdLst/>
              <a:ahLst/>
              <a:cxnLst/>
              <a:rect r="r" b="b" t="t" l="l"/>
              <a:pathLst>
                <a:path h="217866" w="2316428">
                  <a:moveTo>
                    <a:pt x="39611" y="0"/>
                  </a:moveTo>
                  <a:lnTo>
                    <a:pt x="2276817" y="0"/>
                  </a:lnTo>
                  <a:cubicBezTo>
                    <a:pt x="2287323" y="0"/>
                    <a:pt x="2297398" y="4173"/>
                    <a:pt x="2304826" y="11602"/>
                  </a:cubicBezTo>
                  <a:cubicBezTo>
                    <a:pt x="2312255" y="19030"/>
                    <a:pt x="2316428" y="29106"/>
                    <a:pt x="2316428" y="39611"/>
                  </a:cubicBezTo>
                  <a:lnTo>
                    <a:pt x="2316428" y="178255"/>
                  </a:lnTo>
                  <a:cubicBezTo>
                    <a:pt x="2316428" y="188761"/>
                    <a:pt x="2312255" y="198836"/>
                    <a:pt x="2304826" y="206264"/>
                  </a:cubicBezTo>
                  <a:cubicBezTo>
                    <a:pt x="2297398" y="213693"/>
                    <a:pt x="2287323" y="217866"/>
                    <a:pt x="2276817" y="217866"/>
                  </a:cubicBezTo>
                  <a:lnTo>
                    <a:pt x="39611" y="217866"/>
                  </a:lnTo>
                  <a:cubicBezTo>
                    <a:pt x="29106" y="217866"/>
                    <a:pt x="19030" y="213693"/>
                    <a:pt x="11602" y="206264"/>
                  </a:cubicBezTo>
                  <a:cubicBezTo>
                    <a:pt x="4173" y="198836"/>
                    <a:pt x="0" y="188761"/>
                    <a:pt x="0" y="178255"/>
                  </a:cubicBezTo>
                  <a:lnTo>
                    <a:pt x="0" y="39611"/>
                  </a:lnTo>
                  <a:cubicBezTo>
                    <a:pt x="0" y="29106"/>
                    <a:pt x="4173" y="19030"/>
                    <a:pt x="11602" y="11602"/>
                  </a:cubicBezTo>
                  <a:cubicBezTo>
                    <a:pt x="19030" y="4173"/>
                    <a:pt x="29106" y="0"/>
                    <a:pt x="39611" y="0"/>
                  </a:cubicBezTo>
                  <a:close/>
                </a:path>
              </a:pathLst>
            </a:custGeom>
            <a:solidFill>
              <a:srgbClr val="FF001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316428" cy="2273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405631" y="-224107"/>
            <a:ext cx="10007441" cy="10921303"/>
            <a:chOff x="0" y="0"/>
            <a:chExt cx="2635705" cy="28763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635705" cy="2876393"/>
            </a:xfrm>
            <a:custGeom>
              <a:avLst/>
              <a:gdLst/>
              <a:ahLst/>
              <a:cxnLst/>
              <a:rect r="r" b="b" t="t" l="l"/>
              <a:pathLst>
                <a:path h="2876393" w="2635705">
                  <a:moveTo>
                    <a:pt x="0" y="0"/>
                  </a:moveTo>
                  <a:lnTo>
                    <a:pt x="2635705" y="0"/>
                  </a:lnTo>
                  <a:lnTo>
                    <a:pt x="2635705" y="2876393"/>
                  </a:lnTo>
                  <a:lnTo>
                    <a:pt x="0" y="2876393"/>
                  </a:lnTo>
                  <a:close/>
                </a:path>
              </a:pathLst>
            </a:custGeom>
            <a:solidFill>
              <a:srgbClr val="FF001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52400"/>
              <a:ext cx="2635705" cy="30287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2504990" y="-1767157"/>
            <a:ext cx="3086100" cy="308610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12889" y="0"/>
                  </a:moveTo>
                  <a:lnTo>
                    <a:pt x="699911" y="0"/>
                  </a:lnTo>
                  <a:cubicBezTo>
                    <a:pt x="762258" y="0"/>
                    <a:pt x="812800" y="50542"/>
                    <a:pt x="812800" y="112889"/>
                  </a:cubicBezTo>
                  <a:lnTo>
                    <a:pt x="812800" y="699911"/>
                  </a:lnTo>
                  <a:cubicBezTo>
                    <a:pt x="812800" y="762258"/>
                    <a:pt x="762258" y="812800"/>
                    <a:pt x="699911" y="812800"/>
                  </a:cubicBezTo>
                  <a:lnTo>
                    <a:pt x="112889" y="812800"/>
                  </a:lnTo>
                  <a:cubicBezTo>
                    <a:pt x="50542" y="812800"/>
                    <a:pt x="0" y="762258"/>
                    <a:pt x="0" y="699911"/>
                  </a:cubicBezTo>
                  <a:lnTo>
                    <a:pt x="0" y="112889"/>
                  </a:lnTo>
                  <a:cubicBezTo>
                    <a:pt x="0" y="50542"/>
                    <a:pt x="50542" y="0"/>
                    <a:pt x="112889" y="0"/>
                  </a:cubicBezTo>
                  <a:close/>
                </a:path>
              </a:pathLst>
            </a:custGeom>
            <a:solidFill>
              <a:srgbClr val="FF001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52400"/>
              <a:ext cx="812800" cy="965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2545211" y="5479098"/>
            <a:ext cx="3728281" cy="3654535"/>
          </a:xfrm>
          <a:custGeom>
            <a:avLst/>
            <a:gdLst/>
            <a:ahLst/>
            <a:cxnLst/>
            <a:rect r="r" b="b" t="t" l="l"/>
            <a:pathLst>
              <a:path h="3654535" w="3728281">
                <a:moveTo>
                  <a:pt x="0" y="0"/>
                </a:moveTo>
                <a:lnTo>
                  <a:pt x="3728281" y="0"/>
                </a:lnTo>
                <a:lnTo>
                  <a:pt x="3728281" y="3654534"/>
                </a:lnTo>
                <a:lnTo>
                  <a:pt x="0" y="36545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-613165" y="3050223"/>
            <a:ext cx="8097637" cy="8923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186"/>
              </a:lnSpc>
            </a:pPr>
            <a:r>
              <a:rPr lang="en-US" sz="42642">
                <a:solidFill>
                  <a:srgbClr val="FF0010">
                    <a:alpha val="60000"/>
                  </a:srgbClr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101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11062" y="-277101"/>
            <a:ext cx="7804780" cy="5088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68"/>
              </a:lnSpc>
            </a:pPr>
            <a:r>
              <a:rPr lang="en-US" b="true" sz="14396">
                <a:solidFill>
                  <a:srgbClr val="000000"/>
                </a:solidFill>
                <a:latin typeface="Pattanakarn Expanded Medium"/>
                <a:ea typeface="Pattanakarn Expanded Medium"/>
                <a:cs typeface="Pattanakarn Expanded Medium"/>
                <a:sym typeface="Pattanakarn Expanded Medium"/>
              </a:rPr>
              <a:t>THANK YOU!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50489" y="8495000"/>
            <a:ext cx="5370331" cy="546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38"/>
              </a:lnSpc>
            </a:pPr>
            <a:r>
              <a:rPr lang="en-US" sz="2600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PROTOCOL CYBER-CLUB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696326" y="4745609"/>
            <a:ext cx="9426052" cy="445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51"/>
              </a:lnSpc>
            </a:pPr>
            <a:r>
              <a:rPr lang="en-US" sz="2799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AND STAY TUNED FOR DAY-2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696326" y="9324975"/>
            <a:ext cx="9426052" cy="445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51"/>
              </a:lnSpc>
            </a:pPr>
            <a:r>
              <a:rPr lang="en-US" sz="2799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SCAN TO CONNECT ON SOCIALS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DAHXWn7xeTs</dc:identifier>
  <dcterms:modified xsi:type="dcterms:W3CDTF">2011-08-01T06:04:30Z</dcterms:modified>
  <cp:revision>1</cp:revision>
  <dc:title>cybersecurity 101</dc:title>
</cp:coreProperties>
</file>