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x="18288000" cy="10287000"/>
  <p:notesSz cx="6858000" cy="9144000"/>
  <p:embeddedFontLst>
    <p:embeddedFont>
      <p:font typeface="Anton" charset="1" panose="00000500000000000000"/>
      <p:regular r:id="rId64"/>
    </p:embeddedFont>
    <p:embeddedFont>
      <p:font typeface="Inter Bold" charset="1" panose="020B0802030000000004"/>
      <p:regular r:id="rId65"/>
    </p:embeddedFont>
    <p:embeddedFont>
      <p:font typeface="Canva Sans" charset="1" panose="020B0503030501040103"/>
      <p:regular r:id="rId66"/>
    </p:embeddedFont>
    <p:embeddedFont>
      <p:font typeface="Canva Sans Bold" charset="1" panose="020B0803030501040103"/>
      <p:regular r:id="rId67"/>
    </p:embeddedFont>
    <p:embeddedFont>
      <p:font typeface="Inter" charset="1" panose="020B0502030000000004"/>
      <p:regular r:id="rId68"/>
    </p:embeddedFont>
    <p:embeddedFont>
      <p:font typeface="Inter Medium" charset="1" panose="02000503000000020004"/>
      <p:regular r:id="rId69"/>
    </p:embeddedFont>
    <p:embeddedFont>
      <p:font typeface="Arimo" charset="1" panose="020B0604020202020204"/>
      <p:regular r:id="rId70"/>
    </p:embeddedFont>
    <p:embeddedFont>
      <p:font typeface="ITC American Typewriter Bold" charset="1" panose="02090804030705020204"/>
      <p:regular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https://www.youtube.com/watch?v=L8273PrPSwA"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png" Type="http://schemas.openxmlformats.org/officeDocument/2006/relationships/image"/><Relationship Id="rId4" Target="../media/image66.svg" Type="http://schemas.openxmlformats.org/officeDocument/2006/relationships/image"/><Relationship Id="rId5" Target="../media/image67.png" Type="http://schemas.openxmlformats.org/officeDocument/2006/relationships/image"/><Relationship Id="rId6" Target="../media/image68.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 Id="rId3" Target="../media/image70.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72.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174892"/>
            <a:ext cx="5451344" cy="6924340"/>
          </a:xfrm>
          <a:custGeom>
            <a:avLst/>
            <a:gdLst/>
            <a:ahLst/>
            <a:cxnLst/>
            <a:rect r="r" b="b" t="t" l="l"/>
            <a:pathLst>
              <a:path h="6924340" w="5451344">
                <a:moveTo>
                  <a:pt x="0" y="0"/>
                </a:moveTo>
                <a:lnTo>
                  <a:pt x="5451344" y="0"/>
                </a:lnTo>
                <a:lnTo>
                  <a:pt x="5451344" y="6924340"/>
                </a:lnTo>
                <a:lnTo>
                  <a:pt x="0" y="6924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243230" y="3497964"/>
            <a:ext cx="10255080" cy="3152775"/>
          </a:xfrm>
          <a:prstGeom prst="rect">
            <a:avLst/>
          </a:prstGeom>
        </p:spPr>
        <p:txBody>
          <a:bodyPr anchor="t" rtlCol="false" tIns="0" lIns="0" bIns="0" rIns="0">
            <a:spAutoFit/>
          </a:bodyPr>
          <a:lstStyle/>
          <a:p>
            <a:pPr algn="l">
              <a:lnSpc>
                <a:spcPts val="12480"/>
              </a:lnSpc>
            </a:pPr>
            <a:r>
              <a:rPr lang="en-US" sz="10400">
                <a:solidFill>
                  <a:srgbClr val="000000"/>
                </a:solidFill>
                <a:latin typeface="Anton"/>
                <a:ea typeface="Anton"/>
                <a:cs typeface="Anton"/>
                <a:sym typeface="Anton"/>
              </a:rPr>
              <a:t>OSINT AND DIGITAL FORENSICS </a:t>
            </a:r>
          </a:p>
        </p:txBody>
      </p:sp>
      <p:sp>
        <p:nvSpPr>
          <p:cNvPr name="TextBox 4" id="4"/>
          <p:cNvSpPr txBox="true"/>
          <p:nvPr/>
        </p:nvSpPr>
        <p:spPr>
          <a:xfrm rot="0">
            <a:off x="878853" y="613291"/>
            <a:ext cx="6965399" cy="574476"/>
          </a:xfrm>
          <a:prstGeom prst="rect">
            <a:avLst/>
          </a:prstGeom>
        </p:spPr>
        <p:txBody>
          <a:bodyPr anchor="t" rtlCol="false" tIns="0" lIns="0" bIns="0" rIns="0">
            <a:spAutoFit/>
          </a:bodyPr>
          <a:lstStyle/>
          <a:p>
            <a:pPr algn="l">
              <a:lnSpc>
                <a:spcPts val="4606"/>
              </a:lnSpc>
            </a:pPr>
            <a:r>
              <a:rPr lang="en-US" sz="3290" b="true">
                <a:solidFill>
                  <a:srgbClr val="000000"/>
                </a:solidFill>
                <a:latin typeface="Inter Bold"/>
                <a:ea typeface="Inter Bold"/>
                <a:cs typeface="Inter Bold"/>
                <a:sym typeface="Inter Bold"/>
              </a:rPr>
              <a:t>DAY 3 OF CYBERSECURITY 101</a:t>
            </a:r>
          </a:p>
        </p:txBody>
      </p:sp>
      <p:sp>
        <p:nvSpPr>
          <p:cNvPr name="TextBox 5" id="5"/>
          <p:cNvSpPr txBox="true"/>
          <p:nvPr/>
        </p:nvSpPr>
        <p:spPr>
          <a:xfrm rot="0">
            <a:off x="7243230" y="6931162"/>
            <a:ext cx="9030247" cy="1671823"/>
          </a:xfrm>
          <a:prstGeom prst="rect">
            <a:avLst/>
          </a:prstGeom>
        </p:spPr>
        <p:txBody>
          <a:bodyPr anchor="t" rtlCol="false" tIns="0" lIns="0" bIns="0" rIns="0">
            <a:spAutoFit/>
          </a:bodyPr>
          <a:lstStyle/>
          <a:p>
            <a:pPr algn="l">
              <a:lnSpc>
                <a:spcPts val="4452"/>
              </a:lnSpc>
            </a:pPr>
            <a:r>
              <a:rPr lang="en-US" sz="3180" b="true">
                <a:solidFill>
                  <a:srgbClr val="000000"/>
                </a:solidFill>
                <a:latin typeface="Inter Bold"/>
                <a:ea typeface="Inter Bold"/>
                <a:cs typeface="Inter Bold"/>
                <a:sym typeface="Inter Bold"/>
              </a:rPr>
              <a:t>Understanding OSINT, DFIR, geolocation, metadata, forensics, OPSEC.</a:t>
            </a:r>
          </a:p>
          <a:p>
            <a:pPr algn="l">
              <a:lnSpc>
                <a:spcPts val="4452"/>
              </a:lnSpc>
            </a:pPr>
          </a:p>
        </p:txBody>
      </p:sp>
      <p:sp>
        <p:nvSpPr>
          <p:cNvPr name="Freeform 6" id="6"/>
          <p:cNvSpPr/>
          <p:nvPr/>
        </p:nvSpPr>
        <p:spPr>
          <a:xfrm flipH="false" flipV="false" rot="0">
            <a:off x="15134323" y="489174"/>
            <a:ext cx="2877311" cy="2011203"/>
          </a:xfrm>
          <a:custGeom>
            <a:avLst/>
            <a:gdLst/>
            <a:ahLst/>
            <a:cxnLst/>
            <a:rect r="r" b="b" t="t" l="l"/>
            <a:pathLst>
              <a:path h="2011203" w="2877311">
                <a:moveTo>
                  <a:pt x="0" y="0"/>
                </a:moveTo>
                <a:lnTo>
                  <a:pt x="2877311" y="0"/>
                </a:lnTo>
                <a:lnTo>
                  <a:pt x="2877311" y="2011203"/>
                </a:lnTo>
                <a:lnTo>
                  <a:pt x="0" y="2011203"/>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196717"/>
            <a:ext cx="18225643" cy="5678612"/>
          </a:xfrm>
          <a:prstGeom prst="rect">
            <a:avLst/>
          </a:prstGeom>
        </p:spPr>
        <p:txBody>
          <a:bodyPr anchor="t" rtlCol="false" tIns="0" lIns="0" bIns="0" rIns="0">
            <a:spAutoFit/>
          </a:bodyPr>
          <a:lstStyle/>
          <a:p>
            <a:pPr algn="ctr">
              <a:lnSpc>
                <a:spcPts val="14929"/>
              </a:lnSpc>
            </a:pPr>
            <a:r>
              <a:rPr lang="en-US" sz="12441">
                <a:solidFill>
                  <a:srgbClr val="000000"/>
                </a:solidFill>
                <a:latin typeface="Anton"/>
                <a:ea typeface="Anton"/>
                <a:cs typeface="Anton"/>
                <a:sym typeface="Anton"/>
              </a:rPr>
              <a:t>HOW MUCH CAN THE INTERNET REVEAL ABOUT YOU</a:t>
            </a:r>
          </a:p>
          <a:p>
            <a:pPr algn="ctr">
              <a:lnSpc>
                <a:spcPts val="14929"/>
              </a:lnSpc>
            </a:pPr>
          </a:p>
        </p:txBody>
      </p:sp>
      <p:sp>
        <p:nvSpPr>
          <p:cNvPr name="Freeform 3" id="3"/>
          <p:cNvSpPr/>
          <p:nvPr/>
        </p:nvSpPr>
        <p:spPr>
          <a:xfrm flipH="false" flipV="false" rot="0">
            <a:off x="5783947" y="3483642"/>
            <a:ext cx="7112459" cy="7112459"/>
          </a:xfrm>
          <a:custGeom>
            <a:avLst/>
            <a:gdLst/>
            <a:ahLst/>
            <a:cxnLst/>
            <a:rect r="r" b="b" t="t" l="l"/>
            <a:pathLst>
              <a:path h="7112459" w="7112459">
                <a:moveTo>
                  <a:pt x="0" y="0"/>
                </a:moveTo>
                <a:lnTo>
                  <a:pt x="7112459" y="0"/>
                </a:lnTo>
                <a:lnTo>
                  <a:pt x="7112459" y="7112460"/>
                </a:lnTo>
                <a:lnTo>
                  <a:pt x="0" y="711246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7033" y="1593884"/>
            <a:ext cx="17653934" cy="15599096"/>
          </a:xfrm>
          <a:custGeom>
            <a:avLst/>
            <a:gdLst/>
            <a:ahLst/>
            <a:cxnLst/>
            <a:rect r="r" b="b" t="t" l="l"/>
            <a:pathLst>
              <a:path h="15599096" w="17653934">
                <a:moveTo>
                  <a:pt x="0" y="0"/>
                </a:moveTo>
                <a:lnTo>
                  <a:pt x="17653934" y="0"/>
                </a:lnTo>
                <a:lnTo>
                  <a:pt x="17653934" y="15599096"/>
                </a:lnTo>
                <a:lnTo>
                  <a:pt x="0" y="15599096"/>
                </a:lnTo>
                <a:lnTo>
                  <a:pt x="0" y="0"/>
                </a:lnTo>
                <a:close/>
              </a:path>
            </a:pathLst>
          </a:custGeom>
          <a:blipFill>
            <a:blip r:embed="rId2"/>
            <a:stretch>
              <a:fillRect l="0" t="0" r="0" b="0"/>
            </a:stretch>
          </a:blipFill>
        </p:spPr>
      </p:sp>
      <p:sp>
        <p:nvSpPr>
          <p:cNvPr name="Freeform 3" id="3"/>
          <p:cNvSpPr/>
          <p:nvPr/>
        </p:nvSpPr>
        <p:spPr>
          <a:xfrm flipH="false" flipV="false" rot="0">
            <a:off x="1212108" y="5058558"/>
            <a:ext cx="1012388" cy="1012388"/>
          </a:xfrm>
          <a:custGeom>
            <a:avLst/>
            <a:gdLst/>
            <a:ahLst/>
            <a:cxnLst/>
            <a:rect r="r" b="b" t="t" l="l"/>
            <a:pathLst>
              <a:path h="1012388" w="1012388">
                <a:moveTo>
                  <a:pt x="0" y="0"/>
                </a:moveTo>
                <a:lnTo>
                  <a:pt x="1012388" y="0"/>
                </a:lnTo>
                <a:lnTo>
                  <a:pt x="1012388" y="1012388"/>
                </a:lnTo>
                <a:lnTo>
                  <a:pt x="0" y="1012388"/>
                </a:lnTo>
                <a:lnTo>
                  <a:pt x="0" y="0"/>
                </a:lnTo>
                <a:close/>
              </a:path>
            </a:pathLst>
          </a:custGeom>
          <a:blipFill>
            <a:blip r:embed="rId3"/>
            <a:stretch>
              <a:fillRect l="0" t="0" r="0" b="0"/>
            </a:stretch>
          </a:blipFill>
        </p:spPr>
      </p:sp>
      <p:sp>
        <p:nvSpPr>
          <p:cNvPr name="TextBox 4" id="4"/>
          <p:cNvSpPr txBox="true"/>
          <p:nvPr/>
        </p:nvSpPr>
        <p:spPr>
          <a:xfrm rot="0">
            <a:off x="216180" y="401338"/>
            <a:ext cx="18225643" cy="1899221"/>
          </a:xfrm>
          <a:prstGeom prst="rect">
            <a:avLst/>
          </a:prstGeom>
        </p:spPr>
        <p:txBody>
          <a:bodyPr anchor="t" rtlCol="false" tIns="0" lIns="0" bIns="0" rIns="0">
            <a:spAutoFit/>
          </a:bodyPr>
          <a:lstStyle/>
          <a:p>
            <a:pPr algn="ctr">
              <a:lnSpc>
                <a:spcPts val="14929"/>
              </a:lnSpc>
            </a:pPr>
            <a:r>
              <a:rPr lang="en-US" sz="12441">
                <a:solidFill>
                  <a:srgbClr val="000000"/>
                </a:solidFill>
                <a:latin typeface="Anton"/>
                <a:ea typeface="Anton"/>
                <a:cs typeface="Anton"/>
                <a:sym typeface="Anton"/>
              </a:rPr>
              <a:t>L</a:t>
            </a:r>
            <a:r>
              <a:rPr lang="en-US" sz="12441">
                <a:solidFill>
                  <a:srgbClr val="000000"/>
                </a:solidFill>
                <a:latin typeface="Anton"/>
                <a:ea typeface="Anton"/>
                <a:cs typeface="Anton"/>
                <a:sym typeface="Anton"/>
              </a:rPr>
              <a:t>ET’S TEST IT. SEARCH THIS UP </a:t>
            </a:r>
          </a:p>
        </p:txBody>
      </p:sp>
      <p:sp>
        <p:nvSpPr>
          <p:cNvPr name="TextBox 5" id="5"/>
          <p:cNvSpPr txBox="true"/>
          <p:nvPr/>
        </p:nvSpPr>
        <p:spPr>
          <a:xfrm rot="0">
            <a:off x="3694684" y="7140411"/>
            <a:ext cx="10424598" cy="692386"/>
          </a:xfrm>
          <a:prstGeom prst="rect">
            <a:avLst/>
          </a:prstGeom>
        </p:spPr>
        <p:txBody>
          <a:bodyPr anchor="t" rtlCol="false" tIns="0" lIns="0" bIns="0" rIns="0">
            <a:spAutoFit/>
          </a:bodyPr>
          <a:lstStyle/>
          <a:p>
            <a:pPr algn="just">
              <a:lnSpc>
                <a:spcPts val="5678"/>
              </a:lnSpc>
            </a:pPr>
            <a:r>
              <a:rPr lang="en-US" sz="4055">
                <a:solidFill>
                  <a:srgbClr val="000000"/>
                </a:solidFill>
                <a:latin typeface="Canva Sans"/>
                <a:ea typeface="Canva Sans"/>
                <a:cs typeface="Canva Sans"/>
                <a:sym typeface="Canva Sans"/>
              </a:rPr>
              <a:t>For example : </a:t>
            </a:r>
            <a:r>
              <a:rPr lang="en-US" sz="4055" b="true">
                <a:solidFill>
                  <a:srgbClr val="000000"/>
                </a:solidFill>
                <a:latin typeface="Canva Sans Bold"/>
                <a:ea typeface="Canva Sans Bold"/>
                <a:cs typeface="Canva Sans Bold"/>
                <a:sym typeface="Canva Sans Bold"/>
              </a:rPr>
              <a:t>koul sushant aissms mhtcet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324">
            <a:off x="17030585" y="879170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29431" y="9047761"/>
            <a:ext cx="1963550" cy="532406"/>
            <a:chOff x="0" y="0"/>
            <a:chExt cx="2618067" cy="709875"/>
          </a:xfrm>
        </p:grpSpPr>
        <p:sp>
          <p:nvSpPr>
            <p:cNvPr name="Freeform 4" id="4"/>
            <p:cNvSpPr/>
            <p:nvPr/>
          </p:nvSpPr>
          <p:spPr>
            <a:xfrm flipH="false" flipV="false" rot="0">
              <a:off x="0" y="0"/>
              <a:ext cx="709875" cy="709875"/>
            </a:xfrm>
            <a:custGeom>
              <a:avLst/>
              <a:gdLst/>
              <a:ahLst/>
              <a:cxnLst/>
              <a:rect r="r" b="b" t="t" l="l"/>
              <a:pathLst>
                <a:path h="709875" w="709875">
                  <a:moveTo>
                    <a:pt x="0" y="0"/>
                  </a:moveTo>
                  <a:lnTo>
                    <a:pt x="709875" y="0"/>
                  </a:lnTo>
                  <a:lnTo>
                    <a:pt x="709875" y="709875"/>
                  </a:lnTo>
                  <a:lnTo>
                    <a:pt x="0" y="7098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54096" y="0"/>
              <a:ext cx="709875" cy="709875"/>
            </a:xfrm>
            <a:custGeom>
              <a:avLst/>
              <a:gdLst/>
              <a:ahLst/>
              <a:cxnLst/>
              <a:rect r="r" b="b" t="t" l="l"/>
              <a:pathLst>
                <a:path h="709875" w="709875">
                  <a:moveTo>
                    <a:pt x="0" y="0"/>
                  </a:moveTo>
                  <a:lnTo>
                    <a:pt x="709875" y="0"/>
                  </a:lnTo>
                  <a:lnTo>
                    <a:pt x="709875" y="709875"/>
                  </a:lnTo>
                  <a:lnTo>
                    <a:pt x="0" y="7098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908192" y="0"/>
              <a:ext cx="709875" cy="709875"/>
            </a:xfrm>
            <a:custGeom>
              <a:avLst/>
              <a:gdLst/>
              <a:ahLst/>
              <a:cxnLst/>
              <a:rect r="r" b="b" t="t" l="l"/>
              <a:pathLst>
                <a:path h="709875" w="709875">
                  <a:moveTo>
                    <a:pt x="0" y="0"/>
                  </a:moveTo>
                  <a:lnTo>
                    <a:pt x="709875" y="0"/>
                  </a:lnTo>
                  <a:lnTo>
                    <a:pt x="709875" y="709875"/>
                  </a:lnTo>
                  <a:lnTo>
                    <a:pt x="0" y="7098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7" id="7"/>
          <p:cNvSpPr txBox="true"/>
          <p:nvPr/>
        </p:nvSpPr>
        <p:spPr>
          <a:xfrm rot="0">
            <a:off x="842494" y="4199158"/>
            <a:ext cx="16603011" cy="5114807"/>
          </a:xfrm>
          <a:prstGeom prst="rect">
            <a:avLst/>
          </a:prstGeom>
        </p:spPr>
        <p:txBody>
          <a:bodyPr anchor="t" rtlCol="false" tIns="0" lIns="0" bIns="0" rIns="0">
            <a:spAutoFit/>
          </a:bodyPr>
          <a:lstStyle/>
          <a:p>
            <a:pPr algn="just">
              <a:lnSpc>
                <a:spcPts val="5781"/>
              </a:lnSpc>
            </a:pPr>
            <a:r>
              <a:rPr lang="en-US" sz="4129">
                <a:solidFill>
                  <a:srgbClr val="000000"/>
                </a:solidFill>
                <a:latin typeface="Inter"/>
                <a:ea typeface="Inter"/>
                <a:cs typeface="Inter"/>
                <a:sym typeface="Inter"/>
              </a:rPr>
              <a:t>In</a:t>
            </a:r>
            <a:r>
              <a:rPr lang="en-US" sz="4129">
                <a:solidFill>
                  <a:srgbClr val="000000"/>
                </a:solidFill>
                <a:latin typeface="Inter"/>
                <a:ea typeface="Inter"/>
                <a:cs typeface="Inter"/>
                <a:sym typeface="Inter"/>
              </a:rPr>
              <a:t>telligence is information that has been </a:t>
            </a:r>
            <a:r>
              <a:rPr lang="en-US" b="true" sz="4129">
                <a:solidFill>
                  <a:srgbClr val="000000"/>
                </a:solidFill>
                <a:latin typeface="Inter Bold"/>
                <a:ea typeface="Inter Bold"/>
                <a:cs typeface="Inter Bold"/>
                <a:sym typeface="Inter Bold"/>
              </a:rPr>
              <a:t>collected, checked</a:t>
            </a:r>
            <a:r>
              <a:rPr lang="en-US" sz="4129">
                <a:solidFill>
                  <a:srgbClr val="000000"/>
                </a:solidFill>
                <a:latin typeface="Inter"/>
                <a:ea typeface="Inter"/>
                <a:cs typeface="Inter"/>
                <a:sym typeface="Inter"/>
              </a:rPr>
              <a:t> and </a:t>
            </a:r>
            <a:r>
              <a:rPr lang="en-US" b="true" sz="4129">
                <a:solidFill>
                  <a:srgbClr val="000000"/>
                </a:solidFill>
                <a:latin typeface="Inter Bold"/>
                <a:ea typeface="Inter Bold"/>
                <a:cs typeface="Inter Bold"/>
                <a:sym typeface="Inter Bold"/>
              </a:rPr>
              <a:t>analysed</a:t>
            </a:r>
            <a:r>
              <a:rPr lang="en-US" sz="4129">
                <a:solidFill>
                  <a:srgbClr val="000000"/>
                </a:solidFill>
                <a:latin typeface="Inter"/>
                <a:ea typeface="Inter"/>
                <a:cs typeface="Inter"/>
                <a:sym typeface="Inter"/>
              </a:rPr>
              <a:t> so that it helps someone make a decision. </a:t>
            </a:r>
          </a:p>
          <a:p>
            <a:pPr algn="just">
              <a:lnSpc>
                <a:spcPts val="5781"/>
              </a:lnSpc>
            </a:pPr>
          </a:p>
          <a:p>
            <a:pPr algn="just">
              <a:lnSpc>
                <a:spcPts val="5781"/>
              </a:lnSpc>
            </a:pPr>
            <a:r>
              <a:rPr lang="en-US" sz="4129">
                <a:solidFill>
                  <a:srgbClr val="000000"/>
                </a:solidFill>
                <a:latin typeface="Inter"/>
                <a:ea typeface="Inter"/>
                <a:cs typeface="Inter"/>
                <a:sym typeface="Inter"/>
              </a:rPr>
              <a:t>Raw facts alone are not intelligence – they become intelligence only </a:t>
            </a:r>
            <a:r>
              <a:rPr lang="en-US" b="true" sz="4129">
                <a:solidFill>
                  <a:srgbClr val="000000"/>
                </a:solidFill>
                <a:latin typeface="Inter Bold"/>
                <a:ea typeface="Inter Bold"/>
                <a:cs typeface="Inter Bold"/>
                <a:sym typeface="Inter Bold"/>
              </a:rPr>
              <a:t>when someone understands what they mean</a:t>
            </a:r>
            <a:r>
              <a:rPr lang="en-US" sz="4129">
                <a:solidFill>
                  <a:srgbClr val="000000"/>
                </a:solidFill>
                <a:latin typeface="Inter"/>
                <a:ea typeface="Inter"/>
                <a:cs typeface="Inter"/>
                <a:sym typeface="Inter"/>
              </a:rPr>
              <a:t> and what to do about them.</a:t>
            </a:r>
          </a:p>
          <a:p>
            <a:pPr algn="just">
              <a:lnSpc>
                <a:spcPts val="5781"/>
              </a:lnSpc>
            </a:pPr>
          </a:p>
        </p:txBody>
      </p:sp>
      <p:sp>
        <p:nvSpPr>
          <p:cNvPr name="Freeform 8" id="8"/>
          <p:cNvSpPr/>
          <p:nvPr/>
        </p:nvSpPr>
        <p:spPr>
          <a:xfrm flipH="false" flipV="false" rot="0">
            <a:off x="14162251" y="0"/>
            <a:ext cx="4269203" cy="4156544"/>
          </a:xfrm>
          <a:custGeom>
            <a:avLst/>
            <a:gdLst/>
            <a:ahLst/>
            <a:cxnLst/>
            <a:rect r="r" b="b" t="t" l="l"/>
            <a:pathLst>
              <a:path h="4156544" w="4269203">
                <a:moveTo>
                  <a:pt x="0" y="0"/>
                </a:moveTo>
                <a:lnTo>
                  <a:pt x="4269203" y="0"/>
                </a:lnTo>
                <a:lnTo>
                  <a:pt x="4269203" y="4156544"/>
                </a:lnTo>
                <a:lnTo>
                  <a:pt x="0" y="4156544"/>
                </a:lnTo>
                <a:lnTo>
                  <a:pt x="0" y="0"/>
                </a:lnTo>
                <a:close/>
              </a:path>
            </a:pathLst>
          </a:custGeom>
          <a:blipFill>
            <a:blip r:embed="rId6"/>
            <a:stretch>
              <a:fillRect l="0" t="0" r="0" b="0"/>
            </a:stretch>
          </a:blipFill>
        </p:spPr>
      </p:sp>
      <p:sp>
        <p:nvSpPr>
          <p:cNvPr name="TextBox 9" id="9"/>
          <p:cNvSpPr txBox="true"/>
          <p:nvPr/>
        </p:nvSpPr>
        <p:spPr>
          <a:xfrm rot="0">
            <a:off x="814992" y="1189133"/>
            <a:ext cx="17270855" cy="1796704"/>
          </a:xfrm>
          <a:prstGeom prst="rect">
            <a:avLst/>
          </a:prstGeom>
        </p:spPr>
        <p:txBody>
          <a:bodyPr anchor="t" rtlCol="false" tIns="0" lIns="0" bIns="0" rIns="0">
            <a:spAutoFit/>
          </a:bodyPr>
          <a:lstStyle/>
          <a:p>
            <a:pPr algn="l">
              <a:lnSpc>
                <a:spcPts val="14147"/>
              </a:lnSpc>
            </a:pPr>
            <a:r>
              <a:rPr lang="en-US" sz="11789">
                <a:solidFill>
                  <a:srgbClr val="000000"/>
                </a:solidFill>
                <a:latin typeface="Anton"/>
                <a:ea typeface="Anton"/>
                <a:cs typeface="Anton"/>
                <a:sym typeface="Anton"/>
              </a:rPr>
              <a:t>WHAT IS INTELLIGENCE?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5736" y="-351976"/>
            <a:ext cx="19539472" cy="10990953"/>
          </a:xfrm>
          <a:custGeom>
            <a:avLst/>
            <a:gdLst/>
            <a:ahLst/>
            <a:cxnLst/>
            <a:rect r="r" b="b" t="t" l="l"/>
            <a:pathLst>
              <a:path h="10990953" w="19539472">
                <a:moveTo>
                  <a:pt x="0" y="0"/>
                </a:moveTo>
                <a:lnTo>
                  <a:pt x="19539472" y="0"/>
                </a:lnTo>
                <a:lnTo>
                  <a:pt x="19539472" y="10990952"/>
                </a:lnTo>
                <a:lnTo>
                  <a:pt x="0" y="10990952"/>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28803" y="742661"/>
            <a:ext cx="12425863" cy="1682502"/>
          </a:xfrm>
          <a:prstGeom prst="rect">
            <a:avLst/>
          </a:prstGeom>
        </p:spPr>
        <p:txBody>
          <a:bodyPr anchor="t" rtlCol="false" tIns="0" lIns="0" bIns="0" rIns="0">
            <a:spAutoFit/>
          </a:bodyPr>
          <a:lstStyle/>
          <a:p>
            <a:pPr algn="ctr">
              <a:lnSpc>
                <a:spcPts val="13248"/>
              </a:lnSpc>
            </a:pPr>
            <a:r>
              <a:rPr lang="en-US" sz="11040">
                <a:solidFill>
                  <a:srgbClr val="000000"/>
                </a:solidFill>
                <a:latin typeface="Anton"/>
                <a:ea typeface="Anton"/>
                <a:cs typeface="Anton"/>
                <a:sym typeface="Anton"/>
              </a:rPr>
              <a:t>WHAT IS OSINT? </a:t>
            </a:r>
          </a:p>
        </p:txBody>
      </p:sp>
      <p:sp>
        <p:nvSpPr>
          <p:cNvPr name="TextBox 3" id="3"/>
          <p:cNvSpPr txBox="true"/>
          <p:nvPr/>
        </p:nvSpPr>
        <p:spPr>
          <a:xfrm rot="0">
            <a:off x="1178108" y="3209119"/>
            <a:ext cx="15931784" cy="5105273"/>
          </a:xfrm>
          <a:prstGeom prst="rect">
            <a:avLst/>
          </a:prstGeom>
        </p:spPr>
        <p:txBody>
          <a:bodyPr anchor="t" rtlCol="false" tIns="0" lIns="0" bIns="0" rIns="0">
            <a:spAutoFit/>
          </a:bodyPr>
          <a:lstStyle/>
          <a:p>
            <a:pPr algn="just">
              <a:lnSpc>
                <a:spcPts val="5782"/>
              </a:lnSpc>
              <a:spcBef>
                <a:spcPct val="0"/>
              </a:spcBef>
            </a:pPr>
            <a:r>
              <a:rPr lang="en-US" b="true" sz="4130">
                <a:solidFill>
                  <a:srgbClr val="000000"/>
                </a:solidFill>
                <a:latin typeface="Inter Medium"/>
                <a:ea typeface="Inter Medium"/>
                <a:cs typeface="Inter Medium"/>
                <a:sym typeface="Inter Medium"/>
              </a:rPr>
              <a:t>OSINT stands for </a:t>
            </a:r>
            <a:r>
              <a:rPr lang="en-US" b="true" sz="4130">
                <a:solidFill>
                  <a:srgbClr val="000000"/>
                </a:solidFill>
                <a:latin typeface="Inter Bold"/>
                <a:ea typeface="Inter Bold"/>
                <a:cs typeface="Inter Bold"/>
                <a:sym typeface="Inter Bold"/>
              </a:rPr>
              <a:t>Open Source Intelligence</a:t>
            </a:r>
            <a:r>
              <a:rPr lang="en-US" b="true" sz="4130">
                <a:solidFill>
                  <a:srgbClr val="000000"/>
                </a:solidFill>
                <a:latin typeface="Inter Medium"/>
                <a:ea typeface="Inter Medium"/>
                <a:cs typeface="Inter Medium"/>
                <a:sym typeface="Inter Medium"/>
              </a:rPr>
              <a:t>. It means </a:t>
            </a:r>
            <a:r>
              <a:rPr lang="en-US" b="true" sz="4130">
                <a:solidFill>
                  <a:srgbClr val="000000"/>
                </a:solidFill>
                <a:latin typeface="Inter Bold"/>
                <a:ea typeface="Inter Bold"/>
                <a:cs typeface="Inter Bold"/>
                <a:sym typeface="Inter Bold"/>
              </a:rPr>
              <a:t>collecting information</a:t>
            </a:r>
            <a:r>
              <a:rPr lang="en-US" b="true" sz="4130">
                <a:solidFill>
                  <a:srgbClr val="000000"/>
                </a:solidFill>
                <a:latin typeface="Inter Medium"/>
                <a:ea typeface="Inter Medium"/>
                <a:cs typeface="Inter Medium"/>
                <a:sym typeface="Inter Medium"/>
              </a:rPr>
              <a:t> that is </a:t>
            </a:r>
            <a:r>
              <a:rPr lang="en-US" b="true" sz="4130">
                <a:solidFill>
                  <a:srgbClr val="000000"/>
                </a:solidFill>
                <a:latin typeface="Inter Bold"/>
                <a:ea typeface="Inter Bold"/>
                <a:cs typeface="Inter Bold"/>
                <a:sym typeface="Inter Bold"/>
              </a:rPr>
              <a:t>freely</a:t>
            </a:r>
            <a:r>
              <a:rPr lang="en-US" b="true" sz="4130">
                <a:solidFill>
                  <a:srgbClr val="000000"/>
                </a:solidFill>
                <a:latin typeface="Inter Medium"/>
                <a:ea typeface="Inter Medium"/>
                <a:cs typeface="Inter Medium"/>
                <a:sym typeface="Inter Medium"/>
              </a:rPr>
              <a:t> and </a:t>
            </a:r>
            <a:r>
              <a:rPr lang="en-US" b="true" sz="4130">
                <a:solidFill>
                  <a:srgbClr val="000000"/>
                </a:solidFill>
                <a:latin typeface="Inter Bold"/>
                <a:ea typeface="Inter Bold"/>
                <a:cs typeface="Inter Bold"/>
                <a:sym typeface="Inter Bold"/>
              </a:rPr>
              <a:t>legally</a:t>
            </a:r>
            <a:r>
              <a:rPr lang="en-US" b="true" sz="4130">
                <a:solidFill>
                  <a:srgbClr val="000000"/>
                </a:solidFill>
                <a:latin typeface="Inter Medium"/>
                <a:ea typeface="Inter Medium"/>
                <a:cs typeface="Inter Medium"/>
                <a:sym typeface="Inter Medium"/>
              </a:rPr>
              <a:t> available to the public and turning it into something useful.</a:t>
            </a:r>
          </a:p>
          <a:p>
            <a:pPr algn="just">
              <a:lnSpc>
                <a:spcPts val="5782"/>
              </a:lnSpc>
              <a:spcBef>
                <a:spcPct val="0"/>
              </a:spcBef>
            </a:pPr>
          </a:p>
          <a:p>
            <a:pPr algn="just">
              <a:lnSpc>
                <a:spcPts val="5782"/>
              </a:lnSpc>
              <a:spcBef>
                <a:spcPct val="0"/>
              </a:spcBef>
            </a:pPr>
            <a:r>
              <a:rPr lang="en-US" b="true" sz="4130">
                <a:solidFill>
                  <a:srgbClr val="000000"/>
                </a:solidFill>
                <a:latin typeface="Inter Medium"/>
                <a:ea typeface="Inter Medium"/>
                <a:cs typeface="Inter Medium"/>
                <a:sym typeface="Inter Medium"/>
              </a:rPr>
              <a:t>"Open source" here does not mean open-source software. It means </a:t>
            </a:r>
            <a:r>
              <a:rPr lang="en-US" b="true" sz="4130">
                <a:solidFill>
                  <a:srgbClr val="000000"/>
                </a:solidFill>
                <a:latin typeface="Inter Bold"/>
                <a:ea typeface="Inter Bold"/>
                <a:cs typeface="Inter Bold"/>
                <a:sym typeface="Inter Bold"/>
              </a:rPr>
              <a:t>open, public sources</a:t>
            </a:r>
            <a:r>
              <a:rPr lang="en-US" b="true" sz="4130">
                <a:solidFill>
                  <a:srgbClr val="000000"/>
                </a:solidFill>
                <a:latin typeface="Inter Medium"/>
                <a:ea typeface="Inter Medium"/>
                <a:cs typeface="Inter Medium"/>
                <a:sym typeface="Inter Medium"/>
              </a:rPr>
              <a:t> – anything anyone can see </a:t>
            </a:r>
            <a:r>
              <a:rPr lang="en-US" b="true" sz="4130">
                <a:solidFill>
                  <a:srgbClr val="000000"/>
                </a:solidFill>
                <a:latin typeface="Inter Bold"/>
                <a:ea typeface="Inter Bold"/>
                <a:cs typeface="Inter Bold"/>
                <a:sym typeface="Inter Bold"/>
              </a:rPr>
              <a:t>without hacking or breaking in.</a:t>
            </a:r>
          </a:p>
        </p:txBody>
      </p:sp>
      <p:sp>
        <p:nvSpPr>
          <p:cNvPr name="Freeform 4" id="4"/>
          <p:cNvSpPr/>
          <p:nvPr/>
        </p:nvSpPr>
        <p:spPr>
          <a:xfrm flipH="false" flipV="false" rot="678324">
            <a:off x="9238865" y="1094515"/>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303119">
            <a:off x="448572" y="7672747"/>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303119">
            <a:off x="468736" y="8388035"/>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303119">
            <a:off x="488899" y="9103323"/>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02349" y="1386446"/>
            <a:ext cx="15823207" cy="8900554"/>
          </a:xfrm>
          <a:custGeom>
            <a:avLst/>
            <a:gdLst/>
            <a:ahLst/>
            <a:cxnLst/>
            <a:rect r="r" b="b" t="t" l="l"/>
            <a:pathLst>
              <a:path h="8900554" w="15823207">
                <a:moveTo>
                  <a:pt x="0" y="0"/>
                </a:moveTo>
                <a:lnTo>
                  <a:pt x="15823208" y="0"/>
                </a:lnTo>
                <a:lnTo>
                  <a:pt x="15823208" y="8900554"/>
                </a:lnTo>
                <a:lnTo>
                  <a:pt x="0" y="8900554"/>
                </a:lnTo>
                <a:lnTo>
                  <a:pt x="0" y="0"/>
                </a:lnTo>
                <a:close/>
              </a:path>
            </a:pathLst>
          </a:custGeom>
          <a:blipFill>
            <a:blip r:embed="rId4"/>
            <a:stretch>
              <a:fillRect l="0" t="0" r="0" b="0"/>
            </a:stretch>
          </a:blipFill>
        </p:spPr>
      </p:sp>
      <p:sp>
        <p:nvSpPr>
          <p:cNvPr name="Freeform 6" id="6"/>
          <p:cNvSpPr/>
          <p:nvPr/>
        </p:nvSpPr>
        <p:spPr>
          <a:xfrm flipH="false" flipV="false" rot="0">
            <a:off x="6391672" y="348526"/>
            <a:ext cx="1307015" cy="1354419"/>
          </a:xfrm>
          <a:custGeom>
            <a:avLst/>
            <a:gdLst/>
            <a:ahLst/>
            <a:cxnLst/>
            <a:rect r="r" b="b" t="t" l="l"/>
            <a:pathLst>
              <a:path h="1354419" w="1307015">
                <a:moveTo>
                  <a:pt x="0" y="0"/>
                </a:moveTo>
                <a:lnTo>
                  <a:pt x="1307015" y="0"/>
                </a:lnTo>
                <a:lnTo>
                  <a:pt x="1307015" y="1354420"/>
                </a:lnTo>
                <a:lnTo>
                  <a:pt x="0" y="13544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569608" y="354454"/>
            <a:ext cx="9959084" cy="1348492"/>
          </a:xfrm>
          <a:prstGeom prst="rect">
            <a:avLst/>
          </a:prstGeom>
        </p:spPr>
        <p:txBody>
          <a:bodyPr anchor="t" rtlCol="false" tIns="0" lIns="0" bIns="0" rIns="0">
            <a:spAutoFit/>
          </a:bodyPr>
          <a:lstStyle/>
          <a:p>
            <a:pPr algn="ctr">
              <a:lnSpc>
                <a:spcPts val="10618"/>
              </a:lnSpc>
            </a:pPr>
            <a:r>
              <a:rPr lang="en-US" sz="8848">
                <a:solidFill>
                  <a:srgbClr val="000000"/>
                </a:solidFill>
                <a:latin typeface="Anton"/>
                <a:ea typeface="Anton"/>
                <a:cs typeface="Anton"/>
                <a:sym typeface="Anton"/>
              </a:rPr>
              <a:t>OPEN SOURCE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88359" y="2483387"/>
            <a:ext cx="8196922" cy="6265545"/>
            <a:chOff x="0" y="0"/>
            <a:chExt cx="2158860" cy="1650185"/>
          </a:xfrm>
        </p:grpSpPr>
        <p:sp>
          <p:nvSpPr>
            <p:cNvPr name="Freeform 3" id="3"/>
            <p:cNvSpPr/>
            <p:nvPr/>
          </p:nvSpPr>
          <p:spPr>
            <a:xfrm flipH="false" flipV="false" rot="0">
              <a:off x="0" y="0"/>
              <a:ext cx="2158860" cy="1650185"/>
            </a:xfrm>
            <a:custGeom>
              <a:avLst/>
              <a:gdLst/>
              <a:ahLst/>
              <a:cxnLst/>
              <a:rect r="r" b="b" t="t" l="l"/>
              <a:pathLst>
                <a:path h="1650185" w="2158860">
                  <a:moveTo>
                    <a:pt x="48169" y="0"/>
                  </a:moveTo>
                  <a:lnTo>
                    <a:pt x="2110691" y="0"/>
                  </a:lnTo>
                  <a:cubicBezTo>
                    <a:pt x="2137294" y="0"/>
                    <a:pt x="2158860" y="21566"/>
                    <a:pt x="2158860" y="48169"/>
                  </a:cubicBezTo>
                  <a:lnTo>
                    <a:pt x="2158860" y="1602016"/>
                  </a:lnTo>
                  <a:cubicBezTo>
                    <a:pt x="2158860" y="1628619"/>
                    <a:pt x="2137294" y="1650185"/>
                    <a:pt x="2110691" y="1650185"/>
                  </a:cubicBezTo>
                  <a:lnTo>
                    <a:pt x="48169" y="1650185"/>
                  </a:lnTo>
                  <a:cubicBezTo>
                    <a:pt x="35394" y="1650185"/>
                    <a:pt x="23142" y="1645110"/>
                    <a:pt x="14108" y="1636076"/>
                  </a:cubicBezTo>
                  <a:cubicBezTo>
                    <a:pt x="5075" y="1627043"/>
                    <a:pt x="0" y="1614791"/>
                    <a:pt x="0" y="1602016"/>
                  </a:cubicBezTo>
                  <a:lnTo>
                    <a:pt x="0" y="48169"/>
                  </a:lnTo>
                  <a:cubicBezTo>
                    <a:pt x="0" y="21566"/>
                    <a:pt x="21566" y="0"/>
                    <a:pt x="48169" y="0"/>
                  </a:cubicBezTo>
                  <a:close/>
                </a:path>
              </a:pathLst>
            </a:custGeom>
            <a:solidFill>
              <a:srgbClr val="D1D3D4"/>
            </a:solidFill>
          </p:spPr>
        </p:sp>
        <p:sp>
          <p:nvSpPr>
            <p:cNvPr name="TextBox 4" id="4"/>
            <p:cNvSpPr txBox="true"/>
            <p:nvPr/>
          </p:nvSpPr>
          <p:spPr>
            <a:xfrm>
              <a:off x="0" y="-38100"/>
              <a:ext cx="2158860" cy="1688285"/>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1978125" y="452306"/>
            <a:ext cx="1608695" cy="1504129"/>
          </a:xfrm>
          <a:custGeom>
            <a:avLst/>
            <a:gdLst/>
            <a:ahLst/>
            <a:cxnLst/>
            <a:rect r="r" b="b" t="t" l="l"/>
            <a:pathLst>
              <a:path h="1504129" w="1608695">
                <a:moveTo>
                  <a:pt x="0" y="0"/>
                </a:moveTo>
                <a:lnTo>
                  <a:pt x="1608694" y="0"/>
                </a:lnTo>
                <a:lnTo>
                  <a:pt x="1608694" y="1504129"/>
                </a:lnTo>
                <a:lnTo>
                  <a:pt x="0" y="1504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858222" y="2747518"/>
            <a:ext cx="7401078" cy="6234303"/>
          </a:xfrm>
          <a:prstGeom prst="rect">
            <a:avLst/>
          </a:prstGeom>
        </p:spPr>
        <p:txBody>
          <a:bodyPr anchor="t" rtlCol="false" tIns="0" lIns="0" bIns="0" rIns="0">
            <a:spAutoFit/>
          </a:bodyPr>
          <a:lstStyle/>
          <a:p>
            <a:pPr algn="l">
              <a:lnSpc>
                <a:spcPts val="5502"/>
              </a:lnSpc>
            </a:pPr>
            <a:r>
              <a:rPr lang="en-US" sz="3930">
                <a:solidFill>
                  <a:srgbClr val="000000"/>
                </a:solidFill>
                <a:latin typeface="Inter"/>
                <a:ea typeface="Inter"/>
                <a:cs typeface="Inter"/>
                <a:sym typeface="Inter"/>
              </a:rPr>
              <a:t>Simple example: A company's data is stolen. A forensic expert makes an exact copy of the employee's laptop, finds deleted files, checks browser history and USB logs, and </a:t>
            </a:r>
            <a:r>
              <a:rPr lang="en-US" sz="3930" b="true">
                <a:solidFill>
                  <a:srgbClr val="000000"/>
                </a:solidFill>
                <a:latin typeface="Inter Bold"/>
                <a:ea typeface="Inter Bold"/>
                <a:cs typeface="Inter Bold"/>
                <a:sym typeface="Inter Bold"/>
              </a:rPr>
              <a:t>proves the data was copied to a pen drive on a certain date.</a:t>
            </a:r>
          </a:p>
          <a:p>
            <a:pPr algn="l">
              <a:lnSpc>
                <a:spcPts val="5502"/>
              </a:lnSpc>
            </a:pPr>
          </a:p>
        </p:txBody>
      </p:sp>
      <p:sp>
        <p:nvSpPr>
          <p:cNvPr name="TextBox 7" id="7"/>
          <p:cNvSpPr txBox="true"/>
          <p:nvPr/>
        </p:nvSpPr>
        <p:spPr>
          <a:xfrm rot="0">
            <a:off x="737501" y="737235"/>
            <a:ext cx="10867394"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WHAT IS DIGITAL FORENSICS?</a:t>
            </a:r>
          </a:p>
        </p:txBody>
      </p:sp>
      <p:sp>
        <p:nvSpPr>
          <p:cNvPr name="TextBox 8" id="8"/>
          <p:cNvSpPr txBox="true"/>
          <p:nvPr/>
        </p:nvSpPr>
        <p:spPr>
          <a:xfrm rot="0">
            <a:off x="737501" y="3140075"/>
            <a:ext cx="8003092" cy="5449189"/>
          </a:xfrm>
          <a:prstGeom prst="rect">
            <a:avLst/>
          </a:prstGeom>
        </p:spPr>
        <p:txBody>
          <a:bodyPr anchor="t" rtlCol="false" tIns="0" lIns="0" bIns="0" rIns="0">
            <a:spAutoFit/>
          </a:bodyPr>
          <a:lstStyle/>
          <a:p>
            <a:pPr algn="l">
              <a:lnSpc>
                <a:spcPts val="5782"/>
              </a:lnSpc>
            </a:pPr>
            <a:r>
              <a:rPr lang="en-US" sz="4130">
                <a:solidFill>
                  <a:srgbClr val="000000"/>
                </a:solidFill>
                <a:latin typeface="Inter"/>
                <a:ea typeface="Inter"/>
                <a:cs typeface="Inter"/>
                <a:sym typeface="Inter"/>
              </a:rPr>
              <a:t>Digital forensics means </a:t>
            </a:r>
            <a:r>
              <a:rPr lang="en-US" sz="4130" b="true">
                <a:solidFill>
                  <a:srgbClr val="000000"/>
                </a:solidFill>
                <a:latin typeface="Inter Bold"/>
                <a:ea typeface="Inter Bold"/>
                <a:cs typeface="Inter Bold"/>
                <a:sym typeface="Inter Bold"/>
              </a:rPr>
              <a:t>finding</a:t>
            </a:r>
            <a:r>
              <a:rPr lang="en-US" sz="4130">
                <a:solidFill>
                  <a:srgbClr val="000000"/>
                </a:solidFill>
                <a:latin typeface="Inter"/>
                <a:ea typeface="Inter"/>
                <a:cs typeface="Inter"/>
                <a:sym typeface="Inter"/>
              </a:rPr>
              <a:t>, </a:t>
            </a:r>
            <a:r>
              <a:rPr lang="en-US" sz="4130" b="true">
                <a:solidFill>
                  <a:srgbClr val="000000"/>
                </a:solidFill>
                <a:latin typeface="Inter Bold"/>
                <a:ea typeface="Inter Bold"/>
                <a:cs typeface="Inter Bold"/>
                <a:sym typeface="Inter Bold"/>
              </a:rPr>
              <a:t>coll</a:t>
            </a:r>
            <a:r>
              <a:rPr lang="en-US" b="true" sz="4130">
                <a:solidFill>
                  <a:srgbClr val="000000"/>
                </a:solidFill>
                <a:latin typeface="Inter Bold"/>
                <a:ea typeface="Inter Bold"/>
                <a:cs typeface="Inter Bold"/>
                <a:sym typeface="Inter Bold"/>
              </a:rPr>
              <a:t>ecting </a:t>
            </a:r>
            <a:r>
              <a:rPr lang="en-US" sz="4130">
                <a:solidFill>
                  <a:srgbClr val="000000"/>
                </a:solidFill>
                <a:latin typeface="Inter"/>
                <a:ea typeface="Inter"/>
                <a:cs typeface="Inter"/>
                <a:sym typeface="Inter"/>
              </a:rPr>
              <a:t>and </a:t>
            </a:r>
            <a:r>
              <a:rPr lang="en-US" b="true" sz="4130">
                <a:solidFill>
                  <a:srgbClr val="000000"/>
                </a:solidFill>
                <a:latin typeface="Inter Bold"/>
                <a:ea typeface="Inter Bold"/>
                <a:cs typeface="Inter Bold"/>
                <a:sym typeface="Inter Bold"/>
              </a:rPr>
              <a:t>studying evidence </a:t>
            </a:r>
            <a:r>
              <a:rPr lang="en-US" sz="4130">
                <a:solidFill>
                  <a:srgbClr val="000000"/>
                </a:solidFill>
                <a:latin typeface="Inter"/>
                <a:ea typeface="Inter"/>
                <a:cs typeface="Inter"/>
                <a:sym typeface="Inter"/>
              </a:rPr>
              <a:t>from digital devices – computers, phones, hard disks, USB drives, cloud accounts and networks – </a:t>
            </a:r>
            <a:r>
              <a:rPr lang="en-US" b="true" sz="4130">
                <a:solidFill>
                  <a:srgbClr val="000000"/>
                </a:solidFill>
                <a:latin typeface="Inter Bold"/>
                <a:ea typeface="Inter Bold"/>
                <a:cs typeface="Inter Bold"/>
                <a:sym typeface="Inter Bold"/>
              </a:rPr>
              <a:t>in a way that can be trusted in court</a:t>
            </a:r>
            <a:r>
              <a:rPr lang="en-US" sz="4130">
                <a:solidFill>
                  <a:srgbClr val="000000"/>
                </a:solidFill>
                <a:latin typeface="Inter"/>
                <a:ea typeface="Inter"/>
                <a:cs typeface="Inter"/>
                <a:sym typeface="Inter"/>
              </a:rPr>
              <a:t>.</a:t>
            </a:r>
          </a:p>
          <a:p>
            <a:pPr algn="l">
              <a:lnSpc>
                <a:spcPts val="252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948" y="1028700"/>
            <a:ext cx="18010103" cy="10130683"/>
          </a:xfrm>
          <a:custGeom>
            <a:avLst/>
            <a:gdLst/>
            <a:ahLst/>
            <a:cxnLst/>
            <a:rect r="r" b="b" t="t" l="l"/>
            <a:pathLst>
              <a:path h="10130683" w="18010103">
                <a:moveTo>
                  <a:pt x="0" y="0"/>
                </a:moveTo>
                <a:lnTo>
                  <a:pt x="18010104" y="0"/>
                </a:lnTo>
                <a:lnTo>
                  <a:pt x="18010104" y="10130683"/>
                </a:lnTo>
                <a:lnTo>
                  <a:pt x="0" y="10130683"/>
                </a:lnTo>
                <a:lnTo>
                  <a:pt x="0" y="0"/>
                </a:lnTo>
                <a:close/>
              </a:path>
            </a:pathLst>
          </a:custGeom>
          <a:blipFill>
            <a:blip r:embed="rId2"/>
            <a:stretch>
              <a:fillRect l="0" t="0" r="0" b="0"/>
            </a:stretch>
          </a:blipFill>
        </p:spPr>
      </p:sp>
      <p:sp>
        <p:nvSpPr>
          <p:cNvPr name="TextBox 3" id="3"/>
          <p:cNvSpPr txBox="true"/>
          <p:nvPr/>
        </p:nvSpPr>
        <p:spPr>
          <a:xfrm rot="0">
            <a:off x="619296" y="578167"/>
            <a:ext cx="11949272"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OSINT VS DIGITAL FORENSICS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581779" y="798376"/>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97351" y="798376"/>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012923" y="798376"/>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2938579"/>
            <a:ext cx="13063860" cy="7348421"/>
          </a:xfrm>
          <a:custGeom>
            <a:avLst/>
            <a:gdLst/>
            <a:ahLst/>
            <a:cxnLst/>
            <a:rect r="r" b="b" t="t" l="l"/>
            <a:pathLst>
              <a:path h="7348421" w="13063860">
                <a:moveTo>
                  <a:pt x="0" y="0"/>
                </a:moveTo>
                <a:lnTo>
                  <a:pt x="13063860" y="0"/>
                </a:lnTo>
                <a:lnTo>
                  <a:pt x="13063860" y="7348421"/>
                </a:lnTo>
                <a:lnTo>
                  <a:pt x="0" y="7348421"/>
                </a:lnTo>
                <a:lnTo>
                  <a:pt x="0" y="0"/>
                </a:lnTo>
                <a:close/>
              </a:path>
            </a:pathLst>
          </a:custGeom>
          <a:blipFill>
            <a:blip r:embed="rId4"/>
            <a:stretch>
              <a:fillRect l="0" t="0" r="0" b="0"/>
            </a:stretch>
          </a:blipFill>
        </p:spPr>
      </p:sp>
      <p:grpSp>
        <p:nvGrpSpPr>
          <p:cNvPr name="Group 6" id="6"/>
          <p:cNvGrpSpPr/>
          <p:nvPr/>
        </p:nvGrpSpPr>
        <p:grpSpPr>
          <a:xfrm rot="0">
            <a:off x="13459210" y="3554664"/>
            <a:ext cx="4336395" cy="4529295"/>
            <a:chOff x="0" y="0"/>
            <a:chExt cx="1142096" cy="1192901"/>
          </a:xfrm>
        </p:grpSpPr>
        <p:sp>
          <p:nvSpPr>
            <p:cNvPr name="Freeform 7" id="7"/>
            <p:cNvSpPr/>
            <p:nvPr/>
          </p:nvSpPr>
          <p:spPr>
            <a:xfrm flipH="false" flipV="false" rot="0">
              <a:off x="0" y="0"/>
              <a:ext cx="1142096" cy="1192901"/>
            </a:xfrm>
            <a:custGeom>
              <a:avLst/>
              <a:gdLst/>
              <a:ahLst/>
              <a:cxnLst/>
              <a:rect r="r" b="b" t="t" l="l"/>
              <a:pathLst>
                <a:path h="1192901" w="1142096">
                  <a:moveTo>
                    <a:pt x="91052" y="0"/>
                  </a:moveTo>
                  <a:lnTo>
                    <a:pt x="1051044" y="0"/>
                  </a:lnTo>
                  <a:cubicBezTo>
                    <a:pt x="1101330" y="0"/>
                    <a:pt x="1142096" y="40765"/>
                    <a:pt x="1142096" y="91052"/>
                  </a:cubicBezTo>
                  <a:lnTo>
                    <a:pt x="1142096" y="1101849"/>
                  </a:lnTo>
                  <a:cubicBezTo>
                    <a:pt x="1142096" y="1152135"/>
                    <a:pt x="1101330" y="1192901"/>
                    <a:pt x="1051044" y="1192901"/>
                  </a:cubicBezTo>
                  <a:lnTo>
                    <a:pt x="91052" y="1192901"/>
                  </a:lnTo>
                  <a:cubicBezTo>
                    <a:pt x="40765" y="1192901"/>
                    <a:pt x="0" y="1152135"/>
                    <a:pt x="0" y="1101849"/>
                  </a:cubicBezTo>
                  <a:lnTo>
                    <a:pt x="0" y="91052"/>
                  </a:lnTo>
                  <a:cubicBezTo>
                    <a:pt x="0" y="40765"/>
                    <a:pt x="40765" y="0"/>
                    <a:pt x="91052" y="0"/>
                  </a:cubicBezTo>
                  <a:close/>
                </a:path>
              </a:pathLst>
            </a:custGeom>
            <a:solidFill>
              <a:srgbClr val="D2D2D1"/>
            </a:solidFill>
          </p:spPr>
        </p:sp>
        <p:sp>
          <p:nvSpPr>
            <p:cNvPr name="TextBox 8" id="8"/>
            <p:cNvSpPr txBox="true"/>
            <p:nvPr/>
          </p:nvSpPr>
          <p:spPr>
            <a:xfrm>
              <a:off x="0" y="-38100"/>
              <a:ext cx="1142096" cy="1231001"/>
            </a:xfrm>
            <a:prstGeom prst="rect">
              <a:avLst/>
            </a:prstGeom>
          </p:spPr>
          <p:txBody>
            <a:bodyPr anchor="ctr" rtlCol="false" tIns="50800" lIns="50800" bIns="50800" rIns="50800"/>
            <a:lstStyle/>
            <a:p>
              <a:pPr algn="ctr">
                <a:lnSpc>
                  <a:spcPts val="2940"/>
                </a:lnSpc>
              </a:pPr>
            </a:p>
          </p:txBody>
        </p:sp>
      </p:grpSp>
      <p:sp>
        <p:nvSpPr>
          <p:cNvPr name="Freeform 9" id="9"/>
          <p:cNvSpPr/>
          <p:nvPr/>
        </p:nvSpPr>
        <p:spPr>
          <a:xfrm flipH="false" flipV="false" rot="0">
            <a:off x="8855324" y="255469"/>
            <a:ext cx="1568934" cy="2064387"/>
          </a:xfrm>
          <a:custGeom>
            <a:avLst/>
            <a:gdLst/>
            <a:ahLst/>
            <a:cxnLst/>
            <a:rect r="r" b="b" t="t" l="l"/>
            <a:pathLst>
              <a:path h="2064387" w="1568934">
                <a:moveTo>
                  <a:pt x="0" y="0"/>
                </a:moveTo>
                <a:lnTo>
                  <a:pt x="1568934" y="0"/>
                </a:lnTo>
                <a:lnTo>
                  <a:pt x="1568934" y="2064388"/>
                </a:lnTo>
                <a:lnTo>
                  <a:pt x="0" y="20643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717133" y="721182"/>
            <a:ext cx="15560392"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OSINT IN CYBER &amp; IRL</a:t>
            </a:r>
          </a:p>
        </p:txBody>
      </p:sp>
      <p:sp>
        <p:nvSpPr>
          <p:cNvPr name="TextBox 11" id="11"/>
          <p:cNvSpPr txBox="true"/>
          <p:nvPr/>
        </p:nvSpPr>
        <p:spPr>
          <a:xfrm rot="0">
            <a:off x="13375755" y="3867065"/>
            <a:ext cx="5476861" cy="3738893"/>
          </a:xfrm>
          <a:prstGeom prst="rect">
            <a:avLst/>
          </a:prstGeom>
        </p:spPr>
        <p:txBody>
          <a:bodyPr anchor="t" rtlCol="false" tIns="0" lIns="0" bIns="0" rIns="0">
            <a:spAutoFit/>
          </a:bodyPr>
          <a:lstStyle/>
          <a:p>
            <a:pPr algn="l" marL="761849" indent="-380925" lvl="1">
              <a:lnSpc>
                <a:spcPts val="4940"/>
              </a:lnSpc>
              <a:buFont typeface="Arial"/>
              <a:buChar char="•"/>
            </a:pPr>
            <a:r>
              <a:rPr lang="en-US" b="true" sz="3528">
                <a:solidFill>
                  <a:srgbClr val="000000"/>
                </a:solidFill>
                <a:latin typeface="Canva Sans Bold"/>
                <a:ea typeface="Canva Sans Bold"/>
                <a:cs typeface="Canva Sans Bold"/>
                <a:sym typeface="Canva Sans Bold"/>
              </a:rPr>
              <a:t>Jo</a:t>
            </a:r>
            <a:r>
              <a:rPr lang="en-US" b="true" sz="3528">
                <a:solidFill>
                  <a:srgbClr val="000000"/>
                </a:solidFill>
                <a:latin typeface="Canva Sans Bold"/>
                <a:ea typeface="Canva Sans Bold"/>
                <a:cs typeface="Canva Sans Bold"/>
                <a:sym typeface="Canva Sans Bold"/>
              </a:rPr>
              <a:t>urnalism</a:t>
            </a:r>
          </a:p>
          <a:p>
            <a:pPr algn="l" marL="761849" indent="-380925" lvl="1">
              <a:lnSpc>
                <a:spcPts val="4940"/>
              </a:lnSpc>
              <a:buFont typeface="Arial"/>
              <a:buChar char="•"/>
            </a:pPr>
            <a:r>
              <a:rPr lang="en-US" b="true" sz="3528">
                <a:solidFill>
                  <a:srgbClr val="000000"/>
                </a:solidFill>
                <a:latin typeface="Canva Sans Bold"/>
                <a:ea typeface="Canva Sans Bold"/>
                <a:cs typeface="Canva Sans Bold"/>
                <a:sym typeface="Canva Sans Bold"/>
              </a:rPr>
              <a:t>Police and law enforcement</a:t>
            </a:r>
          </a:p>
          <a:p>
            <a:pPr algn="l" marL="761849" indent="-380925" lvl="1">
              <a:lnSpc>
                <a:spcPts val="4940"/>
              </a:lnSpc>
              <a:buFont typeface="Arial"/>
              <a:buChar char="•"/>
            </a:pPr>
            <a:r>
              <a:rPr lang="en-US" b="true" sz="3528">
                <a:solidFill>
                  <a:srgbClr val="000000"/>
                </a:solidFill>
                <a:latin typeface="Canva Sans Bold"/>
                <a:ea typeface="Canva Sans Bold"/>
                <a:cs typeface="Canva Sans Bold"/>
                <a:sym typeface="Canva Sans Bold"/>
              </a:rPr>
              <a:t>Business</a:t>
            </a:r>
          </a:p>
          <a:p>
            <a:pPr algn="l" marL="761849" indent="-380925" lvl="1">
              <a:lnSpc>
                <a:spcPts val="4940"/>
              </a:lnSpc>
              <a:buFont typeface="Arial"/>
              <a:buChar char="•"/>
            </a:pPr>
            <a:r>
              <a:rPr lang="en-US" b="true" sz="3528">
                <a:solidFill>
                  <a:srgbClr val="000000"/>
                </a:solidFill>
                <a:latin typeface="Canva Sans Bold"/>
                <a:ea typeface="Canva Sans Bold"/>
                <a:cs typeface="Canva Sans Bold"/>
                <a:sym typeface="Canva Sans Bold"/>
              </a:rPr>
              <a:t>Personal safety</a:t>
            </a:r>
          </a:p>
          <a:p>
            <a:pPr algn="l" marL="761849" indent="-380925" lvl="1">
              <a:lnSpc>
                <a:spcPts val="4940"/>
              </a:lnSpc>
              <a:buFont typeface="Arial"/>
              <a:buChar char="•"/>
            </a:pPr>
            <a:r>
              <a:rPr lang="en-US" b="true" sz="3528">
                <a:solidFill>
                  <a:srgbClr val="000000"/>
                </a:solidFill>
                <a:latin typeface="Canva Sans Bold"/>
                <a:ea typeface="Canva Sans Bold"/>
                <a:cs typeface="Canva Sans Bold"/>
                <a:sym typeface="Canva Sans Bold"/>
              </a:rPr>
              <a:t>Human rights</a:t>
            </a:r>
          </a:p>
        </p:txBody>
      </p:sp>
      <p:sp>
        <p:nvSpPr>
          <p:cNvPr name="TextBox 12" id="12"/>
          <p:cNvSpPr txBox="true"/>
          <p:nvPr/>
        </p:nvSpPr>
        <p:spPr>
          <a:xfrm rot="0">
            <a:off x="717133" y="2243657"/>
            <a:ext cx="1902682" cy="694922"/>
          </a:xfrm>
          <a:prstGeom prst="rect">
            <a:avLst/>
          </a:prstGeom>
        </p:spPr>
        <p:txBody>
          <a:bodyPr anchor="t" rtlCol="false" tIns="0" lIns="0" bIns="0" rIns="0">
            <a:spAutoFit/>
          </a:bodyPr>
          <a:lstStyle/>
          <a:p>
            <a:pPr algn="ctr">
              <a:lnSpc>
                <a:spcPts val="5688"/>
              </a:lnSpc>
            </a:pPr>
            <a:r>
              <a:rPr lang="en-US" sz="4063" b="true">
                <a:solidFill>
                  <a:srgbClr val="000000"/>
                </a:solidFill>
                <a:latin typeface="Canva Sans Bold"/>
                <a:ea typeface="Canva Sans Bold"/>
                <a:cs typeface="Canva Sans Bold"/>
                <a:sym typeface="Canva Sans Bold"/>
              </a:rPr>
              <a:t>CYBER-</a:t>
            </a:r>
          </a:p>
        </p:txBody>
      </p:sp>
      <p:sp>
        <p:nvSpPr>
          <p:cNvPr name="TextBox 13" id="13"/>
          <p:cNvSpPr txBox="true"/>
          <p:nvPr/>
        </p:nvSpPr>
        <p:spPr>
          <a:xfrm rot="0">
            <a:off x="13757276" y="2243657"/>
            <a:ext cx="966226" cy="694922"/>
          </a:xfrm>
          <a:prstGeom prst="rect">
            <a:avLst/>
          </a:prstGeom>
        </p:spPr>
        <p:txBody>
          <a:bodyPr anchor="t" rtlCol="false" tIns="0" lIns="0" bIns="0" rIns="0">
            <a:spAutoFit/>
          </a:bodyPr>
          <a:lstStyle/>
          <a:p>
            <a:pPr algn="ctr">
              <a:lnSpc>
                <a:spcPts val="5688"/>
              </a:lnSpc>
            </a:pPr>
            <a:r>
              <a:rPr lang="en-US" sz="4063" b="true">
                <a:solidFill>
                  <a:srgbClr val="000000"/>
                </a:solidFill>
                <a:latin typeface="Canva Sans Bold"/>
                <a:ea typeface="Canva Sans Bold"/>
                <a:cs typeface="Canva Sans Bold"/>
                <a:sym typeface="Canva Sans Bold"/>
              </a:rPr>
              <a:t>IRL-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4954" y="774542"/>
            <a:ext cx="18828355" cy="10590950"/>
          </a:xfrm>
          <a:custGeom>
            <a:avLst/>
            <a:gdLst/>
            <a:ahLst/>
            <a:cxnLst/>
            <a:rect r="r" b="b" t="t" l="l"/>
            <a:pathLst>
              <a:path h="10590950" w="18828355">
                <a:moveTo>
                  <a:pt x="0" y="0"/>
                </a:moveTo>
                <a:lnTo>
                  <a:pt x="18828355" y="0"/>
                </a:lnTo>
                <a:lnTo>
                  <a:pt x="18828355" y="10590950"/>
                </a:lnTo>
                <a:lnTo>
                  <a:pt x="0" y="10590950"/>
                </a:lnTo>
                <a:lnTo>
                  <a:pt x="0" y="0"/>
                </a:lnTo>
                <a:close/>
              </a:path>
            </a:pathLst>
          </a:custGeom>
          <a:blipFill>
            <a:blip r:embed="rId2"/>
            <a:stretch>
              <a:fillRect l="0" t="0" r="0" b="0"/>
            </a:stretch>
          </a:blipFill>
        </p:spPr>
      </p:sp>
      <p:sp>
        <p:nvSpPr>
          <p:cNvPr name="Freeform 3" id="3"/>
          <p:cNvSpPr/>
          <p:nvPr/>
        </p:nvSpPr>
        <p:spPr>
          <a:xfrm flipH="false" flipV="false" rot="0">
            <a:off x="9356711" y="259193"/>
            <a:ext cx="1485149" cy="1539015"/>
          </a:xfrm>
          <a:custGeom>
            <a:avLst/>
            <a:gdLst/>
            <a:ahLst/>
            <a:cxnLst/>
            <a:rect r="r" b="b" t="t" l="l"/>
            <a:pathLst>
              <a:path h="1539015" w="1485149">
                <a:moveTo>
                  <a:pt x="0" y="0"/>
                </a:moveTo>
                <a:lnTo>
                  <a:pt x="1485149" y="0"/>
                </a:lnTo>
                <a:lnTo>
                  <a:pt x="1485149" y="1539014"/>
                </a:lnTo>
                <a:lnTo>
                  <a:pt x="0" y="15390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88289" y="419100"/>
            <a:ext cx="8768422"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COMMON OSINT TOOLS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34714" y="0"/>
            <a:ext cx="3553286" cy="4011931"/>
          </a:xfrm>
          <a:custGeom>
            <a:avLst/>
            <a:gdLst/>
            <a:ahLst/>
            <a:cxnLst/>
            <a:rect r="r" b="b" t="t" l="l"/>
            <a:pathLst>
              <a:path h="4011931" w="3553286">
                <a:moveTo>
                  <a:pt x="0" y="0"/>
                </a:moveTo>
                <a:lnTo>
                  <a:pt x="3553286" y="0"/>
                </a:lnTo>
                <a:lnTo>
                  <a:pt x="3553286" y="4011931"/>
                </a:lnTo>
                <a:lnTo>
                  <a:pt x="0" y="4011931"/>
                </a:lnTo>
                <a:lnTo>
                  <a:pt x="0" y="0"/>
                </a:lnTo>
                <a:close/>
              </a:path>
            </a:pathLst>
          </a:custGeom>
          <a:blipFill>
            <a:blip r:embed="rId2"/>
            <a:stretch>
              <a:fillRect l="0" t="0" r="0" b="0"/>
            </a:stretch>
          </a:blipFill>
        </p:spPr>
      </p:sp>
      <p:sp>
        <p:nvSpPr>
          <p:cNvPr name="TextBox 3" id="3"/>
          <p:cNvSpPr txBox="true"/>
          <p:nvPr/>
        </p:nvSpPr>
        <p:spPr>
          <a:xfrm rot="0">
            <a:off x="653681" y="765017"/>
            <a:ext cx="11119316" cy="1386982"/>
          </a:xfrm>
          <a:prstGeom prst="rect">
            <a:avLst/>
          </a:prstGeom>
        </p:spPr>
        <p:txBody>
          <a:bodyPr anchor="t" rtlCol="false" tIns="0" lIns="0" bIns="0" rIns="0">
            <a:spAutoFit/>
          </a:bodyPr>
          <a:lstStyle/>
          <a:p>
            <a:pPr algn="l">
              <a:lnSpc>
                <a:spcPts val="10846"/>
              </a:lnSpc>
            </a:pPr>
            <a:r>
              <a:rPr lang="en-US" sz="9038">
                <a:solidFill>
                  <a:srgbClr val="000000"/>
                </a:solidFill>
                <a:latin typeface="Anton"/>
                <a:ea typeface="Anton"/>
                <a:cs typeface="Anton"/>
                <a:sym typeface="Anton"/>
              </a:rPr>
              <a:t>QUIZZ 1 :-</a:t>
            </a:r>
          </a:p>
        </p:txBody>
      </p:sp>
      <p:sp>
        <p:nvSpPr>
          <p:cNvPr name="TextBox 4" id="4"/>
          <p:cNvSpPr txBox="true"/>
          <p:nvPr/>
        </p:nvSpPr>
        <p:spPr>
          <a:xfrm rot="0">
            <a:off x="9139238" y="1028700"/>
            <a:ext cx="9525" cy="1219200"/>
          </a:xfrm>
          <a:prstGeom prst="rect">
            <a:avLst/>
          </a:prstGeom>
        </p:spPr>
        <p:txBody>
          <a:bodyPr anchor="t" rtlCol="false" tIns="0" lIns="0" bIns="0" rIns="0">
            <a:spAutoFit/>
          </a:bodyPr>
          <a:lstStyle/>
          <a:p>
            <a:pPr algn="ctr">
              <a:lnSpc>
                <a:spcPts val="9600"/>
              </a:lnSpc>
              <a:spcBef>
                <a:spcPct val="0"/>
              </a:spcBef>
            </a:pPr>
          </a:p>
        </p:txBody>
      </p:sp>
      <p:sp>
        <p:nvSpPr>
          <p:cNvPr name="TextBox 5" id="5"/>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6" id="6"/>
          <p:cNvSpPr txBox="true"/>
          <p:nvPr/>
        </p:nvSpPr>
        <p:spPr>
          <a:xfrm rot="0">
            <a:off x="653681" y="5057775"/>
            <a:ext cx="18231354" cy="3191084"/>
          </a:xfrm>
          <a:prstGeom prst="rect">
            <a:avLst/>
          </a:prstGeom>
        </p:spPr>
        <p:txBody>
          <a:bodyPr anchor="t" rtlCol="false" tIns="0" lIns="0" bIns="0" rIns="0">
            <a:spAutoFit/>
          </a:bodyPr>
          <a:lstStyle/>
          <a:p>
            <a:pPr algn="l">
              <a:lnSpc>
                <a:spcPts val="6369"/>
              </a:lnSpc>
            </a:pPr>
            <a:r>
              <a:rPr lang="en-US" sz="4549" b="true">
                <a:solidFill>
                  <a:srgbClr val="000000"/>
                </a:solidFill>
                <a:latin typeface="Canva Sans Bold"/>
                <a:ea typeface="Canva Sans Bold"/>
                <a:cs typeface="Canva Sans Bold"/>
                <a:sym typeface="Canva Sans Bold"/>
              </a:rPr>
              <a:t>1. Is looking at someone's public Instagram profile OSINT?</a:t>
            </a:r>
          </a:p>
          <a:p>
            <a:pPr algn="l">
              <a:lnSpc>
                <a:spcPts val="6369"/>
              </a:lnSpc>
            </a:pPr>
          </a:p>
          <a:p>
            <a:pPr algn="l">
              <a:lnSpc>
                <a:spcPts val="6369"/>
              </a:lnSpc>
            </a:pPr>
            <a:r>
              <a:rPr lang="en-US" sz="4549" b="true">
                <a:solidFill>
                  <a:srgbClr val="000000"/>
                </a:solidFill>
                <a:latin typeface="Canva Sans Bold"/>
                <a:ea typeface="Canva Sans Bold"/>
                <a:cs typeface="Canva Sans Bold"/>
                <a:sym typeface="Canva Sans Bold"/>
              </a:rPr>
              <a:t>2. When you delete a file, what usually stays on the disk?</a:t>
            </a:r>
          </a:p>
          <a:p>
            <a:pPr algn="l">
              <a:lnSpc>
                <a:spcPts val="6369"/>
              </a:lnSpc>
            </a:p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53681" y="774542"/>
            <a:ext cx="9841807"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ANSWERS</a:t>
            </a:r>
          </a:p>
        </p:txBody>
      </p:sp>
      <p:sp>
        <p:nvSpPr>
          <p:cNvPr name="TextBox 3" id="3"/>
          <p:cNvSpPr txBox="true"/>
          <p:nvPr/>
        </p:nvSpPr>
        <p:spPr>
          <a:xfrm rot="0">
            <a:off x="370700" y="3894294"/>
            <a:ext cx="17546599" cy="3692684"/>
          </a:xfrm>
          <a:prstGeom prst="rect">
            <a:avLst/>
          </a:prstGeom>
        </p:spPr>
        <p:txBody>
          <a:bodyPr anchor="t" rtlCol="false" tIns="0" lIns="0" bIns="0" rIns="0">
            <a:spAutoFit/>
          </a:bodyPr>
          <a:lstStyle/>
          <a:p>
            <a:pPr algn="l">
              <a:lnSpc>
                <a:spcPts val="9885"/>
              </a:lnSpc>
            </a:pPr>
            <a:r>
              <a:rPr lang="en-US" sz="7061">
                <a:solidFill>
                  <a:srgbClr val="000000"/>
                </a:solidFill>
                <a:latin typeface="Canva Sans"/>
                <a:ea typeface="Canva Sans"/>
                <a:cs typeface="Canva Sans"/>
                <a:sym typeface="Canva Sans"/>
              </a:rPr>
              <a:t>1. Yes, if you only look</a:t>
            </a:r>
            <a:r>
              <a:rPr lang="en-US" sz="7061">
                <a:solidFill>
                  <a:srgbClr val="000000"/>
                </a:solidFill>
                <a:latin typeface="Canva Sans"/>
                <a:ea typeface="Canva Sans"/>
                <a:cs typeface="Canva Sans"/>
                <a:sym typeface="Canva Sans"/>
              </a:rPr>
              <a:t> at public data</a:t>
            </a:r>
          </a:p>
          <a:p>
            <a:pPr algn="l">
              <a:lnSpc>
                <a:spcPts val="9885"/>
              </a:lnSpc>
            </a:pPr>
            <a:r>
              <a:rPr lang="en-US" sz="7061">
                <a:solidFill>
                  <a:srgbClr val="000000"/>
                </a:solidFill>
                <a:latin typeface="Canva Sans"/>
                <a:ea typeface="Canva Sans"/>
                <a:cs typeface="Canva Sans"/>
                <a:sym typeface="Canva Sans"/>
              </a:rPr>
              <a:t>2. The data, until something overwrites it</a:t>
            </a:r>
          </a:p>
          <a:p>
            <a:pPr algn="l">
              <a:lnSpc>
                <a:spcPts val="988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43640" y="1993742"/>
            <a:ext cx="14743569" cy="8293258"/>
          </a:xfrm>
          <a:custGeom>
            <a:avLst/>
            <a:gdLst/>
            <a:ahLst/>
            <a:cxnLst/>
            <a:rect r="r" b="b" t="t" l="l"/>
            <a:pathLst>
              <a:path h="8293258" w="14743569">
                <a:moveTo>
                  <a:pt x="0" y="0"/>
                </a:moveTo>
                <a:lnTo>
                  <a:pt x="14743570" y="0"/>
                </a:lnTo>
                <a:lnTo>
                  <a:pt x="14743570" y="8293258"/>
                </a:lnTo>
                <a:lnTo>
                  <a:pt x="0" y="8293258"/>
                </a:lnTo>
                <a:lnTo>
                  <a:pt x="0" y="0"/>
                </a:lnTo>
                <a:close/>
              </a:path>
            </a:pathLst>
          </a:custGeom>
          <a:blipFill>
            <a:blip r:embed="rId2"/>
            <a:stretch>
              <a:fillRect l="0" t="0" r="0" b="0"/>
            </a:stretch>
          </a:blipFill>
        </p:spPr>
      </p:sp>
      <p:sp>
        <p:nvSpPr>
          <p:cNvPr name="TextBox 3" id="3"/>
          <p:cNvSpPr txBox="true"/>
          <p:nvPr/>
        </p:nvSpPr>
        <p:spPr>
          <a:xfrm rot="0">
            <a:off x="624632" y="841004"/>
            <a:ext cx="17038736" cy="2305476"/>
          </a:xfrm>
          <a:prstGeom prst="rect">
            <a:avLst/>
          </a:prstGeom>
        </p:spPr>
        <p:txBody>
          <a:bodyPr anchor="t" rtlCol="false" tIns="0" lIns="0" bIns="0" rIns="0">
            <a:spAutoFit/>
          </a:bodyPr>
          <a:lstStyle/>
          <a:p>
            <a:pPr algn="l">
              <a:lnSpc>
                <a:spcPts val="9076"/>
              </a:lnSpc>
            </a:pPr>
            <a:r>
              <a:rPr lang="en-US" sz="7563">
                <a:solidFill>
                  <a:srgbClr val="000000"/>
                </a:solidFill>
                <a:latin typeface="Anton"/>
                <a:ea typeface="Anton"/>
                <a:cs typeface="Anton"/>
                <a:sym typeface="Anton"/>
              </a:rPr>
              <a:t>OSINT METHODOLOGY – THE INTELLIGENCE CYCLE</a:t>
            </a:r>
          </a:p>
          <a:p>
            <a:pPr algn="l">
              <a:lnSpc>
                <a:spcPts val="9076"/>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824217" y="2540813"/>
          <a:ext cx="16435083" cy="6924675"/>
        </p:xfrm>
        <a:graphic>
          <a:graphicData uri="http://schemas.openxmlformats.org/drawingml/2006/table">
            <a:tbl>
              <a:tblPr/>
              <a:tblGrid>
                <a:gridCol w="3182836"/>
                <a:gridCol w="6626123"/>
                <a:gridCol w="6626123"/>
              </a:tblGrid>
              <a:tr h="1235523">
                <a:tc>
                  <a:txBody>
                    <a:bodyPr anchor="t" rtlCol="false"/>
                    <a:lstStyle/>
                    <a:p>
                      <a:pPr algn="ctr">
                        <a:lnSpc>
                          <a:spcPts val="517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b="true">
                          <a:solidFill>
                            <a:srgbClr val="000000"/>
                          </a:solidFill>
                          <a:latin typeface="Inter Bold"/>
                          <a:ea typeface="Inter Bold"/>
                          <a:cs typeface="Inter Bold"/>
                          <a:sym typeface="Inter Bold"/>
                        </a:rPr>
                        <a:t>Passive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a:solidFill>
                            <a:srgbClr val="000000"/>
                          </a:solidFill>
                          <a:latin typeface="Inter"/>
                          <a:ea typeface="Inter"/>
                          <a:cs typeface="Inter"/>
                          <a:sym typeface="Inter"/>
                        </a:rPr>
                        <a:t>Active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96384">
                <a:tc>
                  <a:txBody>
                    <a:bodyPr anchor="t" rtlCol="false"/>
                    <a:lstStyle/>
                    <a:p>
                      <a:pPr algn="ctr">
                        <a:lnSpc>
                          <a:spcPts val="5179"/>
                        </a:lnSpc>
                        <a:defRPr/>
                      </a:pPr>
                      <a:r>
                        <a:rPr lang="en-US" sz="3699">
                          <a:solidFill>
                            <a:srgbClr val="000000"/>
                          </a:solidFill>
                          <a:latin typeface="Inter"/>
                          <a:ea typeface="Inter"/>
                          <a:cs typeface="Inter"/>
                          <a:sym typeface="Inter"/>
                        </a:rPr>
                        <a:t>Meaning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a:solidFill>
                            <a:srgbClr val="000000"/>
                          </a:solidFill>
                          <a:latin typeface="Inter"/>
                          <a:ea typeface="Inter"/>
                          <a:cs typeface="Inter"/>
                          <a:sym typeface="Inter"/>
                        </a:rPr>
                        <a:t>Only look at public data, never touch the target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a:solidFill>
                            <a:srgbClr val="000000"/>
                          </a:solidFill>
                          <a:latin typeface="Inter"/>
                          <a:ea typeface="Inter"/>
                          <a:cs typeface="Inter"/>
                          <a:sym typeface="Inter"/>
                        </a:rPr>
                        <a:t>Interact with the target directly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96384">
                <a:tc>
                  <a:txBody>
                    <a:bodyPr anchor="t" rtlCol="false"/>
                    <a:lstStyle/>
                    <a:p>
                      <a:pPr algn="ctr">
                        <a:lnSpc>
                          <a:spcPts val="5179"/>
                        </a:lnSpc>
                        <a:defRPr/>
                      </a:pPr>
                      <a:r>
                        <a:rPr lang="en-US" sz="3699">
                          <a:solidFill>
                            <a:srgbClr val="000000"/>
                          </a:solidFill>
                          <a:latin typeface="Inter"/>
                          <a:ea typeface="Inter"/>
                          <a:cs typeface="Inter"/>
                          <a:sym typeface="Inter"/>
                        </a:rPr>
                        <a:t>Target knows?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879"/>
                        </a:lnSpc>
                        <a:defRPr/>
                      </a:pPr>
                      <a:r>
                        <a:rPr lang="en-US" sz="4199">
                          <a:solidFill>
                            <a:srgbClr val="000000"/>
                          </a:solidFill>
                          <a:latin typeface="Inter"/>
                          <a:ea typeface="Inter"/>
                          <a:cs typeface="Inter"/>
                          <a:sym typeface="Inter"/>
                        </a:rPr>
                        <a:t>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a:solidFill>
                            <a:srgbClr val="000000"/>
                          </a:solidFill>
                          <a:latin typeface="Inter"/>
                          <a:ea typeface="Inter"/>
                          <a:cs typeface="Inter"/>
                          <a:sym typeface="Inter"/>
                        </a:rPr>
                        <a:t>May notice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96384">
                <a:tc>
                  <a:txBody>
                    <a:bodyPr anchor="t" rtlCol="false"/>
                    <a:lstStyle/>
                    <a:p>
                      <a:pPr algn="ctr">
                        <a:lnSpc>
                          <a:spcPts val="5179"/>
                        </a:lnSpc>
                        <a:defRPr/>
                      </a:pPr>
                      <a:r>
                        <a:rPr lang="en-US" sz="3699">
                          <a:solidFill>
                            <a:srgbClr val="000000"/>
                          </a:solidFill>
                          <a:latin typeface="Inter"/>
                          <a:ea typeface="Inter"/>
                          <a:cs typeface="Inter"/>
                          <a:sym typeface="Inter"/>
                        </a:rPr>
                        <a:t>Example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a:solidFill>
                            <a:srgbClr val="000000"/>
                          </a:solidFill>
                          <a:latin typeface="Inter"/>
                          <a:ea typeface="Inter"/>
                          <a:cs typeface="Inter"/>
                          <a:sym typeface="Inter"/>
                        </a:rPr>
                        <a:t>Reading someone's public LinkedIn, Google search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a:solidFill>
                            <a:srgbClr val="000000"/>
                          </a:solidFill>
                          <a:latin typeface="Inter"/>
                          <a:ea typeface="Inter"/>
                          <a:cs typeface="Inter"/>
                          <a:sym typeface="Inter"/>
                        </a:rPr>
                        <a:t>Port scanning their server, sending a friend request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15564530" y="169530"/>
            <a:ext cx="1084964" cy="1084964"/>
          </a:xfrm>
          <a:custGeom>
            <a:avLst/>
            <a:gdLst/>
            <a:ahLst/>
            <a:cxnLst/>
            <a:rect r="r" b="b" t="t" l="l"/>
            <a:pathLst>
              <a:path h="1084964" w="1084964">
                <a:moveTo>
                  <a:pt x="0" y="0"/>
                </a:moveTo>
                <a:lnTo>
                  <a:pt x="1084965" y="0"/>
                </a:lnTo>
                <a:lnTo>
                  <a:pt x="1084965" y="1084965"/>
                </a:lnTo>
                <a:lnTo>
                  <a:pt x="0" y="10849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982428" y="169530"/>
            <a:ext cx="1084964" cy="1084964"/>
          </a:xfrm>
          <a:custGeom>
            <a:avLst/>
            <a:gdLst/>
            <a:ahLst/>
            <a:cxnLst/>
            <a:rect r="r" b="b" t="t" l="l"/>
            <a:pathLst>
              <a:path h="1084964" w="1084964">
                <a:moveTo>
                  <a:pt x="0" y="0"/>
                </a:moveTo>
                <a:lnTo>
                  <a:pt x="1084964" y="0"/>
                </a:lnTo>
                <a:lnTo>
                  <a:pt x="1084964" y="1084965"/>
                </a:lnTo>
                <a:lnTo>
                  <a:pt x="0" y="10849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146191" y="169530"/>
            <a:ext cx="1084964" cy="1084964"/>
          </a:xfrm>
          <a:custGeom>
            <a:avLst/>
            <a:gdLst/>
            <a:ahLst/>
            <a:cxnLst/>
            <a:rect r="r" b="b" t="t" l="l"/>
            <a:pathLst>
              <a:path h="1084964" w="1084964">
                <a:moveTo>
                  <a:pt x="0" y="0"/>
                </a:moveTo>
                <a:lnTo>
                  <a:pt x="1084964" y="0"/>
                </a:lnTo>
                <a:lnTo>
                  <a:pt x="1084964" y="1084965"/>
                </a:lnTo>
                <a:lnTo>
                  <a:pt x="0" y="10849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824217" y="712013"/>
            <a:ext cx="14647151" cy="36576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PASSIVE VS ACTIVE OSINT</a:t>
            </a:r>
          </a:p>
          <a:p>
            <a:pPr algn="l">
              <a:lnSpc>
                <a:spcPts val="9600"/>
              </a:lnSpc>
            </a:pPr>
          </a:p>
          <a:p>
            <a:pPr algn="l">
              <a:lnSpc>
                <a:spcPts val="9600"/>
              </a:lnSpc>
            </a:pPr>
            <a:r>
              <a:rPr lang="en-US" sz="8000">
                <a:solidFill>
                  <a:srgbClr val="000000"/>
                </a:solidFill>
                <a:latin typeface="Anton"/>
                <a:ea typeface="Anton"/>
                <a:cs typeface="Anton"/>
                <a:sym typeface="Anton"/>
              </a:rPr>
              <a: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7006" y="3743188"/>
            <a:ext cx="17213987" cy="4663101"/>
            <a:chOff x="0" y="0"/>
            <a:chExt cx="4533725" cy="1228142"/>
          </a:xfrm>
        </p:grpSpPr>
        <p:sp>
          <p:nvSpPr>
            <p:cNvPr name="Freeform 3" id="3"/>
            <p:cNvSpPr/>
            <p:nvPr/>
          </p:nvSpPr>
          <p:spPr>
            <a:xfrm flipH="false" flipV="false" rot="0">
              <a:off x="0" y="0"/>
              <a:ext cx="4533725" cy="1228142"/>
            </a:xfrm>
            <a:custGeom>
              <a:avLst/>
              <a:gdLst/>
              <a:ahLst/>
              <a:cxnLst/>
              <a:rect r="r" b="b" t="t" l="l"/>
              <a:pathLst>
                <a:path h="1228142" w="4533725">
                  <a:moveTo>
                    <a:pt x="22937" y="0"/>
                  </a:moveTo>
                  <a:lnTo>
                    <a:pt x="4510788" y="0"/>
                  </a:lnTo>
                  <a:cubicBezTo>
                    <a:pt x="4523456" y="0"/>
                    <a:pt x="4533725" y="10269"/>
                    <a:pt x="4533725" y="22937"/>
                  </a:cubicBezTo>
                  <a:lnTo>
                    <a:pt x="4533725" y="1205205"/>
                  </a:lnTo>
                  <a:cubicBezTo>
                    <a:pt x="4533725" y="1211288"/>
                    <a:pt x="4531308" y="1217122"/>
                    <a:pt x="4527007" y="1221424"/>
                  </a:cubicBezTo>
                  <a:cubicBezTo>
                    <a:pt x="4522705" y="1225725"/>
                    <a:pt x="4516871" y="1228142"/>
                    <a:pt x="4510788" y="1228142"/>
                  </a:cubicBezTo>
                  <a:lnTo>
                    <a:pt x="22937" y="1228142"/>
                  </a:lnTo>
                  <a:cubicBezTo>
                    <a:pt x="16854" y="1228142"/>
                    <a:pt x="11020" y="1225725"/>
                    <a:pt x="6718" y="1221424"/>
                  </a:cubicBezTo>
                  <a:cubicBezTo>
                    <a:pt x="2417" y="1217122"/>
                    <a:pt x="0" y="1211288"/>
                    <a:pt x="0" y="1205205"/>
                  </a:cubicBezTo>
                  <a:lnTo>
                    <a:pt x="0" y="22937"/>
                  </a:lnTo>
                  <a:cubicBezTo>
                    <a:pt x="0" y="16854"/>
                    <a:pt x="2417" y="11020"/>
                    <a:pt x="6718" y="6718"/>
                  </a:cubicBezTo>
                  <a:cubicBezTo>
                    <a:pt x="11020" y="2417"/>
                    <a:pt x="16854" y="0"/>
                    <a:pt x="22937" y="0"/>
                  </a:cubicBezTo>
                  <a:close/>
                </a:path>
              </a:pathLst>
            </a:custGeom>
            <a:solidFill>
              <a:srgbClr val="D1D3D4"/>
            </a:solidFill>
          </p:spPr>
        </p:sp>
        <p:sp>
          <p:nvSpPr>
            <p:cNvPr name="TextBox 4" id="4"/>
            <p:cNvSpPr txBox="true"/>
            <p:nvPr/>
          </p:nvSpPr>
          <p:spPr>
            <a:xfrm>
              <a:off x="0" y="-38100"/>
              <a:ext cx="4533725" cy="1266242"/>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878642" y="3925216"/>
            <a:ext cx="16530716" cy="6581255"/>
          </a:xfrm>
          <a:prstGeom prst="rect">
            <a:avLst/>
          </a:prstGeom>
        </p:spPr>
        <p:txBody>
          <a:bodyPr anchor="t" rtlCol="false" tIns="0" lIns="0" bIns="0" rIns="0">
            <a:spAutoFit/>
          </a:bodyPr>
          <a:lstStyle/>
          <a:p>
            <a:pPr algn="l">
              <a:lnSpc>
                <a:spcPts val="4753"/>
              </a:lnSpc>
              <a:spcBef>
                <a:spcPct val="0"/>
              </a:spcBef>
            </a:pPr>
            <a:r>
              <a:rPr lang="en-US" b="true" sz="3395">
                <a:solidFill>
                  <a:srgbClr val="000000"/>
                </a:solidFill>
                <a:latin typeface="Inter Bold"/>
                <a:ea typeface="Inter Bold"/>
                <a:cs typeface="Inter Bold"/>
                <a:sym typeface="Inter Bold"/>
              </a:rPr>
              <a:t>EXAMPLE </a:t>
            </a:r>
            <a:r>
              <a:rPr lang="en-US" b="true" sz="3395">
                <a:solidFill>
                  <a:srgbClr val="000000"/>
                </a:solidFill>
                <a:latin typeface="Inter Medium"/>
                <a:ea typeface="Inter Medium"/>
                <a:cs typeface="Inter Medium"/>
                <a:sym typeface="Inter Medium"/>
              </a:rPr>
              <a:t>&gt;&gt;&gt;&gt;&gt; </a:t>
            </a:r>
            <a:r>
              <a:rPr lang="en-US" b="true" sz="3395">
                <a:solidFill>
                  <a:srgbClr val="000000"/>
                </a:solidFill>
                <a:latin typeface="Inter Bold"/>
                <a:ea typeface="Inter Bold"/>
                <a:cs typeface="Inter Bold"/>
                <a:sym typeface="Inter Bold"/>
              </a:rPr>
              <a:t>A THEIF BREAKS INTO A SHOP</a:t>
            </a:r>
          </a:p>
          <a:p>
            <a:pPr algn="l">
              <a:lnSpc>
                <a:spcPts val="4753"/>
              </a:lnSpc>
              <a:spcBef>
                <a:spcPct val="0"/>
              </a:spcBef>
            </a:pPr>
            <a:r>
              <a:rPr lang="en-US" b="true" sz="3395">
                <a:solidFill>
                  <a:srgbClr val="000000"/>
                </a:solidFill>
                <a:latin typeface="Inter Medium"/>
                <a:ea typeface="Inter Medium"/>
                <a:cs typeface="Inter Medium"/>
                <a:sym typeface="Inter Medium"/>
              </a:rPr>
              <a:t>• First, the police and guards rush in, catch or chase out the thief, lock the doors and make sure the shop can open again. That is Incident Response – act fast and stop the damage</a:t>
            </a:r>
          </a:p>
          <a:p>
            <a:pPr algn="l">
              <a:lnSpc>
                <a:spcPts val="4753"/>
              </a:lnSpc>
              <a:spcBef>
                <a:spcPct val="0"/>
              </a:spcBef>
            </a:pPr>
            <a:r>
              <a:rPr lang="en-US" b="true" sz="3395">
                <a:solidFill>
                  <a:srgbClr val="000000"/>
                </a:solidFill>
                <a:latin typeface="Inter Medium"/>
                <a:ea typeface="Inter Medium"/>
                <a:cs typeface="Inter Medium"/>
                <a:sym typeface="Inter Medium"/>
              </a:rPr>
              <a:t>• Then a detective comes in, carefully collects fingerprints and CCTV footage, and finds out how the thief got in, what was stolen and who did it. That is Digital Forensics – investigate and collect proof</a:t>
            </a:r>
          </a:p>
          <a:p>
            <a:pPr algn="l">
              <a:lnSpc>
                <a:spcPts val="4753"/>
              </a:lnSpc>
              <a:spcBef>
                <a:spcPct val="0"/>
              </a:spcBef>
            </a:pPr>
          </a:p>
          <a:p>
            <a:pPr algn="l">
              <a:lnSpc>
                <a:spcPts val="4753"/>
              </a:lnSpc>
              <a:spcBef>
                <a:spcPct val="0"/>
              </a:spcBef>
            </a:pPr>
            <a:r>
              <a:rPr lang="en-US" sz="3395">
                <a:solidFill>
                  <a:srgbClr val="000000"/>
                </a:solidFill>
                <a:latin typeface="Inter"/>
                <a:ea typeface="Inter"/>
                <a:cs typeface="Inter"/>
                <a:sym typeface="Inter"/>
              </a:rPr>
              <a:t>In DFIR, the "shop" is a computer or network, the "thief" is a hacker, and the "fingerprints" are things like log files, deleted files and network traffic.</a:t>
            </a:r>
          </a:p>
          <a:p>
            <a:pPr algn="l">
              <a:lnSpc>
                <a:spcPts val="4753"/>
              </a:lnSpc>
              <a:spcBef>
                <a:spcPct val="0"/>
              </a:spcBef>
            </a:pPr>
          </a:p>
        </p:txBody>
      </p:sp>
      <p:sp>
        <p:nvSpPr>
          <p:cNvPr name="Freeform 6" id="6"/>
          <p:cNvSpPr/>
          <p:nvPr/>
        </p:nvSpPr>
        <p:spPr>
          <a:xfrm flipH="false" flipV="false" rot="0">
            <a:off x="6006815" y="329665"/>
            <a:ext cx="1732276" cy="1628339"/>
          </a:xfrm>
          <a:custGeom>
            <a:avLst/>
            <a:gdLst/>
            <a:ahLst/>
            <a:cxnLst/>
            <a:rect r="r" b="b" t="t" l="l"/>
            <a:pathLst>
              <a:path h="1628339" w="1732276">
                <a:moveTo>
                  <a:pt x="0" y="0"/>
                </a:moveTo>
                <a:lnTo>
                  <a:pt x="1732275" y="0"/>
                </a:lnTo>
                <a:lnTo>
                  <a:pt x="1732275" y="1628339"/>
                </a:lnTo>
                <a:lnTo>
                  <a:pt x="0" y="16283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537006" y="578167"/>
            <a:ext cx="6335946"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INTRO TO DFIR</a:t>
            </a:r>
          </a:p>
        </p:txBody>
      </p:sp>
      <p:sp>
        <p:nvSpPr>
          <p:cNvPr name="TextBox 8" id="8"/>
          <p:cNvSpPr txBox="true"/>
          <p:nvPr/>
        </p:nvSpPr>
        <p:spPr>
          <a:xfrm rot="0">
            <a:off x="534055" y="2091354"/>
            <a:ext cx="16714013" cy="1438148"/>
          </a:xfrm>
          <a:prstGeom prst="rect">
            <a:avLst/>
          </a:prstGeom>
        </p:spPr>
        <p:txBody>
          <a:bodyPr anchor="t" rtlCol="false" tIns="0" lIns="0" bIns="0" rIns="0">
            <a:spAutoFit/>
          </a:bodyPr>
          <a:lstStyle/>
          <a:p>
            <a:pPr algn="l">
              <a:lnSpc>
                <a:spcPts val="5782"/>
              </a:lnSpc>
              <a:spcBef>
                <a:spcPct val="0"/>
              </a:spcBef>
            </a:pPr>
            <a:r>
              <a:rPr lang="en-US" b="true" sz="4130">
                <a:solidFill>
                  <a:srgbClr val="000000"/>
                </a:solidFill>
                <a:latin typeface="Inter Medium"/>
                <a:ea typeface="Inter Medium"/>
                <a:cs typeface="Inter Medium"/>
                <a:sym typeface="Inter Medium"/>
              </a:rPr>
              <a:t>DFIR stands for Digital Forensics and Incident Response. It is what a company does when it gets hacked.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5069" y="5406324"/>
            <a:ext cx="17384389" cy="4049653"/>
            <a:chOff x="0" y="0"/>
            <a:chExt cx="4578605" cy="1066575"/>
          </a:xfrm>
        </p:grpSpPr>
        <p:sp>
          <p:nvSpPr>
            <p:cNvPr name="Freeform 3" id="3"/>
            <p:cNvSpPr/>
            <p:nvPr/>
          </p:nvSpPr>
          <p:spPr>
            <a:xfrm flipH="false" flipV="false" rot="0">
              <a:off x="0" y="0"/>
              <a:ext cx="4578605" cy="1066575"/>
            </a:xfrm>
            <a:custGeom>
              <a:avLst/>
              <a:gdLst/>
              <a:ahLst/>
              <a:cxnLst/>
              <a:rect r="r" b="b" t="t" l="l"/>
              <a:pathLst>
                <a:path h="1066575" w="4578605">
                  <a:moveTo>
                    <a:pt x="22712" y="0"/>
                  </a:moveTo>
                  <a:lnTo>
                    <a:pt x="4555892" y="0"/>
                  </a:lnTo>
                  <a:cubicBezTo>
                    <a:pt x="4568436" y="0"/>
                    <a:pt x="4578605" y="10169"/>
                    <a:pt x="4578605" y="22712"/>
                  </a:cubicBezTo>
                  <a:lnTo>
                    <a:pt x="4578605" y="1043863"/>
                  </a:lnTo>
                  <a:cubicBezTo>
                    <a:pt x="4578605" y="1056407"/>
                    <a:pt x="4568436" y="1066575"/>
                    <a:pt x="4555892" y="1066575"/>
                  </a:cubicBezTo>
                  <a:lnTo>
                    <a:pt x="22712" y="1066575"/>
                  </a:lnTo>
                  <a:cubicBezTo>
                    <a:pt x="10169" y="1066575"/>
                    <a:pt x="0" y="1056407"/>
                    <a:pt x="0" y="1043863"/>
                  </a:cubicBezTo>
                  <a:lnTo>
                    <a:pt x="0" y="22712"/>
                  </a:lnTo>
                  <a:cubicBezTo>
                    <a:pt x="0" y="10169"/>
                    <a:pt x="10169" y="0"/>
                    <a:pt x="22712" y="0"/>
                  </a:cubicBezTo>
                  <a:close/>
                </a:path>
              </a:pathLst>
            </a:custGeom>
            <a:solidFill>
              <a:srgbClr val="D1D3D4"/>
            </a:solidFill>
          </p:spPr>
        </p:sp>
        <p:sp>
          <p:nvSpPr>
            <p:cNvPr name="TextBox 4" id="4"/>
            <p:cNvSpPr txBox="true"/>
            <p:nvPr/>
          </p:nvSpPr>
          <p:spPr>
            <a:xfrm>
              <a:off x="0" y="-38100"/>
              <a:ext cx="4578605" cy="1104675"/>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2707098" y="422324"/>
            <a:ext cx="1514555" cy="1469119"/>
          </a:xfrm>
          <a:custGeom>
            <a:avLst/>
            <a:gdLst/>
            <a:ahLst/>
            <a:cxnLst/>
            <a:rect r="r" b="b" t="t" l="l"/>
            <a:pathLst>
              <a:path h="1469119" w="1514555">
                <a:moveTo>
                  <a:pt x="0" y="0"/>
                </a:moveTo>
                <a:lnTo>
                  <a:pt x="1514556" y="0"/>
                </a:lnTo>
                <a:lnTo>
                  <a:pt x="1514556" y="1469119"/>
                </a:lnTo>
                <a:lnTo>
                  <a:pt x="0" y="1469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87895" y="672243"/>
            <a:ext cx="5849280"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DFIR</a:t>
            </a:r>
          </a:p>
        </p:txBody>
      </p:sp>
      <p:sp>
        <p:nvSpPr>
          <p:cNvPr name="TextBox 7" id="7"/>
          <p:cNvSpPr txBox="true"/>
          <p:nvPr/>
        </p:nvSpPr>
        <p:spPr>
          <a:xfrm rot="0">
            <a:off x="687895" y="2101710"/>
            <a:ext cx="16838736" cy="2721036"/>
          </a:xfrm>
          <a:prstGeom prst="rect">
            <a:avLst/>
          </a:prstGeom>
        </p:spPr>
        <p:txBody>
          <a:bodyPr anchor="t" rtlCol="false" tIns="0" lIns="0" bIns="0" rIns="0">
            <a:spAutoFit/>
          </a:bodyPr>
          <a:lstStyle/>
          <a:p>
            <a:pPr algn="l">
              <a:lnSpc>
                <a:spcPts val="5421"/>
              </a:lnSpc>
              <a:spcBef>
                <a:spcPct val="0"/>
              </a:spcBef>
            </a:pPr>
            <a:r>
              <a:rPr lang="en-US" sz="3872">
                <a:solidFill>
                  <a:srgbClr val="000000"/>
                </a:solidFill>
                <a:latin typeface="Inter"/>
                <a:ea typeface="Inter"/>
                <a:cs typeface="Inter"/>
                <a:sym typeface="Inter"/>
              </a:rPr>
              <a:t>•</a:t>
            </a:r>
            <a:r>
              <a:rPr lang="en-US" b="true" sz="3872">
                <a:solidFill>
                  <a:srgbClr val="000000"/>
                </a:solidFill>
                <a:latin typeface="Inter Bold"/>
                <a:ea typeface="Inter Bold"/>
                <a:cs typeface="Inter Bold"/>
                <a:sym typeface="Inter Bold"/>
              </a:rPr>
              <a:t> Incident Response (IR)</a:t>
            </a:r>
            <a:r>
              <a:rPr lang="en-US" sz="3872">
                <a:solidFill>
                  <a:srgbClr val="000000"/>
                </a:solidFill>
                <a:latin typeface="Inter"/>
                <a:ea typeface="Inter"/>
                <a:cs typeface="Inter"/>
                <a:sym typeface="Inter"/>
              </a:rPr>
              <a:t> – "Stop it!": act fast when an attack is happening – stop it, remove the hacker and get systems running again</a:t>
            </a:r>
          </a:p>
          <a:p>
            <a:pPr algn="l">
              <a:lnSpc>
                <a:spcPts val="5421"/>
              </a:lnSpc>
              <a:spcBef>
                <a:spcPct val="0"/>
              </a:spcBef>
            </a:pPr>
            <a:r>
              <a:rPr lang="en-US" sz="3872">
                <a:solidFill>
                  <a:srgbClr val="000000"/>
                </a:solidFill>
                <a:latin typeface="Inter"/>
                <a:ea typeface="Inter"/>
                <a:cs typeface="Inter"/>
                <a:sym typeface="Inter"/>
              </a:rPr>
              <a:t>• </a:t>
            </a:r>
            <a:r>
              <a:rPr lang="en-US" b="true" sz="3872">
                <a:solidFill>
                  <a:srgbClr val="000000"/>
                </a:solidFill>
                <a:latin typeface="Inter Bold"/>
                <a:ea typeface="Inter Bold"/>
                <a:cs typeface="Inter Bold"/>
                <a:sym typeface="Inter Bold"/>
              </a:rPr>
              <a:t>Digital Forensics (DF)</a:t>
            </a:r>
            <a:r>
              <a:rPr lang="en-US" sz="3872">
                <a:solidFill>
                  <a:srgbClr val="000000"/>
                </a:solidFill>
                <a:latin typeface="Inter"/>
                <a:ea typeface="Inter"/>
                <a:cs typeface="Inter"/>
                <a:sym typeface="Inter"/>
              </a:rPr>
              <a:t> – "What happened?": investigate carefully – how the hacker got in, what they did, what they took, and collect evidence</a:t>
            </a:r>
          </a:p>
        </p:txBody>
      </p:sp>
      <p:sp>
        <p:nvSpPr>
          <p:cNvPr name="TextBox 8" id="8"/>
          <p:cNvSpPr txBox="true"/>
          <p:nvPr/>
        </p:nvSpPr>
        <p:spPr>
          <a:xfrm rot="0">
            <a:off x="687895" y="5644140"/>
            <a:ext cx="16753534" cy="3499494"/>
          </a:xfrm>
          <a:prstGeom prst="rect">
            <a:avLst/>
          </a:prstGeom>
        </p:spPr>
        <p:txBody>
          <a:bodyPr anchor="t" rtlCol="false" tIns="0" lIns="0" bIns="0" rIns="0">
            <a:spAutoFit/>
          </a:bodyPr>
          <a:lstStyle/>
          <a:p>
            <a:pPr algn="just">
              <a:lnSpc>
                <a:spcPts val="5564"/>
              </a:lnSpc>
              <a:spcBef>
                <a:spcPct val="0"/>
              </a:spcBef>
            </a:pPr>
            <a:r>
              <a:rPr lang="en-US" b="true" sz="3974">
                <a:solidFill>
                  <a:srgbClr val="000000"/>
                </a:solidFill>
                <a:latin typeface="Inter Bold"/>
                <a:ea typeface="Inter Bold"/>
                <a:cs typeface="Inter Bold"/>
                <a:sym typeface="Inter Bold"/>
              </a:rPr>
              <a:t>Real example</a:t>
            </a:r>
            <a:r>
              <a:rPr lang="en-US" sz="3974">
                <a:solidFill>
                  <a:srgbClr val="000000"/>
                </a:solidFill>
                <a:latin typeface="Inter"/>
                <a:ea typeface="Inter"/>
                <a:cs typeface="Inter"/>
                <a:sym typeface="Inter"/>
              </a:rPr>
              <a:t>: a company's computers suddenly show a ransomware message. The IR team unplugs the infected PCs from the network so it cannot spread, and restores files from backups. The forensics team then finds the phishing email that started it, sees which files were stolen, and writes a report for the police and management.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79398" y="1804113"/>
          <a:ext cx="11348571" cy="8076648"/>
        </p:xfrm>
        <a:graphic>
          <a:graphicData uri="http://schemas.openxmlformats.org/drawingml/2006/table">
            <a:tbl>
              <a:tblPr/>
              <a:tblGrid>
                <a:gridCol w="2952051"/>
                <a:gridCol w="8396519"/>
              </a:tblGrid>
              <a:tr h="1083145">
                <a:tc>
                  <a:txBody>
                    <a:bodyPr anchor="t" rtlCol="false"/>
                    <a:lstStyle/>
                    <a:p>
                      <a:pPr algn="ctr">
                        <a:lnSpc>
                          <a:spcPts val="4199"/>
                        </a:lnSpc>
                        <a:defRPr/>
                      </a:pPr>
                      <a:r>
                        <a:rPr lang="en-US" sz="2999" b="true">
                          <a:solidFill>
                            <a:srgbClr val="000000"/>
                          </a:solidFill>
                          <a:latin typeface="Inter Bold"/>
                          <a:ea typeface="Inter Bold"/>
                          <a:cs typeface="Inter Bold"/>
                          <a:sym typeface="Inter Bold"/>
                        </a:rPr>
                        <a:t>Tool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Inter Bold"/>
                          <a:ea typeface="Inter Bold"/>
                          <a:cs typeface="Inter Bold"/>
                          <a:sym typeface="Inter Bold"/>
                        </a:rPr>
                        <a:t>Used for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17110">
                <a:tc>
                  <a:txBody>
                    <a:bodyPr anchor="t" rtlCol="false"/>
                    <a:lstStyle/>
                    <a:p>
                      <a:pPr algn="ctr">
                        <a:lnSpc>
                          <a:spcPts val="4199"/>
                        </a:lnSpc>
                        <a:defRPr/>
                      </a:pPr>
                      <a:r>
                        <a:rPr lang="en-US" sz="2999">
                          <a:solidFill>
                            <a:srgbClr val="000000"/>
                          </a:solidFill>
                          <a:latin typeface="Arimo"/>
                          <a:ea typeface="Arimo"/>
                          <a:cs typeface="Arimo"/>
                          <a:sym typeface="Arimo"/>
                        </a:rPr>
                        <a:t>Autopsy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Free tool to examine disk images, find deleted files and build timelines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17110">
                <a:tc>
                  <a:txBody>
                    <a:bodyPr anchor="t" rtlCol="false"/>
                    <a:lstStyle/>
                    <a:p>
                      <a:pPr algn="ctr">
                        <a:lnSpc>
                          <a:spcPts val="4199"/>
                        </a:lnSpc>
                        <a:defRPr/>
                      </a:pPr>
                      <a:r>
                        <a:rPr lang="en-US" sz="2999">
                          <a:solidFill>
                            <a:srgbClr val="000000"/>
                          </a:solidFill>
                          <a:latin typeface="Inter"/>
                          <a:ea typeface="Inter"/>
                          <a:cs typeface="Inter"/>
                          <a:sym typeface="Inter"/>
                        </a:rPr>
                        <a:t>FTK Imager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Makes exact forensic copies (images) of drives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83145">
                <a:tc>
                  <a:txBody>
                    <a:bodyPr anchor="t" rtlCol="false"/>
                    <a:lstStyle/>
                    <a:p>
                      <a:pPr algn="ctr">
                        <a:lnSpc>
                          <a:spcPts val="4199"/>
                        </a:lnSpc>
                        <a:defRPr/>
                      </a:pPr>
                      <a:r>
                        <a:rPr lang="en-US" sz="2999">
                          <a:solidFill>
                            <a:srgbClr val="000000"/>
                          </a:solidFill>
                          <a:latin typeface="Inter"/>
                          <a:ea typeface="Inter"/>
                          <a:cs typeface="Inter"/>
                          <a:sym typeface="Inter"/>
                        </a:rPr>
                        <a:t>Volatility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Analyses RAM (memory) dumps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83145">
                <a:tc>
                  <a:txBody>
                    <a:bodyPr anchor="t" rtlCol="false"/>
                    <a:lstStyle/>
                    <a:p>
                      <a:pPr algn="ctr">
                        <a:lnSpc>
                          <a:spcPts val="4199"/>
                        </a:lnSpc>
                        <a:defRPr/>
                      </a:pPr>
                      <a:r>
                        <a:rPr lang="en-US" sz="2999">
                          <a:solidFill>
                            <a:srgbClr val="000000"/>
                          </a:solidFill>
                          <a:latin typeface="Arimo"/>
                          <a:ea typeface="Arimo"/>
                          <a:cs typeface="Arimo"/>
                          <a:sym typeface="Arimo"/>
                        </a:rPr>
                        <a:t>Wireshark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Analyses network traffic captures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92993">
                <a:tc>
                  <a:txBody>
                    <a:bodyPr anchor="t" rtlCol="false"/>
                    <a:lstStyle/>
                    <a:p>
                      <a:pPr algn="ctr">
                        <a:lnSpc>
                          <a:spcPts val="4199"/>
                        </a:lnSpc>
                        <a:defRPr/>
                      </a:pPr>
                      <a:r>
                        <a:rPr lang="en-US" sz="2999">
                          <a:solidFill>
                            <a:srgbClr val="000000"/>
                          </a:solidFill>
                          <a:latin typeface="Inter"/>
                          <a:ea typeface="Inter"/>
                          <a:cs typeface="Inter"/>
                          <a:sym typeface="Inter"/>
                        </a:rPr>
                        <a:t>ExifTool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Reads file and photo metadata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12059696" y="1804113"/>
            <a:ext cx="6041098" cy="6796236"/>
          </a:xfrm>
          <a:custGeom>
            <a:avLst/>
            <a:gdLst/>
            <a:ahLst/>
            <a:cxnLst/>
            <a:rect r="r" b="b" t="t" l="l"/>
            <a:pathLst>
              <a:path h="6796236" w="6041098">
                <a:moveTo>
                  <a:pt x="0" y="0"/>
                </a:moveTo>
                <a:lnTo>
                  <a:pt x="6041099" y="0"/>
                </a:lnTo>
                <a:lnTo>
                  <a:pt x="6041099" y="6796236"/>
                </a:lnTo>
                <a:lnTo>
                  <a:pt x="0" y="6796236"/>
                </a:lnTo>
                <a:lnTo>
                  <a:pt x="0" y="0"/>
                </a:lnTo>
                <a:close/>
              </a:path>
            </a:pathLst>
          </a:custGeom>
          <a:blipFill>
            <a:blip r:embed="rId2"/>
            <a:stretch>
              <a:fillRect l="0" t="0" r="0" b="0"/>
            </a:stretch>
          </a:blipFill>
        </p:spPr>
      </p:sp>
      <p:sp>
        <p:nvSpPr>
          <p:cNvPr name="Freeform 4" id="4"/>
          <p:cNvSpPr/>
          <p:nvPr/>
        </p:nvSpPr>
        <p:spPr>
          <a:xfrm flipH="false" flipV="false" rot="0">
            <a:off x="6287080" y="99285"/>
            <a:ext cx="1485149" cy="1539015"/>
          </a:xfrm>
          <a:custGeom>
            <a:avLst/>
            <a:gdLst/>
            <a:ahLst/>
            <a:cxnLst/>
            <a:rect r="r" b="b" t="t" l="l"/>
            <a:pathLst>
              <a:path h="1539015" w="1485149">
                <a:moveTo>
                  <a:pt x="0" y="0"/>
                </a:moveTo>
                <a:lnTo>
                  <a:pt x="1485149" y="0"/>
                </a:lnTo>
                <a:lnTo>
                  <a:pt x="1485149" y="1539015"/>
                </a:lnTo>
                <a:lnTo>
                  <a:pt x="0" y="15390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29861" y="419100"/>
            <a:ext cx="5849280"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METHODOLOGY</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48359" y="465207"/>
            <a:ext cx="14307982" cy="1117461"/>
          </a:xfrm>
          <a:prstGeom prst="rect">
            <a:avLst/>
          </a:prstGeom>
        </p:spPr>
        <p:txBody>
          <a:bodyPr anchor="t" rtlCol="false" tIns="0" lIns="0" bIns="0" rIns="0">
            <a:spAutoFit/>
          </a:bodyPr>
          <a:lstStyle/>
          <a:p>
            <a:pPr algn="l">
              <a:lnSpc>
                <a:spcPts val="8723"/>
              </a:lnSpc>
            </a:pPr>
            <a:r>
              <a:rPr lang="en-US" sz="7269">
                <a:solidFill>
                  <a:srgbClr val="000000"/>
                </a:solidFill>
                <a:latin typeface="Anton"/>
                <a:ea typeface="Anton"/>
                <a:cs typeface="Anton"/>
                <a:sym typeface="Anton"/>
              </a:rPr>
              <a:t>QUIZZ 2: PICK THE ANSWER</a:t>
            </a:r>
          </a:p>
        </p:txBody>
      </p:sp>
      <p:sp>
        <p:nvSpPr>
          <p:cNvPr name="TextBox 3" id="3"/>
          <p:cNvSpPr txBox="true"/>
          <p:nvPr/>
        </p:nvSpPr>
        <p:spPr>
          <a:xfrm rot="0">
            <a:off x="755739" y="2331464"/>
            <a:ext cx="16775727" cy="3787627"/>
          </a:xfrm>
          <a:prstGeom prst="rect">
            <a:avLst/>
          </a:prstGeom>
        </p:spPr>
        <p:txBody>
          <a:bodyPr anchor="t" rtlCol="false" tIns="0" lIns="0" bIns="0" rIns="0">
            <a:spAutoFit/>
          </a:bodyPr>
          <a:lstStyle/>
          <a:p>
            <a:pPr algn="just">
              <a:lnSpc>
                <a:spcPts val="6062"/>
              </a:lnSpc>
            </a:pPr>
            <a:r>
              <a:rPr lang="en-US" sz="4330" b="true">
                <a:solidFill>
                  <a:srgbClr val="000000"/>
                </a:solidFill>
                <a:latin typeface="Canva Sans Bold"/>
                <a:ea typeface="Canva Sans Bold"/>
                <a:cs typeface="Canva Sans Bold"/>
                <a:sym typeface="Canva Sans Bold"/>
              </a:rPr>
              <a:t>Fin</a:t>
            </a:r>
            <a:r>
              <a:rPr lang="en-US" b="true" sz="4330">
                <a:solidFill>
                  <a:srgbClr val="000000"/>
                </a:solidFill>
                <a:latin typeface="Canva Sans Bold"/>
                <a:ea typeface="Canva Sans Bold"/>
                <a:cs typeface="Canva Sans Bold"/>
                <a:sym typeface="Canva Sans Bold"/>
              </a:rPr>
              <a:t>ding the phishing email that started a ransomware attack is</a:t>
            </a:r>
            <a:r>
              <a:rPr lang="en-US" sz="4330">
                <a:solidFill>
                  <a:srgbClr val="000000"/>
                </a:solidFill>
                <a:latin typeface="Canva Sans"/>
                <a:ea typeface="Canva Sans"/>
                <a:cs typeface="Canva Sans"/>
                <a:sym typeface="Canva Sans"/>
              </a:rPr>
              <a:t>:</a:t>
            </a:r>
          </a:p>
          <a:p>
            <a:pPr algn="just">
              <a:lnSpc>
                <a:spcPts val="6062"/>
              </a:lnSpc>
            </a:pPr>
          </a:p>
          <a:p>
            <a:pPr algn="just">
              <a:lnSpc>
                <a:spcPts val="6062"/>
              </a:lnSpc>
            </a:pPr>
            <a:r>
              <a:rPr lang="en-US" sz="4330">
                <a:solidFill>
                  <a:srgbClr val="000000"/>
                </a:solidFill>
                <a:latin typeface="Canva Sans"/>
                <a:ea typeface="Canva Sans"/>
                <a:cs typeface="Canva Sans"/>
                <a:sym typeface="Canva Sans"/>
              </a:rPr>
              <a:t>A) Incident Response</a:t>
            </a:r>
          </a:p>
          <a:p>
            <a:pPr algn="just">
              <a:lnSpc>
                <a:spcPts val="6062"/>
              </a:lnSpc>
            </a:pPr>
            <a:r>
              <a:rPr lang="en-US" sz="4330">
                <a:solidFill>
                  <a:srgbClr val="000000"/>
                </a:solidFill>
                <a:latin typeface="Canva Sans"/>
                <a:ea typeface="Canva Sans"/>
                <a:cs typeface="Canva Sans"/>
                <a:sym typeface="Canva Sans"/>
              </a:rPr>
              <a:t>B) Forensics</a:t>
            </a:r>
          </a:p>
          <a:p>
            <a:pPr algn="just">
              <a:lnSpc>
                <a:spcPts val="6062"/>
              </a:lnSpc>
            </a:pPr>
            <a:r>
              <a:rPr lang="en-US" sz="4330">
                <a:solidFill>
                  <a:srgbClr val="000000"/>
                </a:solidFill>
                <a:latin typeface="Canva Sans"/>
                <a:ea typeface="Canva Sans"/>
                <a:cs typeface="Canva Sans"/>
                <a:sym typeface="Canva Sans"/>
              </a:rPr>
              <a:t>C) Passive OSINT</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55739" y="2331464"/>
            <a:ext cx="16776522" cy="3787627"/>
          </a:xfrm>
          <a:prstGeom prst="rect">
            <a:avLst/>
          </a:prstGeom>
        </p:spPr>
        <p:txBody>
          <a:bodyPr anchor="t" rtlCol="false" tIns="0" lIns="0" bIns="0" rIns="0">
            <a:spAutoFit/>
          </a:bodyPr>
          <a:lstStyle/>
          <a:p>
            <a:pPr algn="just">
              <a:lnSpc>
                <a:spcPts val="6062"/>
              </a:lnSpc>
            </a:pPr>
            <a:r>
              <a:rPr lang="en-US" sz="4330" b="true">
                <a:solidFill>
                  <a:srgbClr val="000000"/>
                </a:solidFill>
                <a:latin typeface="Canva Sans Bold"/>
                <a:ea typeface="Canva Sans Bold"/>
                <a:cs typeface="Canva Sans Bold"/>
                <a:sym typeface="Canva Sans Bold"/>
              </a:rPr>
              <a:t>Fin</a:t>
            </a:r>
            <a:r>
              <a:rPr lang="en-US" b="true" sz="4330">
                <a:solidFill>
                  <a:srgbClr val="000000"/>
                </a:solidFill>
                <a:latin typeface="Canva Sans Bold"/>
                <a:ea typeface="Canva Sans Bold"/>
                <a:cs typeface="Canva Sans Bold"/>
                <a:sym typeface="Canva Sans Bold"/>
              </a:rPr>
              <a:t>ding the phishing email that started a ransomware attack is</a:t>
            </a:r>
            <a:r>
              <a:rPr lang="en-US" sz="4330">
                <a:solidFill>
                  <a:srgbClr val="000000"/>
                </a:solidFill>
                <a:latin typeface="Canva Sans"/>
                <a:ea typeface="Canva Sans"/>
                <a:cs typeface="Canva Sans"/>
                <a:sym typeface="Canva Sans"/>
              </a:rPr>
              <a:t>:</a:t>
            </a:r>
          </a:p>
          <a:p>
            <a:pPr algn="just">
              <a:lnSpc>
                <a:spcPts val="6062"/>
              </a:lnSpc>
            </a:pPr>
          </a:p>
          <a:p>
            <a:pPr algn="just">
              <a:lnSpc>
                <a:spcPts val="6062"/>
              </a:lnSpc>
            </a:pPr>
            <a:r>
              <a:rPr lang="en-US" sz="4330">
                <a:solidFill>
                  <a:srgbClr val="000000"/>
                </a:solidFill>
                <a:latin typeface="Canva Sans"/>
                <a:ea typeface="Canva Sans"/>
                <a:cs typeface="Canva Sans"/>
                <a:sym typeface="Canva Sans"/>
              </a:rPr>
              <a:t>A) Incident Response</a:t>
            </a:r>
          </a:p>
          <a:p>
            <a:pPr algn="just">
              <a:lnSpc>
                <a:spcPts val="6062"/>
              </a:lnSpc>
            </a:pPr>
            <a:r>
              <a:rPr lang="en-US" sz="4330">
                <a:solidFill>
                  <a:srgbClr val="000000"/>
                </a:solidFill>
                <a:latin typeface="Canva Sans"/>
                <a:ea typeface="Canva Sans"/>
                <a:cs typeface="Canva Sans"/>
                <a:sym typeface="Canva Sans"/>
              </a:rPr>
              <a:t>B) Forensics</a:t>
            </a:r>
          </a:p>
          <a:p>
            <a:pPr algn="just">
              <a:lnSpc>
                <a:spcPts val="6062"/>
              </a:lnSpc>
            </a:pPr>
            <a:r>
              <a:rPr lang="en-US" sz="4330">
                <a:solidFill>
                  <a:srgbClr val="000000"/>
                </a:solidFill>
                <a:latin typeface="Canva Sans"/>
                <a:ea typeface="Canva Sans"/>
                <a:cs typeface="Canva Sans"/>
                <a:sym typeface="Canva Sans"/>
              </a:rPr>
              <a:t>C) Passive OSINT</a:t>
            </a:r>
          </a:p>
        </p:txBody>
      </p:sp>
      <p:sp>
        <p:nvSpPr>
          <p:cNvPr name="TextBox 3" id="3"/>
          <p:cNvSpPr txBox="true"/>
          <p:nvPr/>
        </p:nvSpPr>
        <p:spPr>
          <a:xfrm rot="0">
            <a:off x="448359" y="465207"/>
            <a:ext cx="14307982" cy="1117461"/>
          </a:xfrm>
          <a:prstGeom prst="rect">
            <a:avLst/>
          </a:prstGeom>
        </p:spPr>
        <p:txBody>
          <a:bodyPr anchor="t" rtlCol="false" tIns="0" lIns="0" bIns="0" rIns="0">
            <a:spAutoFit/>
          </a:bodyPr>
          <a:lstStyle/>
          <a:p>
            <a:pPr algn="l">
              <a:lnSpc>
                <a:spcPts val="8723"/>
              </a:lnSpc>
            </a:pPr>
            <a:r>
              <a:rPr lang="en-US" sz="7269">
                <a:solidFill>
                  <a:srgbClr val="000000"/>
                </a:solidFill>
                <a:latin typeface="Anton"/>
                <a:ea typeface="Anton"/>
                <a:cs typeface="Anton"/>
                <a:sym typeface="Anton"/>
              </a:rPr>
              <a:t>QUIZZ 2: PICK THE ANSWER</a:t>
            </a:r>
          </a:p>
        </p:txBody>
      </p:sp>
      <p:sp>
        <p:nvSpPr>
          <p:cNvPr name="TextBox 4" id="4"/>
          <p:cNvSpPr txBox="true"/>
          <p:nvPr/>
        </p:nvSpPr>
        <p:spPr>
          <a:xfrm rot="0">
            <a:off x="4133365" y="7498493"/>
            <a:ext cx="4771128" cy="1082132"/>
          </a:xfrm>
          <a:prstGeom prst="rect">
            <a:avLst/>
          </a:prstGeom>
        </p:spPr>
        <p:txBody>
          <a:bodyPr anchor="t" rtlCol="false" tIns="0" lIns="0" bIns="0" rIns="0">
            <a:spAutoFit/>
          </a:bodyPr>
          <a:lstStyle/>
          <a:p>
            <a:pPr algn="ctr">
              <a:lnSpc>
                <a:spcPts val="8855"/>
              </a:lnSpc>
            </a:pPr>
            <a:r>
              <a:rPr lang="en-US" sz="6325" b="true">
                <a:solidFill>
                  <a:srgbClr val="000000"/>
                </a:solidFill>
                <a:latin typeface="Canva Sans Bold"/>
                <a:ea typeface="Canva Sans Bold"/>
                <a:cs typeface="Canva Sans Bold"/>
                <a:sym typeface="Canva Sans Bold"/>
              </a:rPr>
              <a:t>B)</a:t>
            </a:r>
            <a:r>
              <a:rPr lang="en-US" b="true" sz="6325">
                <a:solidFill>
                  <a:srgbClr val="000000"/>
                </a:solidFill>
                <a:latin typeface="Canva Sans Bold"/>
                <a:ea typeface="Canva Sans Bold"/>
                <a:cs typeface="Canva Sans Bold"/>
                <a:sym typeface="Canva Sans Bold"/>
              </a:rPr>
              <a:t> Forensics</a:t>
            </a:r>
          </a:p>
        </p:txBody>
      </p:sp>
      <p:sp>
        <p:nvSpPr>
          <p:cNvPr name="TextBox 5" id="5"/>
          <p:cNvSpPr txBox="true"/>
          <p:nvPr/>
        </p:nvSpPr>
        <p:spPr>
          <a:xfrm rot="0">
            <a:off x="755739" y="7612793"/>
            <a:ext cx="14307982" cy="1117461"/>
          </a:xfrm>
          <a:prstGeom prst="rect">
            <a:avLst/>
          </a:prstGeom>
        </p:spPr>
        <p:txBody>
          <a:bodyPr anchor="t" rtlCol="false" tIns="0" lIns="0" bIns="0" rIns="0">
            <a:spAutoFit/>
          </a:bodyPr>
          <a:lstStyle/>
          <a:p>
            <a:pPr algn="l">
              <a:lnSpc>
                <a:spcPts val="8723"/>
              </a:lnSpc>
            </a:pPr>
            <a:r>
              <a:rPr lang="en-US" sz="7269">
                <a:solidFill>
                  <a:srgbClr val="000000"/>
                </a:solidFill>
                <a:latin typeface="Anton"/>
                <a:ea typeface="Anton"/>
                <a:cs typeface="Anton"/>
                <a:sym typeface="Anton"/>
              </a:rPr>
              <a:t>ANSWER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8359" y="1807751"/>
            <a:ext cx="17275214" cy="8038889"/>
          </a:xfrm>
          <a:prstGeom prst="rect">
            <a:avLst/>
          </a:prstGeom>
        </p:spPr>
        <p:txBody>
          <a:bodyPr anchor="t" rtlCol="false" tIns="0" lIns="0" bIns="0" rIns="0">
            <a:spAutoFit/>
          </a:bodyPr>
          <a:lstStyle/>
          <a:p>
            <a:pPr algn="l">
              <a:lnSpc>
                <a:spcPts val="5786"/>
              </a:lnSpc>
              <a:spcBef>
                <a:spcPct val="0"/>
              </a:spcBef>
            </a:pPr>
            <a:r>
              <a:rPr lang="en-US" sz="4133">
                <a:solidFill>
                  <a:srgbClr val="000000"/>
                </a:solidFill>
                <a:latin typeface="Inter"/>
                <a:ea typeface="Inter"/>
                <a:cs typeface="Inter"/>
                <a:sym typeface="Inter"/>
              </a:rPr>
              <a:t>Normally you type words to find images. Reverse image search works the other way: you upload a picture and it finds where else that picture (or similar ones) appears online.</a:t>
            </a:r>
          </a:p>
          <a:p>
            <a:pPr algn="l">
              <a:lnSpc>
                <a:spcPts val="5786"/>
              </a:lnSpc>
              <a:spcBef>
                <a:spcPct val="0"/>
              </a:spcBef>
            </a:pPr>
          </a:p>
          <a:p>
            <a:pPr algn="l">
              <a:lnSpc>
                <a:spcPts val="5786"/>
              </a:lnSpc>
              <a:spcBef>
                <a:spcPct val="0"/>
              </a:spcBef>
            </a:pPr>
            <a:r>
              <a:rPr lang="en-US" sz="4133">
                <a:solidFill>
                  <a:srgbClr val="000000"/>
                </a:solidFill>
                <a:latin typeface="Inter"/>
                <a:ea typeface="Inter"/>
                <a:cs typeface="Inter"/>
                <a:sym typeface="Inter"/>
              </a:rPr>
              <a:t>Uses:</a:t>
            </a:r>
          </a:p>
          <a:p>
            <a:pPr algn="l">
              <a:lnSpc>
                <a:spcPts val="5786"/>
              </a:lnSpc>
              <a:spcBef>
                <a:spcPct val="0"/>
              </a:spcBef>
            </a:pPr>
            <a:r>
              <a:rPr lang="en-US" sz="4133">
                <a:solidFill>
                  <a:srgbClr val="000000"/>
                </a:solidFill>
                <a:latin typeface="Inter"/>
                <a:ea typeface="Inter"/>
                <a:cs typeface="Inter"/>
                <a:sym typeface="Inter"/>
              </a:rPr>
              <a:t>• Find the original source and first date of a photo</a:t>
            </a:r>
          </a:p>
          <a:p>
            <a:pPr algn="l">
              <a:lnSpc>
                <a:spcPts val="5786"/>
              </a:lnSpc>
              <a:spcBef>
                <a:spcPct val="0"/>
              </a:spcBef>
            </a:pPr>
            <a:r>
              <a:rPr lang="en-US" sz="4133">
                <a:solidFill>
                  <a:srgbClr val="000000"/>
                </a:solidFill>
                <a:latin typeface="Inter"/>
                <a:ea typeface="Inter"/>
                <a:cs typeface="Inter"/>
                <a:sym typeface="Inter"/>
              </a:rPr>
              <a:t>• Catch fake news – an "earthquake today" photo that is actually 5 years old</a:t>
            </a:r>
          </a:p>
          <a:p>
            <a:pPr algn="l">
              <a:lnSpc>
                <a:spcPts val="5786"/>
              </a:lnSpc>
              <a:spcBef>
                <a:spcPct val="0"/>
              </a:spcBef>
            </a:pPr>
            <a:r>
              <a:rPr lang="en-US" sz="4133">
                <a:solidFill>
                  <a:srgbClr val="000000"/>
                </a:solidFill>
                <a:latin typeface="Inter"/>
                <a:ea typeface="Inter"/>
                <a:cs typeface="Inter"/>
                <a:sym typeface="Inter"/>
              </a:rPr>
              <a:t>• Catch fake profiles – a dating or scam profile using someone else's photos</a:t>
            </a:r>
          </a:p>
          <a:p>
            <a:pPr algn="l">
              <a:lnSpc>
                <a:spcPts val="5786"/>
              </a:lnSpc>
              <a:spcBef>
                <a:spcPct val="0"/>
              </a:spcBef>
            </a:pPr>
            <a:r>
              <a:rPr lang="en-US" sz="4133">
                <a:solidFill>
                  <a:srgbClr val="000000"/>
                </a:solidFill>
                <a:latin typeface="Inter"/>
                <a:ea typeface="Inter"/>
                <a:cs typeface="Inter"/>
                <a:sym typeface="Inter"/>
              </a:rPr>
              <a:t>• Identify a place, building, product or landmark in a photo</a:t>
            </a:r>
          </a:p>
        </p:txBody>
      </p:sp>
      <p:sp>
        <p:nvSpPr>
          <p:cNvPr name="Freeform 3" id="3"/>
          <p:cNvSpPr/>
          <p:nvPr/>
        </p:nvSpPr>
        <p:spPr>
          <a:xfrm flipH="false" flipV="false" rot="0">
            <a:off x="8773683" y="159457"/>
            <a:ext cx="1310616" cy="1724494"/>
          </a:xfrm>
          <a:custGeom>
            <a:avLst/>
            <a:gdLst/>
            <a:ahLst/>
            <a:cxnLst/>
            <a:rect r="r" b="b" t="t" l="l"/>
            <a:pathLst>
              <a:path h="1724494" w="1310616">
                <a:moveTo>
                  <a:pt x="0" y="0"/>
                </a:moveTo>
                <a:lnTo>
                  <a:pt x="1310616" y="0"/>
                </a:lnTo>
                <a:lnTo>
                  <a:pt x="1310616" y="1724494"/>
                </a:lnTo>
                <a:lnTo>
                  <a:pt x="0" y="17244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48359" y="465207"/>
            <a:ext cx="8154291" cy="1117461"/>
          </a:xfrm>
          <a:prstGeom prst="rect">
            <a:avLst/>
          </a:prstGeom>
        </p:spPr>
        <p:txBody>
          <a:bodyPr anchor="t" rtlCol="false" tIns="0" lIns="0" bIns="0" rIns="0">
            <a:spAutoFit/>
          </a:bodyPr>
          <a:lstStyle/>
          <a:p>
            <a:pPr algn="l">
              <a:lnSpc>
                <a:spcPts val="8723"/>
              </a:lnSpc>
            </a:pPr>
            <a:r>
              <a:rPr lang="en-US" sz="7269">
                <a:solidFill>
                  <a:srgbClr val="000000"/>
                </a:solidFill>
                <a:latin typeface="Anton"/>
                <a:ea typeface="Anton"/>
                <a:cs typeface="Anton"/>
                <a:sym typeface="Anton"/>
              </a:rPr>
              <a:t>REVERSE IMAGE SEARCH</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260441"/>
            <a:ext cx="16554567" cy="9311944"/>
          </a:xfrm>
          <a:custGeom>
            <a:avLst/>
            <a:gdLst/>
            <a:ahLst/>
            <a:cxnLst/>
            <a:rect r="r" b="b" t="t" l="l"/>
            <a:pathLst>
              <a:path h="9311944" w="16554567">
                <a:moveTo>
                  <a:pt x="0" y="0"/>
                </a:moveTo>
                <a:lnTo>
                  <a:pt x="16554567" y="0"/>
                </a:lnTo>
                <a:lnTo>
                  <a:pt x="16554567" y="9311944"/>
                </a:lnTo>
                <a:lnTo>
                  <a:pt x="0" y="9311944"/>
                </a:lnTo>
                <a:lnTo>
                  <a:pt x="0" y="0"/>
                </a:lnTo>
                <a:close/>
              </a:path>
            </a:pathLst>
          </a:custGeom>
          <a:blipFill>
            <a:blip r:embed="rId2"/>
            <a:stretch>
              <a:fillRect l="0" t="0" r="0" b="0"/>
            </a:stretch>
          </a:blipFill>
        </p:spPr>
      </p:sp>
      <p:sp>
        <p:nvSpPr>
          <p:cNvPr name="TextBox 3" id="3"/>
          <p:cNvSpPr txBox="true"/>
          <p:nvPr/>
        </p:nvSpPr>
        <p:spPr>
          <a:xfrm rot="0">
            <a:off x="448359" y="465207"/>
            <a:ext cx="11261191" cy="1117461"/>
          </a:xfrm>
          <a:prstGeom prst="rect">
            <a:avLst/>
          </a:prstGeom>
        </p:spPr>
        <p:txBody>
          <a:bodyPr anchor="t" rtlCol="false" tIns="0" lIns="0" bIns="0" rIns="0">
            <a:spAutoFit/>
          </a:bodyPr>
          <a:lstStyle/>
          <a:p>
            <a:pPr algn="l">
              <a:lnSpc>
                <a:spcPts val="8723"/>
              </a:lnSpc>
            </a:pPr>
            <a:r>
              <a:rPr lang="en-US" sz="7269">
                <a:solidFill>
                  <a:srgbClr val="000000"/>
                </a:solidFill>
                <a:latin typeface="Anton"/>
                <a:ea typeface="Anton"/>
                <a:cs typeface="Anton"/>
                <a:sym typeface="Anton"/>
              </a:rPr>
              <a:t>REVERSE IMAGE SEARCH TOOLS</a:t>
            </a:r>
          </a:p>
        </p:txBody>
      </p:sp>
      <p:sp>
        <p:nvSpPr>
          <p:cNvPr name="Freeform 4" id="4"/>
          <p:cNvSpPr/>
          <p:nvPr/>
        </p:nvSpPr>
        <p:spPr>
          <a:xfrm flipH="false" flipV="false" rot="0">
            <a:off x="11054243" y="0"/>
            <a:ext cx="1310616" cy="1724494"/>
          </a:xfrm>
          <a:custGeom>
            <a:avLst/>
            <a:gdLst/>
            <a:ahLst/>
            <a:cxnLst/>
            <a:rect r="r" b="b" t="t" l="l"/>
            <a:pathLst>
              <a:path h="1724494" w="1310616">
                <a:moveTo>
                  <a:pt x="0" y="0"/>
                </a:moveTo>
                <a:lnTo>
                  <a:pt x="1310615" y="0"/>
                </a:lnTo>
                <a:lnTo>
                  <a:pt x="1310615" y="1724494"/>
                </a:lnTo>
                <a:lnTo>
                  <a:pt x="0" y="1724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8359" y="1028700"/>
            <a:ext cx="17338458" cy="9752883"/>
          </a:xfrm>
          <a:custGeom>
            <a:avLst/>
            <a:gdLst/>
            <a:ahLst/>
            <a:cxnLst/>
            <a:rect r="r" b="b" t="t" l="l"/>
            <a:pathLst>
              <a:path h="9752883" w="17338458">
                <a:moveTo>
                  <a:pt x="0" y="0"/>
                </a:moveTo>
                <a:lnTo>
                  <a:pt x="17338458" y="0"/>
                </a:lnTo>
                <a:lnTo>
                  <a:pt x="17338458" y="9752883"/>
                </a:lnTo>
                <a:lnTo>
                  <a:pt x="0" y="9752883"/>
                </a:lnTo>
                <a:lnTo>
                  <a:pt x="0" y="0"/>
                </a:lnTo>
                <a:close/>
              </a:path>
            </a:pathLst>
          </a:custGeom>
          <a:blipFill>
            <a:blip r:embed="rId2"/>
            <a:stretch>
              <a:fillRect l="0" t="0" r="0" b="0"/>
            </a:stretch>
          </a:blipFill>
        </p:spPr>
      </p:sp>
      <p:sp>
        <p:nvSpPr>
          <p:cNvPr name="TextBox 3" id="3"/>
          <p:cNvSpPr txBox="true"/>
          <p:nvPr/>
        </p:nvSpPr>
        <p:spPr>
          <a:xfrm rot="0">
            <a:off x="448359" y="465207"/>
            <a:ext cx="14307982" cy="1117461"/>
          </a:xfrm>
          <a:prstGeom prst="rect">
            <a:avLst/>
          </a:prstGeom>
        </p:spPr>
        <p:txBody>
          <a:bodyPr anchor="t" rtlCol="false" tIns="0" lIns="0" bIns="0" rIns="0">
            <a:spAutoFit/>
          </a:bodyPr>
          <a:lstStyle/>
          <a:p>
            <a:pPr algn="l">
              <a:lnSpc>
                <a:spcPts val="8723"/>
              </a:lnSpc>
            </a:pPr>
            <a:r>
              <a:rPr lang="en-US" sz="7269">
                <a:solidFill>
                  <a:srgbClr val="000000"/>
                </a:solidFill>
                <a:latin typeface="Anton"/>
                <a:ea typeface="Anton"/>
                <a:cs typeface="Anton"/>
                <a:sym typeface="Anton"/>
              </a:rPr>
              <a:t>REVERSE IMAGE SEARCH ADVANCED TOOLS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4379" y="2532331"/>
            <a:ext cx="14773603" cy="8310151"/>
          </a:xfrm>
          <a:custGeom>
            <a:avLst/>
            <a:gdLst/>
            <a:ahLst/>
            <a:cxnLst/>
            <a:rect r="r" b="b" t="t" l="l"/>
            <a:pathLst>
              <a:path h="8310151" w="14773603">
                <a:moveTo>
                  <a:pt x="0" y="0"/>
                </a:moveTo>
                <a:lnTo>
                  <a:pt x="14773603" y="0"/>
                </a:lnTo>
                <a:lnTo>
                  <a:pt x="14773603" y="8310151"/>
                </a:lnTo>
                <a:lnTo>
                  <a:pt x="0" y="8310151"/>
                </a:lnTo>
                <a:lnTo>
                  <a:pt x="0" y="0"/>
                </a:lnTo>
                <a:close/>
              </a:path>
            </a:pathLst>
          </a:custGeom>
          <a:blipFill>
            <a:blip r:embed="rId2"/>
            <a:stretch>
              <a:fillRect l="0" t="0" r="0" b="0"/>
            </a:stretch>
          </a:blipFill>
        </p:spPr>
      </p:sp>
      <p:sp>
        <p:nvSpPr>
          <p:cNvPr name="Freeform 3" id="3"/>
          <p:cNvSpPr/>
          <p:nvPr/>
        </p:nvSpPr>
        <p:spPr>
          <a:xfrm flipH="false" flipV="false" rot="0">
            <a:off x="4208144" y="253295"/>
            <a:ext cx="1550810" cy="1550810"/>
          </a:xfrm>
          <a:custGeom>
            <a:avLst/>
            <a:gdLst/>
            <a:ahLst/>
            <a:cxnLst/>
            <a:rect r="r" b="b" t="t" l="l"/>
            <a:pathLst>
              <a:path h="1550810" w="1550810">
                <a:moveTo>
                  <a:pt x="0" y="0"/>
                </a:moveTo>
                <a:lnTo>
                  <a:pt x="1550811" y="0"/>
                </a:lnTo>
                <a:lnTo>
                  <a:pt x="1550811" y="1550810"/>
                </a:lnTo>
                <a:lnTo>
                  <a:pt x="0" y="15508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38529" y="419100"/>
            <a:ext cx="7728818"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GEOSINT</a:t>
            </a:r>
          </a:p>
        </p:txBody>
      </p:sp>
      <p:sp>
        <p:nvSpPr>
          <p:cNvPr name="TextBox 5" id="5"/>
          <p:cNvSpPr txBox="true"/>
          <p:nvPr/>
        </p:nvSpPr>
        <p:spPr>
          <a:xfrm rot="0">
            <a:off x="738529" y="1930964"/>
            <a:ext cx="16180969" cy="2563799"/>
          </a:xfrm>
          <a:prstGeom prst="rect">
            <a:avLst/>
          </a:prstGeom>
        </p:spPr>
        <p:txBody>
          <a:bodyPr anchor="t" rtlCol="false" tIns="0" lIns="0" bIns="0" rIns="0">
            <a:spAutoFit/>
          </a:bodyPr>
          <a:lstStyle/>
          <a:p>
            <a:pPr algn="l">
              <a:lnSpc>
                <a:spcPts val="5163"/>
              </a:lnSpc>
            </a:pPr>
            <a:r>
              <a:rPr lang="en-US" sz="3688">
                <a:solidFill>
                  <a:srgbClr val="000000"/>
                </a:solidFill>
                <a:latin typeface="Canva Sans"/>
                <a:ea typeface="Canva Sans"/>
                <a:cs typeface="Canva Sans"/>
                <a:sym typeface="Canva Sans"/>
              </a:rPr>
              <a:t>GEOSINT</a:t>
            </a:r>
            <a:r>
              <a:rPr lang="en-US" sz="3688">
                <a:solidFill>
                  <a:srgbClr val="000000"/>
                </a:solidFill>
                <a:latin typeface="Canva Sans"/>
                <a:ea typeface="Canva Sans"/>
                <a:cs typeface="Canva Sans"/>
                <a:sym typeface="Canva Sans"/>
              </a:rPr>
              <a:t> (Geospatial OSINT) means</a:t>
            </a:r>
            <a:r>
              <a:rPr lang="en-US" b="true" sz="3688">
                <a:solidFill>
                  <a:srgbClr val="000000"/>
                </a:solidFill>
                <a:latin typeface="Canva Sans Bold"/>
                <a:ea typeface="Canva Sans Bold"/>
                <a:cs typeface="Canva Sans Bold"/>
                <a:sym typeface="Canva Sans Bold"/>
              </a:rPr>
              <a:t> finding the exact place where a photo or video was taken</a:t>
            </a:r>
            <a:r>
              <a:rPr lang="en-US" sz="3688">
                <a:solidFill>
                  <a:srgbClr val="000000"/>
                </a:solidFill>
                <a:latin typeface="Canva Sans"/>
                <a:ea typeface="Canva Sans"/>
                <a:cs typeface="Canva Sans"/>
                <a:sym typeface="Canva Sans"/>
              </a:rPr>
              <a:t>, using only clues visible in it.</a:t>
            </a:r>
          </a:p>
          <a:p>
            <a:pPr algn="l">
              <a:lnSpc>
                <a:spcPts val="5163"/>
              </a:lnSpc>
            </a:pPr>
          </a:p>
          <a:p>
            <a:pPr algn="l">
              <a:lnSpc>
                <a:spcPts val="5163"/>
              </a:lnSpc>
            </a:pP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325985" y="6957246"/>
            <a:ext cx="9886882" cy="797375"/>
            <a:chOff x="0" y="0"/>
            <a:chExt cx="2603952" cy="210008"/>
          </a:xfrm>
        </p:grpSpPr>
        <p:sp>
          <p:nvSpPr>
            <p:cNvPr name="Freeform 3" id="3"/>
            <p:cNvSpPr/>
            <p:nvPr/>
          </p:nvSpPr>
          <p:spPr>
            <a:xfrm flipH="false" flipV="false" rot="0">
              <a:off x="0" y="0"/>
              <a:ext cx="2603952" cy="210008"/>
            </a:xfrm>
            <a:custGeom>
              <a:avLst/>
              <a:gdLst/>
              <a:ahLst/>
              <a:cxnLst/>
              <a:rect r="r" b="b" t="t" l="l"/>
              <a:pathLst>
                <a:path h="210008" w="2603952">
                  <a:moveTo>
                    <a:pt x="39936" y="0"/>
                  </a:moveTo>
                  <a:lnTo>
                    <a:pt x="2564017" y="0"/>
                  </a:lnTo>
                  <a:cubicBezTo>
                    <a:pt x="2574609" y="0"/>
                    <a:pt x="2584766" y="4207"/>
                    <a:pt x="2592256" y="11697"/>
                  </a:cubicBezTo>
                  <a:cubicBezTo>
                    <a:pt x="2599745" y="19186"/>
                    <a:pt x="2603952" y="29344"/>
                    <a:pt x="2603952" y="39936"/>
                  </a:cubicBezTo>
                  <a:lnTo>
                    <a:pt x="2603952" y="170073"/>
                  </a:lnTo>
                  <a:cubicBezTo>
                    <a:pt x="2603952" y="180664"/>
                    <a:pt x="2599745" y="190822"/>
                    <a:pt x="2592256" y="198311"/>
                  </a:cubicBezTo>
                  <a:cubicBezTo>
                    <a:pt x="2584766" y="205801"/>
                    <a:pt x="2574609" y="210008"/>
                    <a:pt x="2564017" y="210008"/>
                  </a:cubicBezTo>
                  <a:lnTo>
                    <a:pt x="39936" y="210008"/>
                  </a:lnTo>
                  <a:cubicBezTo>
                    <a:pt x="29344" y="210008"/>
                    <a:pt x="19186" y="205801"/>
                    <a:pt x="11697" y="198311"/>
                  </a:cubicBezTo>
                  <a:cubicBezTo>
                    <a:pt x="4207" y="190822"/>
                    <a:pt x="0" y="180664"/>
                    <a:pt x="0" y="170073"/>
                  </a:cubicBezTo>
                  <a:lnTo>
                    <a:pt x="0" y="39936"/>
                  </a:lnTo>
                  <a:cubicBezTo>
                    <a:pt x="0" y="29344"/>
                    <a:pt x="4207" y="19186"/>
                    <a:pt x="11697" y="11697"/>
                  </a:cubicBezTo>
                  <a:cubicBezTo>
                    <a:pt x="19186" y="4207"/>
                    <a:pt x="29344" y="0"/>
                    <a:pt x="39936" y="0"/>
                  </a:cubicBezTo>
                  <a:close/>
                </a:path>
              </a:pathLst>
            </a:custGeom>
            <a:solidFill>
              <a:srgbClr val="C0C0C0"/>
            </a:solidFill>
          </p:spPr>
        </p:sp>
        <p:sp>
          <p:nvSpPr>
            <p:cNvPr name="TextBox 4" id="4"/>
            <p:cNvSpPr txBox="true"/>
            <p:nvPr/>
          </p:nvSpPr>
          <p:spPr>
            <a:xfrm>
              <a:off x="0" y="-38100"/>
              <a:ext cx="2603952" cy="248108"/>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378520" y="1856330"/>
            <a:ext cx="17785967" cy="7606841"/>
          </a:xfrm>
          <a:prstGeom prst="rect">
            <a:avLst/>
          </a:prstGeom>
        </p:spPr>
        <p:txBody>
          <a:bodyPr anchor="t" rtlCol="false" tIns="0" lIns="0" bIns="0" rIns="0">
            <a:spAutoFit/>
          </a:bodyPr>
          <a:lstStyle/>
          <a:p>
            <a:pPr algn="l">
              <a:lnSpc>
                <a:spcPts val="5007"/>
              </a:lnSpc>
              <a:spcBef>
                <a:spcPct val="0"/>
              </a:spcBef>
            </a:pPr>
            <a:r>
              <a:rPr lang="en-US" b="true" sz="3576">
                <a:solidFill>
                  <a:srgbClr val="000000"/>
                </a:solidFill>
                <a:latin typeface="Inter Medium"/>
                <a:ea typeface="Inter Medium"/>
                <a:cs typeface="Inter Medium"/>
                <a:sym typeface="Inter Medium"/>
              </a:rPr>
              <a:t>1. Check the metadata first – the photo may already have GPS </a:t>
            </a:r>
          </a:p>
          <a:p>
            <a:pPr algn="l">
              <a:lnSpc>
                <a:spcPts val="5007"/>
              </a:lnSpc>
              <a:spcBef>
                <a:spcPct val="0"/>
              </a:spcBef>
            </a:pPr>
            <a:r>
              <a:rPr lang="en-US" b="true" sz="3576">
                <a:solidFill>
                  <a:srgbClr val="000000"/>
                </a:solidFill>
                <a:latin typeface="Inter Medium"/>
                <a:ea typeface="Inter Medium"/>
                <a:cs typeface="Inter Medium"/>
                <a:sym typeface="Inter Medium"/>
              </a:rPr>
              <a:t>2. Run a reverse image search – the photo may already be online with a location</a:t>
            </a:r>
          </a:p>
          <a:p>
            <a:pPr algn="l">
              <a:lnSpc>
                <a:spcPts val="5007"/>
              </a:lnSpc>
              <a:spcBef>
                <a:spcPct val="0"/>
              </a:spcBef>
            </a:pPr>
            <a:r>
              <a:rPr lang="en-US" b="true" sz="3576">
                <a:solidFill>
                  <a:srgbClr val="000000"/>
                </a:solidFill>
                <a:latin typeface="Inter Medium"/>
                <a:ea typeface="Inter Medium"/>
                <a:cs typeface="Inter Medium"/>
                <a:sym typeface="Inter Medium"/>
              </a:rPr>
              <a:t>3. Write down every clue in the image</a:t>
            </a:r>
          </a:p>
          <a:p>
            <a:pPr algn="l">
              <a:lnSpc>
                <a:spcPts val="5007"/>
              </a:lnSpc>
              <a:spcBef>
                <a:spcPct val="0"/>
              </a:spcBef>
            </a:pPr>
            <a:r>
              <a:rPr lang="en-US" b="true" sz="3576">
                <a:solidFill>
                  <a:srgbClr val="000000"/>
                </a:solidFill>
                <a:latin typeface="Inter Medium"/>
                <a:ea typeface="Inter Medium"/>
                <a:cs typeface="Inter Medium"/>
                <a:sym typeface="Inter Medium"/>
              </a:rPr>
              <a:t>4. Narrow down: continent → country → city → street</a:t>
            </a:r>
          </a:p>
          <a:p>
            <a:pPr algn="l">
              <a:lnSpc>
                <a:spcPts val="5007"/>
              </a:lnSpc>
              <a:spcBef>
                <a:spcPct val="0"/>
              </a:spcBef>
            </a:pPr>
            <a:r>
              <a:rPr lang="en-US" b="true" sz="3576">
                <a:solidFill>
                  <a:srgbClr val="000000"/>
                </a:solidFill>
                <a:latin typeface="Inter Medium"/>
                <a:ea typeface="Inter Medium"/>
                <a:cs typeface="Inter Medium"/>
                <a:sym typeface="Inter Medium"/>
              </a:rPr>
              <a:t>5. Use Google Maps, Street View and Google Earth to find the exact spot</a:t>
            </a:r>
          </a:p>
          <a:p>
            <a:pPr algn="l">
              <a:lnSpc>
                <a:spcPts val="5007"/>
              </a:lnSpc>
              <a:spcBef>
                <a:spcPct val="0"/>
              </a:spcBef>
            </a:pPr>
            <a:r>
              <a:rPr lang="en-US" b="true" sz="3576">
                <a:solidFill>
                  <a:srgbClr val="000000"/>
                </a:solidFill>
                <a:latin typeface="Inter Medium"/>
                <a:ea typeface="Inter Medium"/>
                <a:cs typeface="Inter Medium"/>
                <a:sym typeface="Inter Medium"/>
              </a:rPr>
              <a:t>6. Confirm by matching at least 2–3 features (a building + a pole + a mountain in the back)</a:t>
            </a:r>
          </a:p>
          <a:p>
            <a:pPr algn="l">
              <a:lnSpc>
                <a:spcPts val="5007"/>
              </a:lnSpc>
              <a:spcBef>
                <a:spcPct val="0"/>
              </a:spcBef>
            </a:pPr>
          </a:p>
          <a:p>
            <a:pPr algn="l">
              <a:lnSpc>
                <a:spcPts val="5007"/>
              </a:lnSpc>
              <a:spcBef>
                <a:spcPct val="0"/>
              </a:spcBef>
            </a:pPr>
            <a:r>
              <a:rPr lang="en-US" b="true" sz="3576">
                <a:solidFill>
                  <a:srgbClr val="000000"/>
                </a:solidFill>
                <a:latin typeface="Inter Medium"/>
                <a:ea typeface="Inter Medium"/>
                <a:cs typeface="Inter Medium"/>
                <a:sym typeface="Inter Medium"/>
              </a:rPr>
              <a:t>Practice: the game GeoGuessr trains exactly this skill.</a:t>
            </a:r>
          </a:p>
          <a:p>
            <a:pPr algn="l">
              <a:lnSpc>
                <a:spcPts val="5007"/>
              </a:lnSpc>
              <a:spcBef>
                <a:spcPct val="0"/>
              </a:spcBef>
            </a:pPr>
            <a:r>
              <a:rPr lang="en-US" b="true" sz="3576">
                <a:solidFill>
                  <a:srgbClr val="000000"/>
                </a:solidFill>
                <a:latin typeface="Inter Medium"/>
                <a:ea typeface="Inter Medium"/>
                <a:cs typeface="Inter Medium"/>
                <a:sym typeface="Inter Medium"/>
              </a:rPr>
              <a:t>Safety lesson: this is why you should be careful posting photos from your home, school or with your house number visible.</a:t>
            </a:r>
          </a:p>
          <a:p>
            <a:pPr algn="l">
              <a:lnSpc>
                <a:spcPts val="5007"/>
              </a:lnSpc>
              <a:spcBef>
                <a:spcPct val="0"/>
              </a:spcBef>
            </a:pPr>
          </a:p>
        </p:txBody>
      </p:sp>
      <p:sp>
        <p:nvSpPr>
          <p:cNvPr name="TextBox 6" id="6"/>
          <p:cNvSpPr txBox="true"/>
          <p:nvPr/>
        </p:nvSpPr>
        <p:spPr>
          <a:xfrm rot="0">
            <a:off x="598137" y="419100"/>
            <a:ext cx="7728818"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METHODOLOGY</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5334" y="4385156"/>
            <a:ext cx="11783254" cy="3914400"/>
            <a:chOff x="0" y="0"/>
            <a:chExt cx="3103408" cy="1030953"/>
          </a:xfrm>
        </p:grpSpPr>
        <p:sp>
          <p:nvSpPr>
            <p:cNvPr name="Freeform 3" id="3"/>
            <p:cNvSpPr/>
            <p:nvPr/>
          </p:nvSpPr>
          <p:spPr>
            <a:xfrm flipH="false" flipV="false" rot="0">
              <a:off x="0" y="0"/>
              <a:ext cx="3103408" cy="1030953"/>
            </a:xfrm>
            <a:custGeom>
              <a:avLst/>
              <a:gdLst/>
              <a:ahLst/>
              <a:cxnLst/>
              <a:rect r="r" b="b" t="t" l="l"/>
              <a:pathLst>
                <a:path h="1030953" w="3103408">
                  <a:moveTo>
                    <a:pt x="33508" y="0"/>
                  </a:moveTo>
                  <a:lnTo>
                    <a:pt x="3069900" y="0"/>
                  </a:lnTo>
                  <a:cubicBezTo>
                    <a:pt x="3088406" y="0"/>
                    <a:pt x="3103408" y="15002"/>
                    <a:pt x="3103408" y="33508"/>
                  </a:cubicBezTo>
                  <a:lnTo>
                    <a:pt x="3103408" y="997445"/>
                  </a:lnTo>
                  <a:cubicBezTo>
                    <a:pt x="3103408" y="1006332"/>
                    <a:pt x="3099878" y="1014855"/>
                    <a:pt x="3093594" y="1021139"/>
                  </a:cubicBezTo>
                  <a:cubicBezTo>
                    <a:pt x="3087310" y="1027423"/>
                    <a:pt x="3078787" y="1030953"/>
                    <a:pt x="3069900" y="1030953"/>
                  </a:cubicBezTo>
                  <a:lnTo>
                    <a:pt x="33508" y="1030953"/>
                  </a:lnTo>
                  <a:cubicBezTo>
                    <a:pt x="24621" y="1030953"/>
                    <a:pt x="16098" y="1027423"/>
                    <a:pt x="9814" y="1021139"/>
                  </a:cubicBezTo>
                  <a:cubicBezTo>
                    <a:pt x="3530" y="1014855"/>
                    <a:pt x="0" y="1006332"/>
                    <a:pt x="0" y="997445"/>
                  </a:cubicBezTo>
                  <a:lnTo>
                    <a:pt x="0" y="33508"/>
                  </a:lnTo>
                  <a:cubicBezTo>
                    <a:pt x="0" y="24621"/>
                    <a:pt x="3530" y="16098"/>
                    <a:pt x="9814" y="9814"/>
                  </a:cubicBezTo>
                  <a:cubicBezTo>
                    <a:pt x="16098" y="3530"/>
                    <a:pt x="24621" y="0"/>
                    <a:pt x="33508" y="0"/>
                  </a:cubicBezTo>
                  <a:close/>
                </a:path>
              </a:pathLst>
            </a:custGeom>
            <a:solidFill>
              <a:srgbClr val="D1D3D4"/>
            </a:solidFill>
          </p:spPr>
        </p:sp>
        <p:sp>
          <p:nvSpPr>
            <p:cNvPr name="TextBox 4" id="4"/>
            <p:cNvSpPr txBox="true"/>
            <p:nvPr/>
          </p:nvSpPr>
          <p:spPr>
            <a:xfrm>
              <a:off x="0" y="-38100"/>
              <a:ext cx="3103408" cy="106905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2484901" y="1985060"/>
            <a:ext cx="18288000" cy="5797867"/>
          </a:xfrm>
          <a:prstGeom prst="rect">
            <a:avLst/>
          </a:prstGeom>
        </p:spPr>
        <p:txBody>
          <a:bodyPr anchor="t" rtlCol="false" tIns="0" lIns="0" bIns="0" rIns="0">
            <a:spAutoFit/>
          </a:bodyPr>
          <a:lstStyle/>
          <a:p>
            <a:pPr algn="ctr">
              <a:lnSpc>
                <a:spcPts val="11413"/>
              </a:lnSpc>
              <a:spcBef>
                <a:spcPct val="0"/>
              </a:spcBef>
            </a:pPr>
            <a:r>
              <a:rPr lang="en-US" sz="9510">
                <a:solidFill>
                  <a:srgbClr val="000000"/>
                </a:solidFill>
                <a:latin typeface="Anton"/>
                <a:ea typeface="Anton"/>
                <a:cs typeface="Anton"/>
                <a:sym typeface="Anton"/>
              </a:rPr>
              <a:t>WHAT DOES IT SAY HERE :</a:t>
            </a:r>
          </a:p>
          <a:p>
            <a:pPr algn="ctr">
              <a:lnSpc>
                <a:spcPts val="11413"/>
              </a:lnSpc>
              <a:spcBef>
                <a:spcPct val="0"/>
              </a:spcBef>
            </a:pPr>
          </a:p>
          <a:p>
            <a:pPr algn="ctr">
              <a:lnSpc>
                <a:spcPts val="11413"/>
              </a:lnSpc>
              <a:spcBef>
                <a:spcPct val="0"/>
              </a:spcBef>
            </a:pPr>
            <a:r>
              <a:rPr lang="en-US" sz="9510">
                <a:solidFill>
                  <a:srgbClr val="000000"/>
                </a:solidFill>
                <a:latin typeface="Anton"/>
                <a:ea typeface="Anton"/>
                <a:cs typeface="Anton"/>
                <a:sym typeface="Anton"/>
              </a:rPr>
              <a:t>51.48449044020304, 0.08799148642372842</a:t>
            </a:r>
          </a:p>
        </p:txBody>
      </p:sp>
      <p:sp>
        <p:nvSpPr>
          <p:cNvPr name="Freeform 6" id="6"/>
          <p:cNvSpPr/>
          <p:nvPr/>
        </p:nvSpPr>
        <p:spPr>
          <a:xfrm flipH="true" flipV="false" rot="0">
            <a:off x="11654431" y="2842661"/>
            <a:ext cx="6633569" cy="7444339"/>
          </a:xfrm>
          <a:custGeom>
            <a:avLst/>
            <a:gdLst/>
            <a:ahLst/>
            <a:cxnLst/>
            <a:rect r="r" b="b" t="t" l="l"/>
            <a:pathLst>
              <a:path h="7444339" w="6633569">
                <a:moveTo>
                  <a:pt x="6633569" y="0"/>
                </a:moveTo>
                <a:lnTo>
                  <a:pt x="0" y="0"/>
                </a:lnTo>
                <a:lnTo>
                  <a:pt x="0" y="7444339"/>
                </a:lnTo>
                <a:lnTo>
                  <a:pt x="6633569" y="7444339"/>
                </a:lnTo>
                <a:lnTo>
                  <a:pt x="6633569" y="0"/>
                </a:lnTo>
                <a:close/>
              </a:path>
            </a:pathLst>
          </a:custGeom>
          <a:blipFill>
            <a:blip r:embed="rId2"/>
            <a:stretch>
              <a:fillRect l="0" t="0" r="0" b="0"/>
            </a:stretch>
          </a:blipFill>
        </p:spPr>
      </p:sp>
      <p:sp>
        <p:nvSpPr>
          <p:cNvPr name="TextBox 7" id="7"/>
          <p:cNvSpPr txBox="true"/>
          <p:nvPr/>
        </p:nvSpPr>
        <p:spPr>
          <a:xfrm rot="0">
            <a:off x="598137" y="419100"/>
            <a:ext cx="6367717" cy="1004490"/>
          </a:xfrm>
          <a:prstGeom prst="rect">
            <a:avLst/>
          </a:prstGeom>
        </p:spPr>
        <p:txBody>
          <a:bodyPr anchor="t" rtlCol="false" tIns="0" lIns="0" bIns="0" rIns="0">
            <a:spAutoFit/>
          </a:bodyPr>
          <a:lstStyle/>
          <a:p>
            <a:pPr algn="l">
              <a:lnSpc>
                <a:spcPts val="7909"/>
              </a:lnSpc>
            </a:pPr>
            <a:r>
              <a:rPr lang="en-US" sz="6591">
                <a:solidFill>
                  <a:srgbClr val="000000"/>
                </a:solidFill>
                <a:latin typeface="Anton"/>
                <a:ea typeface="Anton"/>
                <a:cs typeface="Anton"/>
                <a:sym typeface="Anton"/>
              </a:rPr>
              <a:t>EXAMPLE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3646" y="-3546592"/>
            <a:ext cx="10185574" cy="18107688"/>
          </a:xfrm>
          <a:custGeom>
            <a:avLst/>
            <a:gdLst/>
            <a:ahLst/>
            <a:cxnLst/>
            <a:rect r="r" b="b" t="t" l="l"/>
            <a:pathLst>
              <a:path h="18107688" w="10185574">
                <a:moveTo>
                  <a:pt x="0" y="0"/>
                </a:moveTo>
                <a:lnTo>
                  <a:pt x="10185574" y="0"/>
                </a:lnTo>
                <a:lnTo>
                  <a:pt x="10185574" y="18107688"/>
                </a:lnTo>
                <a:lnTo>
                  <a:pt x="0" y="18107688"/>
                </a:lnTo>
                <a:lnTo>
                  <a:pt x="0" y="0"/>
                </a:lnTo>
                <a:close/>
              </a:path>
            </a:pathLst>
          </a:custGeom>
          <a:blipFill>
            <a:blip r:embed="rId2"/>
            <a:stretch>
              <a:fillRect l="0" t="0" r="0" b="0"/>
            </a:stretch>
          </a:blipFill>
        </p:spPr>
      </p:sp>
      <p:sp>
        <p:nvSpPr>
          <p:cNvPr name="TextBox 3" id="3"/>
          <p:cNvSpPr txBox="true"/>
          <p:nvPr/>
        </p:nvSpPr>
        <p:spPr>
          <a:xfrm rot="0">
            <a:off x="9689297" y="3783284"/>
            <a:ext cx="6944023" cy="2438400"/>
          </a:xfrm>
          <a:prstGeom prst="rect">
            <a:avLst/>
          </a:prstGeom>
        </p:spPr>
        <p:txBody>
          <a:bodyPr anchor="t" rtlCol="false" tIns="0" lIns="0" bIns="0" rIns="0">
            <a:spAutoFit/>
          </a:bodyPr>
          <a:lstStyle/>
          <a:p>
            <a:pPr algn="ctr">
              <a:lnSpc>
                <a:spcPts val="9600"/>
              </a:lnSpc>
              <a:spcBef>
                <a:spcPct val="0"/>
              </a:spcBef>
            </a:pPr>
            <a:r>
              <a:rPr lang="en-US" sz="8000">
                <a:solidFill>
                  <a:srgbClr val="000000"/>
                </a:solidFill>
                <a:latin typeface="Anton"/>
                <a:ea typeface="Anton"/>
                <a:cs typeface="Anton"/>
                <a:sym typeface="Anton"/>
              </a:rPr>
              <a:t>HINT :</a:t>
            </a:r>
          </a:p>
          <a:p>
            <a:pPr algn="ctr">
              <a:lnSpc>
                <a:spcPts val="9600"/>
              </a:lnSpc>
              <a:spcBef>
                <a:spcPct val="0"/>
              </a:spcBef>
            </a:pPr>
            <a:r>
              <a:rPr lang="en-US" sz="8000">
                <a:solidFill>
                  <a:srgbClr val="000000"/>
                </a:solidFill>
                <a:latin typeface="Anton"/>
                <a:ea typeface="Anton"/>
                <a:cs typeface="Anton"/>
                <a:sym typeface="Anton"/>
              </a:rPr>
              <a:t>USE GOOGLE EARTH</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7055" y="1822204"/>
            <a:ext cx="15553889" cy="8172992"/>
          </a:xfrm>
          <a:custGeom>
            <a:avLst/>
            <a:gdLst/>
            <a:ahLst/>
            <a:cxnLst/>
            <a:rect r="r" b="b" t="t" l="l"/>
            <a:pathLst>
              <a:path h="8172992" w="15553889">
                <a:moveTo>
                  <a:pt x="0" y="0"/>
                </a:moveTo>
                <a:lnTo>
                  <a:pt x="15553890" y="0"/>
                </a:lnTo>
                <a:lnTo>
                  <a:pt x="15553890" y="8172992"/>
                </a:lnTo>
                <a:lnTo>
                  <a:pt x="0" y="8172992"/>
                </a:lnTo>
                <a:lnTo>
                  <a:pt x="0" y="0"/>
                </a:lnTo>
                <a:close/>
              </a:path>
            </a:pathLst>
          </a:custGeom>
          <a:blipFill>
            <a:blip r:embed="rId2"/>
            <a:stretch>
              <a:fillRect l="0" t="-12319" r="0" b="0"/>
            </a:stretch>
          </a:blipFill>
        </p:spPr>
      </p:sp>
      <p:sp>
        <p:nvSpPr>
          <p:cNvPr name="Freeform 3" id="3"/>
          <p:cNvSpPr/>
          <p:nvPr/>
        </p:nvSpPr>
        <p:spPr>
          <a:xfrm flipH="false" flipV="false" rot="0">
            <a:off x="12477155" y="745747"/>
            <a:ext cx="6086119" cy="9760915"/>
          </a:xfrm>
          <a:custGeom>
            <a:avLst/>
            <a:gdLst/>
            <a:ahLst/>
            <a:cxnLst/>
            <a:rect r="r" b="b" t="t" l="l"/>
            <a:pathLst>
              <a:path h="9760915" w="6086119">
                <a:moveTo>
                  <a:pt x="0" y="0"/>
                </a:moveTo>
                <a:lnTo>
                  <a:pt x="6086119" y="0"/>
                </a:lnTo>
                <a:lnTo>
                  <a:pt x="6086119" y="9760915"/>
                </a:lnTo>
                <a:lnTo>
                  <a:pt x="0" y="9760915"/>
                </a:lnTo>
                <a:lnTo>
                  <a:pt x="0" y="0"/>
                </a:lnTo>
                <a:close/>
              </a:path>
            </a:pathLst>
          </a:custGeom>
          <a:blipFill>
            <a:blip r:embed="rId3"/>
            <a:stretch>
              <a:fillRect l="-60379" t="0" r="0" b="0"/>
            </a:stretch>
          </a:blipFill>
        </p:spPr>
      </p:sp>
      <p:sp>
        <p:nvSpPr>
          <p:cNvPr name="TextBox 4" id="4"/>
          <p:cNvSpPr txBox="true"/>
          <p:nvPr/>
        </p:nvSpPr>
        <p:spPr>
          <a:xfrm rot="0">
            <a:off x="590815" y="304800"/>
            <a:ext cx="4252912" cy="1447800"/>
          </a:xfrm>
          <a:prstGeom prst="rect">
            <a:avLst/>
          </a:prstGeom>
        </p:spPr>
        <p:txBody>
          <a:bodyPr anchor="t" rtlCol="false" tIns="0" lIns="0" bIns="0" rIns="0">
            <a:spAutoFit/>
          </a:bodyPr>
          <a:lstStyle/>
          <a:p>
            <a:pPr algn="ctr">
              <a:lnSpc>
                <a:spcPts val="11413"/>
              </a:lnSpc>
              <a:spcBef>
                <a:spcPct val="0"/>
              </a:spcBef>
            </a:pPr>
            <a:r>
              <a:rPr lang="en-US" sz="9510">
                <a:solidFill>
                  <a:srgbClr val="000000"/>
                </a:solidFill>
                <a:latin typeface="Anton"/>
                <a:ea typeface="Anton"/>
                <a:cs typeface="Anton"/>
                <a:sym typeface="Anton"/>
              </a:rPr>
              <a:t>ANSWER :</a:t>
            </a:r>
          </a:p>
        </p:txBody>
      </p:sp>
      <p:sp>
        <p:nvSpPr>
          <p:cNvPr name="Freeform 5" id="5"/>
          <p:cNvSpPr/>
          <p:nvPr/>
        </p:nvSpPr>
        <p:spPr>
          <a:xfrm flipH="false" flipV="false" rot="0">
            <a:off x="0" y="2818063"/>
            <a:ext cx="5434542" cy="7468937"/>
          </a:xfrm>
          <a:custGeom>
            <a:avLst/>
            <a:gdLst/>
            <a:ahLst/>
            <a:cxnLst/>
            <a:rect r="r" b="b" t="t" l="l"/>
            <a:pathLst>
              <a:path h="7468937" w="5434542">
                <a:moveTo>
                  <a:pt x="0" y="0"/>
                </a:moveTo>
                <a:lnTo>
                  <a:pt x="5434542" y="0"/>
                </a:lnTo>
                <a:lnTo>
                  <a:pt x="5434542" y="7468937"/>
                </a:lnTo>
                <a:lnTo>
                  <a:pt x="0" y="7468937"/>
                </a:lnTo>
                <a:lnTo>
                  <a:pt x="0" y="0"/>
                </a:lnTo>
                <a:close/>
              </a:path>
            </a:pathLst>
          </a:custGeom>
          <a:blipFill>
            <a:blip r:embed="rId3"/>
            <a:stretch>
              <a:fillRect l="0" t="-36335" r="-87371" b="0"/>
            </a:stretch>
          </a:blipFill>
        </p:spPr>
      </p:sp>
      <p:sp>
        <p:nvSpPr>
          <p:cNvPr name="TextBox 6" id="6"/>
          <p:cNvSpPr txBox="true"/>
          <p:nvPr/>
        </p:nvSpPr>
        <p:spPr>
          <a:xfrm rot="-1065895">
            <a:off x="10489483" y="5421650"/>
            <a:ext cx="2409044" cy="704578"/>
          </a:xfrm>
          <a:prstGeom prst="rect">
            <a:avLst/>
          </a:prstGeom>
        </p:spPr>
        <p:txBody>
          <a:bodyPr anchor="t" rtlCol="false" tIns="0" lIns="0" bIns="0" rIns="0">
            <a:spAutoFit/>
          </a:bodyPr>
          <a:lstStyle/>
          <a:p>
            <a:pPr algn="ctr">
              <a:lnSpc>
                <a:spcPts val="5822"/>
              </a:lnSpc>
            </a:pPr>
            <a:r>
              <a:rPr lang="en-US" sz="4158">
                <a:solidFill>
                  <a:srgbClr val="000000"/>
                </a:solidFill>
                <a:latin typeface="Canva Sans"/>
                <a:ea typeface="Canva Sans"/>
                <a:cs typeface="Canva Sans"/>
                <a:sym typeface="Canva Sans"/>
              </a:rPr>
              <a:t>CENSOR-</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9584" y="1353923"/>
            <a:ext cx="11605247" cy="8703935"/>
          </a:xfrm>
          <a:custGeom>
            <a:avLst/>
            <a:gdLst/>
            <a:ahLst/>
            <a:cxnLst/>
            <a:rect r="r" b="b" t="t" l="l"/>
            <a:pathLst>
              <a:path h="8703935" w="11605247">
                <a:moveTo>
                  <a:pt x="0" y="0"/>
                </a:moveTo>
                <a:lnTo>
                  <a:pt x="11605247" y="0"/>
                </a:lnTo>
                <a:lnTo>
                  <a:pt x="11605247" y="8703936"/>
                </a:lnTo>
                <a:lnTo>
                  <a:pt x="0" y="8703936"/>
                </a:lnTo>
                <a:lnTo>
                  <a:pt x="0" y="0"/>
                </a:lnTo>
                <a:close/>
              </a:path>
            </a:pathLst>
          </a:custGeom>
          <a:blipFill>
            <a:blip r:embed="rId2"/>
            <a:stretch>
              <a:fillRect l="0" t="0" r="0" b="0"/>
            </a:stretch>
          </a:blipFill>
        </p:spPr>
      </p:sp>
      <p:sp>
        <p:nvSpPr>
          <p:cNvPr name="Freeform 3" id="3"/>
          <p:cNvSpPr/>
          <p:nvPr/>
        </p:nvSpPr>
        <p:spPr>
          <a:xfrm flipH="false" flipV="false" rot="0">
            <a:off x="12466599" y="1353923"/>
            <a:ext cx="5474466" cy="5341196"/>
          </a:xfrm>
          <a:custGeom>
            <a:avLst/>
            <a:gdLst/>
            <a:ahLst/>
            <a:cxnLst/>
            <a:rect r="r" b="b" t="t" l="l"/>
            <a:pathLst>
              <a:path h="5341196" w="5474466">
                <a:moveTo>
                  <a:pt x="0" y="0"/>
                </a:moveTo>
                <a:lnTo>
                  <a:pt x="5474465" y="0"/>
                </a:lnTo>
                <a:lnTo>
                  <a:pt x="5474465" y="5341197"/>
                </a:lnTo>
                <a:lnTo>
                  <a:pt x="0" y="5341197"/>
                </a:lnTo>
                <a:lnTo>
                  <a:pt x="0" y="0"/>
                </a:lnTo>
                <a:close/>
              </a:path>
            </a:pathLst>
          </a:custGeom>
          <a:blipFill>
            <a:blip r:embed="rId3"/>
            <a:stretch>
              <a:fillRect l="0" t="0" r="0" b="-2495"/>
            </a:stretch>
          </a:blipFill>
        </p:spPr>
      </p:sp>
      <p:sp>
        <p:nvSpPr>
          <p:cNvPr name="TextBox 4" id="4"/>
          <p:cNvSpPr txBox="true"/>
          <p:nvPr/>
        </p:nvSpPr>
        <p:spPr>
          <a:xfrm rot="0">
            <a:off x="264222" y="1643349"/>
            <a:ext cx="7485712" cy="877192"/>
          </a:xfrm>
          <a:prstGeom prst="rect">
            <a:avLst/>
          </a:prstGeom>
        </p:spPr>
        <p:txBody>
          <a:bodyPr anchor="t" rtlCol="false" tIns="0" lIns="0" bIns="0" rIns="0">
            <a:spAutoFit/>
          </a:bodyPr>
          <a:lstStyle/>
          <a:p>
            <a:pPr algn="ctr">
              <a:lnSpc>
                <a:spcPts val="6839"/>
              </a:lnSpc>
              <a:spcBef>
                <a:spcPct val="0"/>
              </a:spcBef>
            </a:pPr>
            <a:r>
              <a:rPr lang="en-US" sz="5699">
                <a:solidFill>
                  <a:srgbClr val="000000"/>
                </a:solidFill>
                <a:latin typeface="Anton"/>
                <a:ea typeface="Anton"/>
                <a:cs typeface="Anton"/>
                <a:sym typeface="Anton"/>
              </a:rPr>
              <a:t>TAKE HOME PROBLEM :</a:t>
            </a:r>
          </a:p>
        </p:txBody>
      </p:sp>
      <p:sp>
        <p:nvSpPr>
          <p:cNvPr name="TextBox 5" id="5"/>
          <p:cNvSpPr txBox="true"/>
          <p:nvPr/>
        </p:nvSpPr>
        <p:spPr>
          <a:xfrm rot="0">
            <a:off x="14188526" y="8347440"/>
            <a:ext cx="2030611" cy="580390"/>
          </a:xfrm>
          <a:prstGeom prst="rect">
            <a:avLst/>
          </a:prstGeom>
        </p:spPr>
        <p:txBody>
          <a:bodyPr anchor="t" rtlCol="false" tIns="0" lIns="0" bIns="0" rIns="0">
            <a:spAutoFit/>
          </a:bodyPr>
          <a:lstStyle/>
          <a:p>
            <a:pPr algn="ctr">
              <a:lnSpc>
                <a:spcPts val="4759"/>
              </a:lnSpc>
            </a:pPr>
            <a:r>
              <a:rPr lang="en-US" sz="3399" u="sng">
                <a:solidFill>
                  <a:srgbClr val="000000"/>
                </a:solidFill>
                <a:latin typeface="Canva Sans"/>
                <a:ea typeface="Canva Sans"/>
                <a:cs typeface="Canva Sans"/>
                <a:sym typeface="Canva Sans"/>
                <a:hlinkClick r:id="rId4" tooltip="https://www.youtube.com/watch?v=L8273PrPSwA"/>
              </a:rPr>
              <a:t>YOUTUBE</a:t>
            </a:r>
          </a:p>
        </p:txBody>
      </p:sp>
      <p:sp>
        <p:nvSpPr>
          <p:cNvPr name="TextBox 6" id="6"/>
          <p:cNvSpPr txBox="true"/>
          <p:nvPr/>
        </p:nvSpPr>
        <p:spPr>
          <a:xfrm rot="0">
            <a:off x="-1794074" y="141890"/>
            <a:ext cx="20990031" cy="952216"/>
          </a:xfrm>
          <a:prstGeom prst="rect">
            <a:avLst/>
          </a:prstGeom>
        </p:spPr>
        <p:txBody>
          <a:bodyPr anchor="t" rtlCol="false" tIns="0" lIns="0" bIns="0" rIns="0">
            <a:spAutoFit/>
          </a:bodyPr>
          <a:lstStyle/>
          <a:p>
            <a:pPr algn="ctr">
              <a:lnSpc>
                <a:spcPts val="7813"/>
              </a:lnSpc>
            </a:pPr>
            <a:r>
              <a:rPr lang="en-US" sz="5580">
                <a:solidFill>
                  <a:srgbClr val="000000"/>
                </a:solidFill>
                <a:latin typeface="Anton"/>
                <a:ea typeface="Anton"/>
                <a:cs typeface="Anton"/>
                <a:sym typeface="Anton"/>
              </a:rPr>
              <a:t>Groun</a:t>
            </a:r>
            <a:r>
              <a:rPr lang="en-US" sz="5580">
                <a:solidFill>
                  <a:srgbClr val="000000"/>
                </a:solidFill>
                <a:latin typeface="Anton"/>
                <a:ea typeface="Anton"/>
                <a:cs typeface="Anton"/>
                <a:sym typeface="Anton"/>
              </a:rPr>
              <a:t>d Truth Verification or Street-Level Signage Analysis</a:t>
            </a:r>
          </a:p>
        </p:txBody>
      </p:sp>
      <p:sp>
        <p:nvSpPr>
          <p:cNvPr name="TextBox 7" id="7"/>
          <p:cNvSpPr txBox="true"/>
          <p:nvPr/>
        </p:nvSpPr>
        <p:spPr>
          <a:xfrm rot="0">
            <a:off x="12914078" y="7687743"/>
            <a:ext cx="4579506" cy="530809"/>
          </a:xfrm>
          <a:prstGeom prst="rect">
            <a:avLst/>
          </a:prstGeom>
        </p:spPr>
        <p:txBody>
          <a:bodyPr anchor="t" rtlCol="false" tIns="0" lIns="0" bIns="0" rIns="0">
            <a:spAutoFit/>
          </a:bodyPr>
          <a:lstStyle/>
          <a:p>
            <a:pPr algn="ctr">
              <a:lnSpc>
                <a:spcPts val="4184"/>
              </a:lnSpc>
              <a:spcBef>
                <a:spcPct val="0"/>
              </a:spcBef>
            </a:pPr>
            <a:r>
              <a:rPr lang="en-US" sz="3487">
                <a:solidFill>
                  <a:srgbClr val="000000"/>
                </a:solidFill>
                <a:latin typeface="Anton"/>
                <a:ea typeface="Anton"/>
                <a:cs typeface="Anton"/>
                <a:sym typeface="Anton"/>
              </a:rPr>
              <a:t>WATCH THE SOLUTION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324">
            <a:off x="7956925" y="506445"/>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4955" y="592413"/>
            <a:ext cx="8784189"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DIGITAL FORENSICS</a:t>
            </a:r>
          </a:p>
        </p:txBody>
      </p:sp>
      <p:sp>
        <p:nvSpPr>
          <p:cNvPr name="TextBox 4" id="4"/>
          <p:cNvSpPr txBox="true"/>
          <p:nvPr/>
        </p:nvSpPr>
        <p:spPr>
          <a:xfrm rot="0">
            <a:off x="482915" y="2588207"/>
            <a:ext cx="17322170" cy="7193230"/>
          </a:xfrm>
          <a:prstGeom prst="rect">
            <a:avLst/>
          </a:prstGeom>
        </p:spPr>
        <p:txBody>
          <a:bodyPr anchor="t" rtlCol="false" tIns="0" lIns="0" bIns="0" rIns="0">
            <a:spAutoFit/>
          </a:bodyPr>
          <a:lstStyle/>
          <a:p>
            <a:pPr algn="ctr">
              <a:lnSpc>
                <a:spcPts val="5690"/>
              </a:lnSpc>
            </a:pPr>
            <a:r>
              <a:rPr lang="en-US" sz="4064">
                <a:solidFill>
                  <a:srgbClr val="000000"/>
                </a:solidFill>
                <a:latin typeface="Canva Sans"/>
                <a:ea typeface="Canva Sans"/>
                <a:cs typeface="Canva Sans"/>
                <a:sym typeface="Canva Sans"/>
              </a:rPr>
              <a:t>Digital forensics is like </a:t>
            </a:r>
            <a:r>
              <a:rPr lang="en-US" sz="4064" b="true">
                <a:solidFill>
                  <a:srgbClr val="000000"/>
                </a:solidFill>
                <a:latin typeface="Canva Sans Bold"/>
                <a:ea typeface="Canva Sans Bold"/>
                <a:cs typeface="Canva Sans Bold"/>
                <a:sym typeface="Canva Sans Bold"/>
              </a:rPr>
              <a:t>detective work for computers an</a:t>
            </a:r>
            <a:r>
              <a:rPr lang="en-US" b="true" sz="4064">
                <a:solidFill>
                  <a:srgbClr val="000000"/>
                </a:solidFill>
                <a:latin typeface="Canva Sans Bold"/>
                <a:ea typeface="Canva Sans Bold"/>
                <a:cs typeface="Canva Sans Bold"/>
                <a:sym typeface="Canva Sans Bold"/>
              </a:rPr>
              <a:t>d phones</a:t>
            </a:r>
            <a:r>
              <a:rPr lang="en-US" sz="4064">
                <a:solidFill>
                  <a:srgbClr val="000000"/>
                </a:solidFill>
                <a:latin typeface="Canva Sans"/>
                <a:ea typeface="Canva Sans"/>
                <a:cs typeface="Canva Sans"/>
                <a:sym typeface="Canva Sans"/>
              </a:rPr>
              <a:t>. Every action on a device leaves small traces – </a:t>
            </a:r>
            <a:r>
              <a:rPr lang="en-US" b="true" sz="4064">
                <a:solidFill>
                  <a:srgbClr val="000000"/>
                </a:solidFill>
                <a:latin typeface="Canva Sans Bold"/>
                <a:ea typeface="Canva Sans Bold"/>
                <a:cs typeface="Canva Sans Bold"/>
                <a:sym typeface="Canva Sans Bold"/>
              </a:rPr>
              <a:t>opening a file, visiting a website, plugging in a USB, sending a message</a:t>
            </a:r>
            <a:r>
              <a:rPr lang="en-US" sz="4064">
                <a:solidFill>
                  <a:srgbClr val="000000"/>
                </a:solidFill>
                <a:latin typeface="Canva Sans"/>
                <a:ea typeface="Canva Sans"/>
                <a:cs typeface="Canva Sans"/>
                <a:sym typeface="Canva Sans"/>
              </a:rPr>
              <a:t>. A forensic investigator finds these traces and uses them to tell the story of </a:t>
            </a:r>
            <a:r>
              <a:rPr lang="en-US" b="true" sz="4064">
                <a:solidFill>
                  <a:srgbClr val="000000"/>
                </a:solidFill>
                <a:latin typeface="Canva Sans Bold"/>
                <a:ea typeface="Canva Sans Bold"/>
                <a:cs typeface="Canva Sans Bold"/>
                <a:sym typeface="Canva Sans Bold"/>
              </a:rPr>
              <a:t>what happened, when, and who did it</a:t>
            </a:r>
            <a:r>
              <a:rPr lang="en-US" sz="4064">
                <a:solidFill>
                  <a:srgbClr val="000000"/>
                </a:solidFill>
                <a:latin typeface="Canva Sans"/>
                <a:ea typeface="Canva Sans"/>
                <a:cs typeface="Canva Sans"/>
                <a:sym typeface="Canva Sans"/>
              </a:rPr>
              <a:t>.</a:t>
            </a:r>
          </a:p>
          <a:p>
            <a:pPr algn="ctr">
              <a:lnSpc>
                <a:spcPts val="5690"/>
              </a:lnSpc>
            </a:pPr>
          </a:p>
          <a:p>
            <a:pPr algn="ctr">
              <a:lnSpc>
                <a:spcPts val="5690"/>
              </a:lnSpc>
            </a:pPr>
            <a:r>
              <a:rPr lang="en-US" sz="4064">
                <a:solidFill>
                  <a:srgbClr val="000000"/>
                </a:solidFill>
                <a:latin typeface="Canva Sans"/>
                <a:ea typeface="Canva Sans"/>
                <a:cs typeface="Canva Sans"/>
                <a:sym typeface="Canva Sans"/>
              </a:rPr>
              <a:t>Simple rule: in digital forensics, </a:t>
            </a:r>
            <a:r>
              <a:rPr lang="en-US" b="true" sz="4064">
                <a:solidFill>
                  <a:srgbClr val="000000"/>
                </a:solidFill>
                <a:latin typeface="Canva Sans Bold"/>
                <a:ea typeface="Canva Sans Bold"/>
                <a:cs typeface="Canva Sans Bold"/>
                <a:sym typeface="Canva Sans Bold"/>
              </a:rPr>
              <a:t>nothing is ever fully gone</a:t>
            </a:r>
            <a:r>
              <a:rPr lang="en-US" sz="4064">
                <a:solidFill>
                  <a:srgbClr val="000000"/>
                </a:solidFill>
                <a:latin typeface="Canva Sans"/>
                <a:ea typeface="Canva Sans"/>
                <a:cs typeface="Canva Sans"/>
                <a:sym typeface="Canva Sans"/>
              </a:rPr>
              <a:t>. Even deleted files, cleared history and wiped chats often leave traces behind.</a:t>
            </a:r>
          </a:p>
          <a:p>
            <a:pPr algn="ctr">
              <a:lnSpc>
                <a:spcPts val="5690"/>
              </a:lnSpc>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280" y="625082"/>
            <a:ext cx="18600561" cy="10462815"/>
          </a:xfrm>
          <a:custGeom>
            <a:avLst/>
            <a:gdLst/>
            <a:ahLst/>
            <a:cxnLst/>
            <a:rect r="r" b="b" t="t" l="l"/>
            <a:pathLst>
              <a:path h="10462815" w="18600561">
                <a:moveTo>
                  <a:pt x="0" y="0"/>
                </a:moveTo>
                <a:lnTo>
                  <a:pt x="18600560" y="0"/>
                </a:lnTo>
                <a:lnTo>
                  <a:pt x="18600560" y="10462815"/>
                </a:lnTo>
                <a:lnTo>
                  <a:pt x="0" y="10462815"/>
                </a:lnTo>
                <a:lnTo>
                  <a:pt x="0" y="0"/>
                </a:lnTo>
                <a:close/>
              </a:path>
            </a:pathLst>
          </a:custGeom>
          <a:blipFill>
            <a:blip r:embed="rId2"/>
            <a:stretch>
              <a:fillRect l="0" t="0" r="0" b="0"/>
            </a:stretch>
          </a:blipFill>
        </p:spPr>
      </p:sp>
      <p:sp>
        <p:nvSpPr>
          <p:cNvPr name="TextBox 3" id="3"/>
          <p:cNvSpPr txBox="true"/>
          <p:nvPr/>
        </p:nvSpPr>
        <p:spPr>
          <a:xfrm rot="0">
            <a:off x="195148" y="152649"/>
            <a:ext cx="8784189"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DIGITAL FORENSICS</a:t>
            </a:r>
          </a:p>
        </p:txBody>
      </p:sp>
      <p:sp>
        <p:nvSpPr>
          <p:cNvPr name="Freeform 4" id="4"/>
          <p:cNvSpPr/>
          <p:nvPr/>
        </p:nvSpPr>
        <p:spPr>
          <a:xfrm flipH="false" flipV="false" rot="678324">
            <a:off x="7477182" y="261524"/>
            <a:ext cx="774837" cy="1044510"/>
          </a:xfrm>
          <a:custGeom>
            <a:avLst/>
            <a:gdLst/>
            <a:ahLst/>
            <a:cxnLst/>
            <a:rect r="r" b="b" t="t" l="l"/>
            <a:pathLst>
              <a:path h="1044510" w="774837">
                <a:moveTo>
                  <a:pt x="0" y="0"/>
                </a:moveTo>
                <a:lnTo>
                  <a:pt x="774837" y="0"/>
                </a:lnTo>
                <a:lnTo>
                  <a:pt x="774837" y="1044510"/>
                </a:lnTo>
                <a:lnTo>
                  <a:pt x="0" y="10445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0308" y="396889"/>
            <a:ext cx="13360826" cy="24384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WHAT EVIDENCE CAN BE FOUND?</a:t>
            </a:r>
          </a:p>
          <a:p>
            <a:pPr algn="l">
              <a:lnSpc>
                <a:spcPts val="9600"/>
              </a:lnSpc>
            </a:pPr>
          </a:p>
        </p:txBody>
      </p:sp>
      <p:sp>
        <p:nvSpPr>
          <p:cNvPr name="TextBox 3" id="3"/>
          <p:cNvSpPr txBox="true"/>
          <p:nvPr/>
        </p:nvSpPr>
        <p:spPr>
          <a:xfrm rot="0">
            <a:off x="681275" y="1928971"/>
            <a:ext cx="16925449" cy="7521437"/>
          </a:xfrm>
          <a:prstGeom prst="rect">
            <a:avLst/>
          </a:prstGeom>
        </p:spPr>
        <p:txBody>
          <a:bodyPr anchor="t" rtlCol="false" tIns="0" lIns="0" bIns="0" rIns="0">
            <a:spAutoFit/>
          </a:bodyPr>
          <a:lstStyle/>
          <a:p>
            <a:pPr algn="l">
              <a:lnSpc>
                <a:spcPts val="5432"/>
              </a:lnSpc>
              <a:spcBef>
                <a:spcPct val="0"/>
              </a:spcBef>
            </a:pPr>
            <a:r>
              <a:rPr lang="en-US" b="true" sz="3880">
                <a:solidFill>
                  <a:srgbClr val="000000"/>
                </a:solidFill>
                <a:latin typeface="Inter Medium"/>
                <a:ea typeface="Inter Medium"/>
                <a:cs typeface="Inter Medium"/>
                <a:sym typeface="Inter Medium"/>
              </a:rPr>
              <a:t>• </a:t>
            </a:r>
            <a:r>
              <a:rPr lang="en-US" b="true" sz="3880">
                <a:solidFill>
                  <a:srgbClr val="000000"/>
                </a:solidFill>
                <a:latin typeface="Inter Bold"/>
                <a:ea typeface="Inter Bold"/>
                <a:cs typeface="Inter Bold"/>
                <a:sym typeface="Inter Bold"/>
              </a:rPr>
              <a:t>Deleted files</a:t>
            </a:r>
            <a:r>
              <a:rPr lang="en-US" b="true" sz="3880">
                <a:solidFill>
                  <a:srgbClr val="000000"/>
                </a:solidFill>
                <a:latin typeface="Inter Medium"/>
                <a:ea typeface="Inter Medium"/>
                <a:cs typeface="Inter Medium"/>
                <a:sym typeface="Inter Medium"/>
              </a:rPr>
              <a:t>: when you delete a file, usually only its "address" is removed – the data stays on the disk until something overwrites it</a:t>
            </a:r>
          </a:p>
          <a:p>
            <a:pPr algn="l">
              <a:lnSpc>
                <a:spcPts val="5432"/>
              </a:lnSpc>
              <a:spcBef>
                <a:spcPct val="0"/>
              </a:spcBef>
            </a:pPr>
            <a:r>
              <a:rPr lang="en-US" b="true" sz="3880">
                <a:solidFill>
                  <a:srgbClr val="000000"/>
                </a:solidFill>
                <a:latin typeface="Inter Medium"/>
                <a:ea typeface="Inter Medium"/>
                <a:cs typeface="Inter Medium"/>
                <a:sym typeface="Inter Medium"/>
              </a:rPr>
              <a:t>• </a:t>
            </a:r>
            <a:r>
              <a:rPr lang="en-US" b="true" sz="3880">
                <a:solidFill>
                  <a:srgbClr val="000000"/>
                </a:solidFill>
                <a:latin typeface="Inter Bold"/>
                <a:ea typeface="Inter Bold"/>
                <a:cs typeface="Inter Bold"/>
                <a:sym typeface="Inter Bold"/>
              </a:rPr>
              <a:t>Browser history, downloads and cookies</a:t>
            </a:r>
            <a:r>
              <a:rPr lang="en-US" b="true" sz="3880">
                <a:solidFill>
                  <a:srgbClr val="000000"/>
                </a:solidFill>
                <a:latin typeface="Inter Medium"/>
                <a:ea typeface="Inter Medium"/>
                <a:cs typeface="Inter Medium"/>
                <a:sym typeface="Inter Medium"/>
              </a:rPr>
              <a:t>: which websites were visited and when</a:t>
            </a:r>
          </a:p>
          <a:p>
            <a:pPr algn="l">
              <a:lnSpc>
                <a:spcPts val="5432"/>
              </a:lnSpc>
              <a:spcBef>
                <a:spcPct val="0"/>
              </a:spcBef>
            </a:pPr>
            <a:r>
              <a:rPr lang="en-US" b="true" sz="3880">
                <a:solidFill>
                  <a:srgbClr val="000000"/>
                </a:solidFill>
                <a:latin typeface="Inter Medium"/>
                <a:ea typeface="Inter Medium"/>
                <a:cs typeface="Inter Medium"/>
                <a:sym typeface="Inter Medium"/>
              </a:rPr>
              <a:t>• </a:t>
            </a:r>
            <a:r>
              <a:rPr lang="en-US" b="true" sz="3880">
                <a:solidFill>
                  <a:srgbClr val="000000"/>
                </a:solidFill>
                <a:latin typeface="Inter Bold"/>
                <a:ea typeface="Inter Bold"/>
                <a:cs typeface="Inter Bold"/>
                <a:sym typeface="Inter Bold"/>
              </a:rPr>
              <a:t>Log files</a:t>
            </a:r>
            <a:r>
              <a:rPr lang="en-US" b="true" sz="3880">
                <a:solidFill>
                  <a:srgbClr val="000000"/>
                </a:solidFill>
                <a:latin typeface="Inter Medium"/>
                <a:ea typeface="Inter Medium"/>
                <a:cs typeface="Inter Medium"/>
                <a:sym typeface="Inter Medium"/>
              </a:rPr>
              <a:t>: logins, errors, system events – like a diary the computer keeps</a:t>
            </a:r>
          </a:p>
          <a:p>
            <a:pPr algn="l">
              <a:lnSpc>
                <a:spcPts val="5432"/>
              </a:lnSpc>
              <a:spcBef>
                <a:spcPct val="0"/>
              </a:spcBef>
            </a:pPr>
            <a:r>
              <a:rPr lang="en-US" b="true" sz="3880">
                <a:solidFill>
                  <a:srgbClr val="000000"/>
                </a:solidFill>
                <a:latin typeface="Inter Medium"/>
                <a:ea typeface="Inter Medium"/>
                <a:cs typeface="Inter Medium"/>
                <a:sym typeface="Inter Medium"/>
              </a:rPr>
              <a:t>• </a:t>
            </a:r>
            <a:r>
              <a:rPr lang="en-US" b="true" sz="3880">
                <a:solidFill>
                  <a:srgbClr val="000000"/>
                </a:solidFill>
                <a:latin typeface="Inter Bold"/>
                <a:ea typeface="Inter Bold"/>
                <a:cs typeface="Inter Bold"/>
                <a:sym typeface="Inter Bold"/>
              </a:rPr>
              <a:t>USB history</a:t>
            </a:r>
            <a:r>
              <a:rPr lang="en-US" b="true" sz="3880">
                <a:solidFill>
                  <a:srgbClr val="000000"/>
                </a:solidFill>
                <a:latin typeface="Inter Medium"/>
                <a:ea typeface="Inter Medium"/>
                <a:cs typeface="Inter Medium"/>
                <a:sym typeface="Inter Medium"/>
              </a:rPr>
              <a:t>: which pen drives were plugged in and when</a:t>
            </a:r>
          </a:p>
          <a:p>
            <a:pPr algn="l">
              <a:lnSpc>
                <a:spcPts val="5432"/>
              </a:lnSpc>
              <a:spcBef>
                <a:spcPct val="0"/>
              </a:spcBef>
            </a:pPr>
            <a:r>
              <a:rPr lang="en-US" b="true" sz="3880">
                <a:solidFill>
                  <a:srgbClr val="000000"/>
                </a:solidFill>
                <a:latin typeface="Inter Medium"/>
                <a:ea typeface="Inter Medium"/>
                <a:cs typeface="Inter Medium"/>
                <a:sym typeface="Inter Medium"/>
              </a:rPr>
              <a:t>• </a:t>
            </a:r>
            <a:r>
              <a:rPr lang="en-US" b="true" sz="3880">
                <a:solidFill>
                  <a:srgbClr val="000000"/>
                </a:solidFill>
                <a:latin typeface="Inter Bold"/>
                <a:ea typeface="Inter Bold"/>
                <a:cs typeface="Inter Bold"/>
                <a:sym typeface="Inter Bold"/>
              </a:rPr>
              <a:t>Recently opened files and programs</a:t>
            </a:r>
            <a:r>
              <a:rPr lang="en-US" b="true" sz="3880">
                <a:solidFill>
                  <a:srgbClr val="000000"/>
                </a:solidFill>
                <a:latin typeface="Inter Medium"/>
                <a:ea typeface="Inter Medium"/>
                <a:cs typeface="Inter Medium"/>
                <a:sym typeface="Inter Medium"/>
              </a:rPr>
              <a:t>: Windows keeps lists of these (e.g. in the Registry and Prefetch)</a:t>
            </a:r>
          </a:p>
          <a:p>
            <a:pPr algn="l">
              <a:lnSpc>
                <a:spcPts val="5432"/>
              </a:lnSpc>
              <a:spcBef>
                <a:spcPct val="0"/>
              </a:spcBef>
            </a:pPr>
            <a:r>
              <a:rPr lang="en-US" b="true" sz="3880">
                <a:solidFill>
                  <a:srgbClr val="000000"/>
                </a:solidFill>
                <a:latin typeface="Inter Medium"/>
                <a:ea typeface="Inter Medium"/>
                <a:cs typeface="Inter Medium"/>
                <a:sym typeface="Inter Medium"/>
              </a:rPr>
              <a:t>• </a:t>
            </a:r>
            <a:r>
              <a:rPr lang="en-US" b="true" sz="3880">
                <a:solidFill>
                  <a:srgbClr val="000000"/>
                </a:solidFill>
                <a:latin typeface="Inter Bold"/>
                <a:ea typeface="Inter Bold"/>
                <a:cs typeface="Inter Bold"/>
                <a:sym typeface="Inter Bold"/>
              </a:rPr>
              <a:t>Storage</a:t>
            </a:r>
            <a:r>
              <a:rPr lang="en-US" b="true" sz="3880">
                <a:solidFill>
                  <a:srgbClr val="000000"/>
                </a:solidFill>
                <a:latin typeface="Inter Medium"/>
                <a:ea typeface="Inter Medium"/>
                <a:cs typeface="Inter Medium"/>
                <a:sym typeface="Inter Medium"/>
              </a:rPr>
              <a:t>: Chats, emails, call logs and photos on phones</a:t>
            </a:r>
          </a:p>
          <a:p>
            <a:pPr algn="l">
              <a:lnSpc>
                <a:spcPts val="5432"/>
              </a:lnSpc>
              <a:spcBef>
                <a:spcPct val="0"/>
              </a:spcBef>
            </a:pPr>
            <a:r>
              <a:rPr lang="en-US" b="true" sz="3880">
                <a:solidFill>
                  <a:srgbClr val="000000"/>
                </a:solidFill>
                <a:latin typeface="Inter Medium"/>
                <a:ea typeface="Inter Medium"/>
                <a:cs typeface="Inter Medium"/>
                <a:sym typeface="Inter Medium"/>
              </a:rPr>
              <a:t>•</a:t>
            </a:r>
            <a:r>
              <a:rPr lang="en-US" b="true" sz="3880">
                <a:solidFill>
                  <a:srgbClr val="000000"/>
                </a:solidFill>
                <a:latin typeface="Inter Bold"/>
                <a:ea typeface="Inter Bold"/>
                <a:cs typeface="Inter Bold"/>
                <a:sym typeface="Inter Bold"/>
              </a:rPr>
              <a:t> Metadata</a:t>
            </a:r>
            <a:r>
              <a:rPr lang="en-US" b="true" sz="3880">
                <a:solidFill>
                  <a:srgbClr val="000000"/>
                </a:solidFill>
                <a:latin typeface="Inter Medium"/>
                <a:ea typeface="Inter Medium"/>
                <a:cs typeface="Inter Medium"/>
                <a:sym typeface="Inter Medium"/>
              </a:rPr>
              <a:t>: hidden details inside files </a:t>
            </a:r>
          </a:p>
        </p:txBody>
      </p:sp>
      <p:sp>
        <p:nvSpPr>
          <p:cNvPr name="Freeform 4" id="4"/>
          <p:cNvSpPr/>
          <p:nvPr/>
        </p:nvSpPr>
        <p:spPr>
          <a:xfrm flipH="false" flipV="false" rot="0">
            <a:off x="15788179" y="-186229"/>
            <a:ext cx="2499821" cy="2499821"/>
          </a:xfrm>
          <a:custGeom>
            <a:avLst/>
            <a:gdLst/>
            <a:ahLst/>
            <a:cxnLst/>
            <a:rect r="r" b="b" t="t" l="l"/>
            <a:pathLst>
              <a:path h="2499821" w="2499821">
                <a:moveTo>
                  <a:pt x="0" y="0"/>
                </a:moveTo>
                <a:lnTo>
                  <a:pt x="2499821" y="0"/>
                </a:lnTo>
                <a:lnTo>
                  <a:pt x="2499821" y="2499821"/>
                </a:lnTo>
                <a:lnTo>
                  <a:pt x="0" y="2499821"/>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6450" y="1183710"/>
            <a:ext cx="16495100" cy="9278494"/>
          </a:xfrm>
          <a:custGeom>
            <a:avLst/>
            <a:gdLst/>
            <a:ahLst/>
            <a:cxnLst/>
            <a:rect r="r" b="b" t="t" l="l"/>
            <a:pathLst>
              <a:path h="9278494" w="16495100">
                <a:moveTo>
                  <a:pt x="0" y="0"/>
                </a:moveTo>
                <a:lnTo>
                  <a:pt x="16495100" y="0"/>
                </a:lnTo>
                <a:lnTo>
                  <a:pt x="16495100" y="9278494"/>
                </a:lnTo>
                <a:lnTo>
                  <a:pt x="0" y="9278494"/>
                </a:lnTo>
                <a:lnTo>
                  <a:pt x="0" y="0"/>
                </a:lnTo>
                <a:close/>
              </a:path>
            </a:pathLst>
          </a:custGeom>
          <a:blipFill>
            <a:blip r:embed="rId2"/>
            <a:stretch>
              <a:fillRect l="0" t="0" r="0" b="0"/>
            </a:stretch>
          </a:blipFill>
        </p:spPr>
      </p:sp>
      <p:sp>
        <p:nvSpPr>
          <p:cNvPr name="TextBox 3" id="3"/>
          <p:cNvSpPr txBox="true"/>
          <p:nvPr/>
        </p:nvSpPr>
        <p:spPr>
          <a:xfrm rot="0">
            <a:off x="754504" y="177007"/>
            <a:ext cx="16778992" cy="24384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IMPORTANT TERMINOLOGIES FOR BEGINNERS</a:t>
            </a:r>
          </a:p>
          <a:p>
            <a:pPr algn="l">
              <a:lnSpc>
                <a:spcPts val="9600"/>
              </a:lnSpc>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9311" y="1028700"/>
            <a:ext cx="17889377" cy="10062775"/>
          </a:xfrm>
          <a:custGeom>
            <a:avLst/>
            <a:gdLst/>
            <a:ahLst/>
            <a:cxnLst/>
            <a:rect r="r" b="b" t="t" l="l"/>
            <a:pathLst>
              <a:path h="10062775" w="17889377">
                <a:moveTo>
                  <a:pt x="0" y="0"/>
                </a:moveTo>
                <a:lnTo>
                  <a:pt x="17889378" y="0"/>
                </a:lnTo>
                <a:lnTo>
                  <a:pt x="17889378" y="10062775"/>
                </a:lnTo>
                <a:lnTo>
                  <a:pt x="0" y="10062775"/>
                </a:lnTo>
                <a:lnTo>
                  <a:pt x="0" y="0"/>
                </a:lnTo>
                <a:close/>
              </a:path>
            </a:pathLst>
          </a:custGeom>
          <a:blipFill>
            <a:blip r:embed="rId2"/>
            <a:stretch>
              <a:fillRect l="0" t="0" r="0" b="0"/>
            </a:stretch>
          </a:blipFill>
        </p:spPr>
      </p:sp>
      <p:sp>
        <p:nvSpPr>
          <p:cNvPr name="Freeform 3" id="3"/>
          <p:cNvSpPr/>
          <p:nvPr/>
        </p:nvSpPr>
        <p:spPr>
          <a:xfrm flipH="false" flipV="false" rot="0">
            <a:off x="12742651" y="-1195873"/>
            <a:ext cx="5346038" cy="6482071"/>
          </a:xfrm>
          <a:custGeom>
            <a:avLst/>
            <a:gdLst/>
            <a:ahLst/>
            <a:cxnLst/>
            <a:rect r="r" b="b" t="t" l="l"/>
            <a:pathLst>
              <a:path h="6482071" w="5346038">
                <a:moveTo>
                  <a:pt x="0" y="0"/>
                </a:moveTo>
                <a:lnTo>
                  <a:pt x="5346038" y="0"/>
                </a:lnTo>
                <a:lnTo>
                  <a:pt x="5346038" y="6482071"/>
                </a:lnTo>
                <a:lnTo>
                  <a:pt x="0" y="6482071"/>
                </a:lnTo>
                <a:lnTo>
                  <a:pt x="0" y="0"/>
                </a:lnTo>
                <a:close/>
              </a:path>
            </a:pathLst>
          </a:custGeom>
          <a:blipFill>
            <a:blip r:embed="rId3"/>
            <a:stretch>
              <a:fillRect l="0" t="0" r="0" b="0"/>
            </a:stretch>
          </a:blipFill>
        </p:spPr>
      </p:sp>
      <p:sp>
        <p:nvSpPr>
          <p:cNvPr name="TextBox 4" id="4"/>
          <p:cNvSpPr txBox="true"/>
          <p:nvPr/>
        </p:nvSpPr>
        <p:spPr>
          <a:xfrm rot="0">
            <a:off x="754504" y="516825"/>
            <a:ext cx="16778992" cy="24384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POPULAR FORENSIC TOOLS</a:t>
            </a:r>
          </a:p>
          <a:p>
            <a:pPr algn="l">
              <a:lnSpc>
                <a:spcPts val="9600"/>
              </a:lnSpc>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2439" y="1697276"/>
            <a:ext cx="18125561" cy="10195628"/>
          </a:xfrm>
          <a:custGeom>
            <a:avLst/>
            <a:gdLst/>
            <a:ahLst/>
            <a:cxnLst/>
            <a:rect r="r" b="b" t="t" l="l"/>
            <a:pathLst>
              <a:path h="10195628" w="18125561">
                <a:moveTo>
                  <a:pt x="0" y="0"/>
                </a:moveTo>
                <a:lnTo>
                  <a:pt x="18125561" y="0"/>
                </a:lnTo>
                <a:lnTo>
                  <a:pt x="18125561" y="10195628"/>
                </a:lnTo>
                <a:lnTo>
                  <a:pt x="0" y="10195628"/>
                </a:lnTo>
                <a:lnTo>
                  <a:pt x="0" y="0"/>
                </a:lnTo>
                <a:close/>
              </a:path>
            </a:pathLst>
          </a:custGeom>
          <a:blipFill>
            <a:blip r:embed="rId2"/>
            <a:stretch>
              <a:fillRect l="0" t="0" r="0" b="0"/>
            </a:stretch>
          </a:blipFill>
        </p:spPr>
      </p:sp>
      <p:sp>
        <p:nvSpPr>
          <p:cNvPr name="Freeform 3" id="3"/>
          <p:cNvSpPr/>
          <p:nvPr/>
        </p:nvSpPr>
        <p:spPr>
          <a:xfrm flipH="false" flipV="false" rot="0">
            <a:off x="14847505" y="127794"/>
            <a:ext cx="1189953" cy="1569482"/>
          </a:xfrm>
          <a:custGeom>
            <a:avLst/>
            <a:gdLst/>
            <a:ahLst/>
            <a:cxnLst/>
            <a:rect r="r" b="b" t="t" l="l"/>
            <a:pathLst>
              <a:path h="1569482" w="1189953">
                <a:moveTo>
                  <a:pt x="0" y="0"/>
                </a:moveTo>
                <a:lnTo>
                  <a:pt x="1189953" y="0"/>
                </a:lnTo>
                <a:lnTo>
                  <a:pt x="1189953" y="1569482"/>
                </a:lnTo>
                <a:lnTo>
                  <a:pt x="0" y="1569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58738" y="318331"/>
            <a:ext cx="16363749" cy="1420738"/>
          </a:xfrm>
          <a:prstGeom prst="rect">
            <a:avLst/>
          </a:prstGeom>
        </p:spPr>
        <p:txBody>
          <a:bodyPr anchor="t" rtlCol="false" tIns="0" lIns="0" bIns="0" rIns="0">
            <a:spAutoFit/>
          </a:bodyPr>
          <a:lstStyle/>
          <a:p>
            <a:pPr algn="l">
              <a:lnSpc>
                <a:spcPts val="11213"/>
              </a:lnSpc>
            </a:pPr>
            <a:r>
              <a:rPr lang="en-US" sz="9344">
                <a:solidFill>
                  <a:srgbClr val="000000"/>
                </a:solidFill>
                <a:latin typeface="Anton"/>
                <a:ea typeface="Anton"/>
                <a:cs typeface="Anton"/>
                <a:sym typeface="Anton"/>
              </a:rPr>
              <a:t>METADATA AND ITS IMPORTANCE</a:t>
            </a:r>
          </a:p>
        </p:txBody>
      </p:sp>
      <p:sp>
        <p:nvSpPr>
          <p:cNvPr name="TextBox 5" id="5"/>
          <p:cNvSpPr txBox="true"/>
          <p:nvPr/>
        </p:nvSpPr>
        <p:spPr>
          <a:xfrm rot="0">
            <a:off x="358738" y="1809609"/>
            <a:ext cx="17732964" cy="1967066"/>
          </a:xfrm>
          <a:prstGeom prst="rect">
            <a:avLst/>
          </a:prstGeom>
        </p:spPr>
        <p:txBody>
          <a:bodyPr anchor="t" rtlCol="false" tIns="0" lIns="0" bIns="0" rIns="0">
            <a:spAutoFit/>
          </a:bodyPr>
          <a:lstStyle/>
          <a:p>
            <a:pPr algn="ctr">
              <a:lnSpc>
                <a:spcPts val="3929"/>
              </a:lnSpc>
            </a:pPr>
            <a:r>
              <a:rPr lang="en-US" sz="2806">
                <a:solidFill>
                  <a:srgbClr val="000000"/>
                </a:solidFill>
                <a:latin typeface="Canva Sans"/>
                <a:ea typeface="Canva Sans"/>
                <a:cs typeface="Canva Sans"/>
                <a:sym typeface="Canva Sans"/>
              </a:rPr>
              <a:t>Meta</a:t>
            </a:r>
            <a:r>
              <a:rPr lang="en-US" sz="2806">
                <a:solidFill>
                  <a:srgbClr val="000000"/>
                </a:solidFill>
                <a:latin typeface="Canva Sans"/>
                <a:ea typeface="Canva Sans"/>
                <a:cs typeface="Canva Sans"/>
                <a:sym typeface="Canva Sans"/>
              </a:rPr>
              <a:t>data is "data about data". It is hidden information stored inside a file that describes the file itself.</a:t>
            </a:r>
          </a:p>
          <a:p>
            <a:pPr algn="ctr">
              <a:lnSpc>
                <a:spcPts val="3929"/>
              </a:lnSpc>
            </a:pPr>
            <a:r>
              <a:rPr lang="en-US" sz="2806">
                <a:solidFill>
                  <a:srgbClr val="000000"/>
                </a:solidFill>
                <a:latin typeface="Canva Sans"/>
                <a:ea typeface="Canva Sans"/>
                <a:cs typeface="Canva Sans"/>
                <a:sym typeface="Canva Sans"/>
              </a:rPr>
              <a:t>Simple example: a photo shows a beach. That is the data. But hidden inside the file is: which phone took it, the exact date and time, and the GPS location. That is the metadata.</a:t>
            </a:r>
          </a:p>
          <a:p>
            <a:pPr algn="ctr">
              <a:lnSpc>
                <a:spcPts val="3929"/>
              </a:lnSpc>
            </a:p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35744" y="2786847"/>
            <a:ext cx="15650911" cy="7877528"/>
          </a:xfrm>
          <a:prstGeom prst="rect">
            <a:avLst/>
          </a:prstGeom>
        </p:spPr>
        <p:txBody>
          <a:bodyPr anchor="t" rtlCol="false" tIns="0" lIns="0" bIns="0" rIns="0">
            <a:spAutoFit/>
          </a:bodyPr>
          <a:lstStyle/>
          <a:p>
            <a:pPr algn="l">
              <a:lnSpc>
                <a:spcPts val="5230"/>
              </a:lnSpc>
            </a:pPr>
            <a:r>
              <a:rPr lang="en-US" sz="3736">
                <a:solidFill>
                  <a:srgbClr val="000000"/>
                </a:solidFill>
                <a:latin typeface="Canva Sans"/>
                <a:ea typeface="Canva Sans"/>
                <a:cs typeface="Canva Sans"/>
                <a:sym typeface="Canva Sans"/>
              </a:rPr>
              <a:t>•    </a:t>
            </a:r>
            <a:r>
              <a:rPr lang="en-US" sz="3736" b="true">
                <a:solidFill>
                  <a:srgbClr val="000000"/>
                </a:solidFill>
                <a:latin typeface="Canva Sans Bold"/>
                <a:ea typeface="Canva Sans Bold"/>
                <a:cs typeface="Canva Sans Bold"/>
                <a:sym typeface="Canva Sans Bold"/>
              </a:rPr>
              <a:t>Forensic evi</a:t>
            </a:r>
            <a:r>
              <a:rPr lang="en-US" b="true" sz="3736">
                <a:solidFill>
                  <a:srgbClr val="000000"/>
                </a:solidFill>
                <a:latin typeface="Canva Sans Bold"/>
                <a:ea typeface="Canva Sans Bold"/>
                <a:cs typeface="Canva Sans Bold"/>
                <a:sym typeface="Canva Sans Bold"/>
              </a:rPr>
              <a:t>dence</a:t>
            </a:r>
            <a:r>
              <a:rPr lang="en-US" sz="3736">
                <a:solidFill>
                  <a:srgbClr val="000000"/>
                </a:solidFill>
                <a:latin typeface="Canva Sans"/>
                <a:ea typeface="Canva Sans"/>
                <a:cs typeface="Canva Sans"/>
                <a:sym typeface="Canva Sans"/>
              </a:rPr>
              <a:t>: proves when a file was created or changed and on which device – helps build a timeline of events</a:t>
            </a:r>
          </a:p>
          <a:p>
            <a:pPr algn="l">
              <a:lnSpc>
                <a:spcPts val="5230"/>
              </a:lnSpc>
            </a:pPr>
            <a:r>
              <a:rPr lang="en-US" sz="3736">
                <a:solidFill>
                  <a:srgbClr val="000000"/>
                </a:solidFill>
                <a:latin typeface="Canva Sans"/>
                <a:ea typeface="Canva Sans"/>
                <a:cs typeface="Canva Sans"/>
                <a:sym typeface="Canva Sans"/>
              </a:rPr>
              <a:t>•    </a:t>
            </a:r>
            <a:r>
              <a:rPr lang="en-US" b="true" sz="3736">
                <a:solidFill>
                  <a:srgbClr val="000000"/>
                </a:solidFill>
                <a:latin typeface="Canva Sans Bold"/>
                <a:ea typeface="Canva Sans Bold"/>
                <a:cs typeface="Canva Sans Bold"/>
                <a:sym typeface="Canva Sans Bold"/>
              </a:rPr>
              <a:t>Catching fakes</a:t>
            </a:r>
            <a:r>
              <a:rPr lang="en-US" sz="3736">
                <a:solidFill>
                  <a:srgbClr val="000000"/>
                </a:solidFill>
                <a:latin typeface="Canva Sans"/>
                <a:ea typeface="Canva Sans"/>
                <a:cs typeface="Canva Sans"/>
                <a:sym typeface="Canva Sans"/>
              </a:rPr>
              <a:t>: a photo claimed to be "taken today" but its metadata says 2019, or it shows Photoshop was used</a:t>
            </a:r>
          </a:p>
          <a:p>
            <a:pPr algn="l">
              <a:lnSpc>
                <a:spcPts val="5230"/>
              </a:lnSpc>
            </a:pPr>
            <a:r>
              <a:rPr lang="en-US" sz="3736">
                <a:solidFill>
                  <a:srgbClr val="000000"/>
                </a:solidFill>
                <a:latin typeface="Canva Sans"/>
                <a:ea typeface="Canva Sans"/>
                <a:cs typeface="Canva Sans"/>
                <a:sym typeface="Canva Sans"/>
              </a:rPr>
              <a:t>•    </a:t>
            </a:r>
            <a:r>
              <a:rPr lang="en-US" b="true" sz="3736">
                <a:solidFill>
                  <a:srgbClr val="000000"/>
                </a:solidFill>
                <a:latin typeface="Canva Sans Bold"/>
                <a:ea typeface="Canva Sans Bold"/>
                <a:cs typeface="Canva Sans Bold"/>
                <a:sym typeface="Canva Sans Bold"/>
              </a:rPr>
              <a:t>Finding location</a:t>
            </a:r>
            <a:r>
              <a:rPr lang="en-US" sz="3736">
                <a:solidFill>
                  <a:srgbClr val="000000"/>
                </a:solidFill>
                <a:latin typeface="Canva Sans"/>
                <a:ea typeface="Canva Sans"/>
                <a:cs typeface="Canva Sans"/>
                <a:sym typeface="Canva Sans"/>
              </a:rPr>
              <a:t>: GPS in a photo shows exactly where it was taken</a:t>
            </a:r>
          </a:p>
          <a:p>
            <a:pPr algn="l">
              <a:lnSpc>
                <a:spcPts val="5230"/>
              </a:lnSpc>
            </a:pPr>
            <a:r>
              <a:rPr lang="en-US" sz="3736">
                <a:solidFill>
                  <a:srgbClr val="000000"/>
                </a:solidFill>
                <a:latin typeface="Canva Sans"/>
                <a:ea typeface="Canva Sans"/>
                <a:cs typeface="Canva Sans"/>
                <a:sym typeface="Canva Sans"/>
              </a:rPr>
              <a:t>•    </a:t>
            </a:r>
            <a:r>
              <a:rPr lang="en-US" b="true" sz="3736">
                <a:solidFill>
                  <a:srgbClr val="000000"/>
                </a:solidFill>
                <a:latin typeface="Canva Sans Bold"/>
                <a:ea typeface="Canva Sans Bold"/>
                <a:cs typeface="Canva Sans Bold"/>
                <a:sym typeface="Canva Sans Bold"/>
              </a:rPr>
              <a:t>OSINT recon</a:t>
            </a:r>
            <a:r>
              <a:rPr lang="en-US" sz="3736">
                <a:solidFill>
                  <a:srgbClr val="000000"/>
                </a:solidFill>
                <a:latin typeface="Canva Sans"/>
                <a:ea typeface="Canva Sans"/>
                <a:cs typeface="Canva Sans"/>
                <a:sym typeface="Canva Sans"/>
              </a:rPr>
              <a:t>: documents on a company website can leak employee names, usernames and software versions that attackers can target</a:t>
            </a:r>
          </a:p>
          <a:p>
            <a:pPr algn="l">
              <a:lnSpc>
                <a:spcPts val="5230"/>
              </a:lnSpc>
            </a:pPr>
            <a:r>
              <a:rPr lang="en-US" sz="3736">
                <a:solidFill>
                  <a:srgbClr val="000000"/>
                </a:solidFill>
                <a:latin typeface="Canva Sans"/>
                <a:ea typeface="Canva Sans"/>
                <a:cs typeface="Canva Sans"/>
                <a:sym typeface="Canva Sans"/>
              </a:rPr>
              <a:t>•    </a:t>
            </a:r>
            <a:r>
              <a:rPr lang="en-US" b="true" sz="3736">
                <a:solidFill>
                  <a:srgbClr val="000000"/>
                </a:solidFill>
                <a:latin typeface="Canva Sans Bold"/>
                <a:ea typeface="Canva Sans Bold"/>
                <a:cs typeface="Canva Sans Bold"/>
                <a:sym typeface="Canva Sans Bold"/>
              </a:rPr>
              <a:t>Privacy risk</a:t>
            </a:r>
            <a:r>
              <a:rPr lang="en-US" sz="3736">
                <a:solidFill>
                  <a:srgbClr val="000000"/>
                </a:solidFill>
                <a:latin typeface="Canva Sans"/>
                <a:ea typeface="Canva Sans"/>
                <a:cs typeface="Canva Sans"/>
                <a:sym typeface="Canva Sans"/>
              </a:rPr>
              <a:t>: you may share your home location just by sending a photo</a:t>
            </a:r>
          </a:p>
          <a:p>
            <a:pPr algn="l">
              <a:lnSpc>
                <a:spcPts val="5230"/>
              </a:lnSpc>
            </a:pPr>
          </a:p>
          <a:p>
            <a:pPr algn="ctr">
              <a:lnSpc>
                <a:spcPts val="5230"/>
              </a:lnSpc>
            </a:pPr>
          </a:p>
        </p:txBody>
      </p:sp>
      <p:sp>
        <p:nvSpPr>
          <p:cNvPr name="Freeform 3" id="3"/>
          <p:cNvSpPr/>
          <p:nvPr/>
        </p:nvSpPr>
        <p:spPr>
          <a:xfrm flipH="false" flipV="false" rot="0">
            <a:off x="14546936" y="275531"/>
            <a:ext cx="4185392" cy="4185392"/>
          </a:xfrm>
          <a:custGeom>
            <a:avLst/>
            <a:gdLst/>
            <a:ahLst/>
            <a:cxnLst/>
            <a:rect r="r" b="b" t="t" l="l"/>
            <a:pathLst>
              <a:path h="4185392" w="4185392">
                <a:moveTo>
                  <a:pt x="0" y="0"/>
                </a:moveTo>
                <a:lnTo>
                  <a:pt x="4185393" y="0"/>
                </a:lnTo>
                <a:lnTo>
                  <a:pt x="4185393" y="4185392"/>
                </a:lnTo>
                <a:lnTo>
                  <a:pt x="0" y="4185392"/>
                </a:lnTo>
                <a:lnTo>
                  <a:pt x="0" y="0"/>
                </a:lnTo>
                <a:close/>
              </a:path>
            </a:pathLst>
          </a:custGeom>
          <a:blipFill>
            <a:blip r:embed="rId2"/>
            <a:stretch>
              <a:fillRect l="0" t="0" r="0" b="0"/>
            </a:stretch>
          </a:blipFill>
        </p:spPr>
      </p:sp>
      <p:sp>
        <p:nvSpPr>
          <p:cNvPr name="TextBox 4" id="4"/>
          <p:cNvSpPr txBox="true"/>
          <p:nvPr/>
        </p:nvSpPr>
        <p:spPr>
          <a:xfrm rot="0">
            <a:off x="535744" y="785838"/>
            <a:ext cx="16363749" cy="1420738"/>
          </a:xfrm>
          <a:prstGeom prst="rect">
            <a:avLst/>
          </a:prstGeom>
        </p:spPr>
        <p:txBody>
          <a:bodyPr anchor="t" rtlCol="false" tIns="0" lIns="0" bIns="0" rIns="0">
            <a:spAutoFit/>
          </a:bodyPr>
          <a:lstStyle/>
          <a:p>
            <a:pPr algn="l">
              <a:lnSpc>
                <a:spcPts val="11213"/>
              </a:lnSpc>
            </a:pPr>
            <a:r>
              <a:rPr lang="en-US" sz="9344">
                <a:solidFill>
                  <a:srgbClr val="000000"/>
                </a:solidFill>
                <a:latin typeface="Anton"/>
                <a:ea typeface="Anton"/>
                <a:cs typeface="Anton"/>
                <a:sym typeface="Anton"/>
              </a:rPr>
              <a:t>WHY METADATA IS IMPORTANT</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5551" y="2177529"/>
            <a:ext cx="16660369" cy="8264346"/>
          </a:xfrm>
          <a:prstGeom prst="rect">
            <a:avLst/>
          </a:prstGeom>
        </p:spPr>
        <p:txBody>
          <a:bodyPr anchor="t" rtlCol="false" tIns="0" lIns="0" bIns="0" rIns="0">
            <a:spAutoFit/>
          </a:bodyPr>
          <a:lstStyle/>
          <a:p>
            <a:pPr algn="l">
              <a:lnSpc>
                <a:spcPts val="4384"/>
              </a:lnSpc>
            </a:pPr>
            <a:r>
              <a:rPr lang="en-US" sz="3132" b="true">
                <a:solidFill>
                  <a:srgbClr val="000000"/>
                </a:solidFill>
                <a:latin typeface="Canva Sans Bold"/>
                <a:ea typeface="Canva Sans Bold"/>
                <a:cs typeface="Canva Sans Bold"/>
                <a:sym typeface="Canva Sans Bold"/>
              </a:rPr>
              <a:t>Case 1: BTK Killer (USA, 2005)</a:t>
            </a:r>
          </a:p>
          <a:p>
            <a:pPr algn="l">
              <a:lnSpc>
                <a:spcPts val="4384"/>
              </a:lnSpc>
            </a:pPr>
            <a:r>
              <a:rPr lang="en-US" sz="3132">
                <a:solidFill>
                  <a:srgbClr val="000000"/>
                </a:solidFill>
                <a:latin typeface="Canva Sans"/>
                <a:ea typeface="Canva Sans"/>
                <a:cs typeface="Canva Sans"/>
                <a:sym typeface="Canva Sans"/>
              </a:rPr>
              <a:t>•    Who: Dennis Rader, a serial killer who murdered 10 people in Wichita, Kansas between 1974 and 1991. He named himself "BTK" and was not caught for about 30 years</a:t>
            </a:r>
          </a:p>
          <a:p>
            <a:pPr algn="l">
              <a:lnSpc>
                <a:spcPts val="4384"/>
              </a:lnSpc>
            </a:pPr>
            <a:r>
              <a:rPr lang="en-US" sz="3132">
                <a:solidFill>
                  <a:srgbClr val="000000"/>
                </a:solidFill>
                <a:latin typeface="Canva Sans"/>
                <a:ea typeface="Canva Sans"/>
                <a:cs typeface="Canva Sans"/>
                <a:sym typeface="Canva Sans"/>
              </a:rPr>
              <a:t>•    His mistake: in 2004 he started sending letters to police and the media again. He asked police if a floppy disk could be traced – they said no</a:t>
            </a:r>
          </a:p>
          <a:p>
            <a:pPr algn="l">
              <a:lnSpc>
                <a:spcPts val="4384"/>
              </a:lnSpc>
            </a:pPr>
            <a:r>
              <a:rPr lang="en-US" sz="3132">
                <a:solidFill>
                  <a:srgbClr val="000000"/>
                </a:solidFill>
                <a:latin typeface="Canva Sans"/>
                <a:ea typeface="Canva Sans"/>
                <a:cs typeface="Canva Sans"/>
                <a:sym typeface="Canva Sans"/>
              </a:rPr>
              <a:t>•    The clue: in 2005 he sent a floppy disk to a TV station. Investigators found a deleted Word file on it. Its metadata showed the organisation "Christ Lutheran Church" and the user "Dennis"</a:t>
            </a:r>
          </a:p>
          <a:p>
            <a:pPr algn="l">
              <a:lnSpc>
                <a:spcPts val="4384"/>
              </a:lnSpc>
            </a:pPr>
            <a:r>
              <a:rPr lang="en-US" sz="3132">
                <a:solidFill>
                  <a:srgbClr val="000000"/>
                </a:solidFill>
                <a:latin typeface="Canva Sans"/>
                <a:ea typeface="Canva Sans"/>
                <a:cs typeface="Canva Sans"/>
                <a:sym typeface="Canva Sans"/>
              </a:rPr>
              <a:t>•    The result: a quick internet search showed Dennis Rader was the church council president. DNA confirmed it, he was arrested in February 2005 and got 10 life sentences</a:t>
            </a:r>
          </a:p>
          <a:p>
            <a:pPr algn="l">
              <a:lnSpc>
                <a:spcPts val="4384"/>
              </a:lnSpc>
            </a:pPr>
            <a:r>
              <a:rPr lang="en-US" sz="3132">
                <a:solidFill>
                  <a:srgbClr val="000000"/>
                </a:solidFill>
                <a:latin typeface="Canva Sans"/>
                <a:ea typeface="Canva Sans"/>
                <a:cs typeface="Canva Sans"/>
                <a:sym typeface="Canva Sans"/>
              </a:rPr>
              <a:t>•    Lesson: deleted does not mean gone, and documents carry hidden author details</a:t>
            </a:r>
          </a:p>
          <a:p>
            <a:pPr algn="l">
              <a:lnSpc>
                <a:spcPts val="4384"/>
              </a:lnSpc>
            </a:pPr>
          </a:p>
          <a:p>
            <a:pPr algn="ctr">
              <a:lnSpc>
                <a:spcPts val="4384"/>
              </a:lnSpc>
            </a:pPr>
          </a:p>
        </p:txBody>
      </p:sp>
      <p:sp>
        <p:nvSpPr>
          <p:cNvPr name="Freeform 3" id="3"/>
          <p:cNvSpPr/>
          <p:nvPr/>
        </p:nvSpPr>
        <p:spPr>
          <a:xfrm flipH="false" flipV="false" rot="0">
            <a:off x="7185613" y="119936"/>
            <a:ext cx="3064011" cy="2599468"/>
          </a:xfrm>
          <a:custGeom>
            <a:avLst/>
            <a:gdLst/>
            <a:ahLst/>
            <a:cxnLst/>
            <a:rect r="r" b="b" t="t" l="l"/>
            <a:pathLst>
              <a:path h="2599468" w="3064011">
                <a:moveTo>
                  <a:pt x="0" y="0"/>
                </a:moveTo>
                <a:lnTo>
                  <a:pt x="3064011" y="0"/>
                </a:lnTo>
                <a:lnTo>
                  <a:pt x="3064011" y="2599467"/>
                </a:lnTo>
                <a:lnTo>
                  <a:pt x="0" y="2599467"/>
                </a:lnTo>
                <a:lnTo>
                  <a:pt x="0" y="0"/>
                </a:lnTo>
                <a:close/>
              </a:path>
            </a:pathLst>
          </a:custGeom>
          <a:blipFill>
            <a:blip r:embed="rId2"/>
            <a:stretch>
              <a:fillRect l="0" t="0" r="0" b="0"/>
            </a:stretch>
          </a:blipFill>
        </p:spPr>
      </p:sp>
      <p:sp>
        <p:nvSpPr>
          <p:cNvPr name="TextBox 4" id="4"/>
          <p:cNvSpPr txBox="true"/>
          <p:nvPr/>
        </p:nvSpPr>
        <p:spPr>
          <a:xfrm rot="0">
            <a:off x="535744" y="589365"/>
            <a:ext cx="16363749" cy="1420738"/>
          </a:xfrm>
          <a:prstGeom prst="rect">
            <a:avLst/>
          </a:prstGeom>
        </p:spPr>
        <p:txBody>
          <a:bodyPr anchor="t" rtlCol="false" tIns="0" lIns="0" bIns="0" rIns="0">
            <a:spAutoFit/>
          </a:bodyPr>
          <a:lstStyle/>
          <a:p>
            <a:pPr algn="l">
              <a:lnSpc>
                <a:spcPts val="11213"/>
              </a:lnSpc>
            </a:pPr>
            <a:r>
              <a:rPr lang="en-US" sz="9344">
                <a:solidFill>
                  <a:srgbClr val="000000"/>
                </a:solidFill>
                <a:latin typeface="Anton"/>
                <a:ea typeface="Anton"/>
                <a:cs typeface="Anton"/>
                <a:sym typeface="Anton"/>
              </a:rPr>
              <a:t>REAL CASES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2991" y="382247"/>
            <a:ext cx="14262018" cy="9522506"/>
          </a:xfrm>
          <a:custGeom>
            <a:avLst/>
            <a:gdLst/>
            <a:ahLst/>
            <a:cxnLst/>
            <a:rect r="r" b="b" t="t" l="l"/>
            <a:pathLst>
              <a:path h="9522506" w="14262018">
                <a:moveTo>
                  <a:pt x="0" y="0"/>
                </a:moveTo>
                <a:lnTo>
                  <a:pt x="14262018" y="0"/>
                </a:lnTo>
                <a:lnTo>
                  <a:pt x="14262018" y="9522506"/>
                </a:lnTo>
                <a:lnTo>
                  <a:pt x="0" y="9522506"/>
                </a:lnTo>
                <a:lnTo>
                  <a:pt x="0" y="0"/>
                </a:lnTo>
                <a:close/>
              </a:path>
            </a:pathLst>
          </a:custGeom>
          <a:blipFill>
            <a:blip r:embed="rId2"/>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8931" y="3516811"/>
            <a:ext cx="16660369" cy="6606996"/>
          </a:xfrm>
          <a:prstGeom prst="rect">
            <a:avLst/>
          </a:prstGeom>
        </p:spPr>
        <p:txBody>
          <a:bodyPr anchor="t" rtlCol="false" tIns="0" lIns="0" bIns="0" rIns="0">
            <a:spAutoFit/>
          </a:bodyPr>
          <a:lstStyle/>
          <a:p>
            <a:pPr algn="l">
              <a:lnSpc>
                <a:spcPts val="4384"/>
              </a:lnSpc>
            </a:pPr>
            <a:r>
              <a:rPr lang="en-US" sz="3132" b="true">
                <a:solidFill>
                  <a:srgbClr val="000000"/>
                </a:solidFill>
                <a:latin typeface="Canva Sans Bold"/>
                <a:ea typeface="Canva Sans Bold"/>
                <a:cs typeface="Canva Sans Bold"/>
                <a:sym typeface="Canva Sans Bold"/>
              </a:rPr>
              <a:t>Case 2: John McAfee (2012)</a:t>
            </a:r>
          </a:p>
          <a:p>
            <a:pPr algn="l">
              <a:lnSpc>
                <a:spcPts val="4384"/>
              </a:lnSpc>
            </a:pPr>
            <a:r>
              <a:rPr lang="en-US" sz="3132">
                <a:solidFill>
                  <a:srgbClr val="000000"/>
                </a:solidFill>
                <a:latin typeface="Canva Sans"/>
                <a:ea typeface="Canva Sans"/>
                <a:cs typeface="Canva Sans"/>
                <a:sym typeface="Canva Sans"/>
              </a:rPr>
              <a:t>•    Who: John McAfee, founder of the McAfee antivirus company</a:t>
            </a:r>
          </a:p>
          <a:p>
            <a:pPr algn="l">
              <a:lnSpc>
                <a:spcPts val="4384"/>
              </a:lnSpc>
            </a:pPr>
            <a:r>
              <a:rPr lang="en-US" sz="3132">
                <a:solidFill>
                  <a:srgbClr val="000000"/>
                </a:solidFill>
                <a:latin typeface="Canva Sans"/>
                <a:ea typeface="Canva Sans"/>
                <a:cs typeface="Canva Sans"/>
                <a:sym typeface="Canva Sans"/>
              </a:rPr>
              <a:t>•    What happened: in November 2012, police in Belize wanted to question him about his neighbour's death. He went into hiding and kept posting online about being on the run</a:t>
            </a:r>
          </a:p>
          <a:p>
            <a:pPr algn="l">
              <a:lnSpc>
                <a:spcPts val="4384"/>
              </a:lnSpc>
            </a:pPr>
            <a:r>
              <a:rPr lang="en-US" sz="3132">
                <a:solidFill>
                  <a:srgbClr val="000000"/>
                </a:solidFill>
                <a:latin typeface="Canva Sans"/>
                <a:ea typeface="Canva Sans"/>
                <a:cs typeface="Canva Sans"/>
                <a:sym typeface="Canva Sans"/>
              </a:rPr>
              <a:t>•    The clue: journalists from Vice magazine travelled with him and posted a photo of him taken on an iPhone. They forgot to remove the EXIF metadata – the GPS coordinates showed he was in Guatemala</a:t>
            </a:r>
          </a:p>
          <a:p>
            <a:pPr algn="l">
              <a:lnSpc>
                <a:spcPts val="4384"/>
              </a:lnSpc>
            </a:pPr>
            <a:r>
              <a:rPr lang="en-US" sz="3132">
                <a:solidFill>
                  <a:srgbClr val="000000"/>
                </a:solidFill>
                <a:latin typeface="Canva Sans"/>
                <a:ea typeface="Canva Sans"/>
                <a:cs typeface="Canva Sans"/>
                <a:sym typeface="Canva Sans"/>
              </a:rPr>
              <a:t>•    The result: his location became public within hours, and he was arrested in Guatemala a few days later for entering the country illegally</a:t>
            </a:r>
          </a:p>
          <a:p>
            <a:pPr algn="l">
              <a:lnSpc>
                <a:spcPts val="4384"/>
              </a:lnSpc>
            </a:pPr>
            <a:r>
              <a:rPr lang="en-US" sz="3132">
                <a:solidFill>
                  <a:srgbClr val="000000"/>
                </a:solidFill>
                <a:latin typeface="Canva Sans"/>
                <a:ea typeface="Canva Sans"/>
                <a:cs typeface="Canva Sans"/>
                <a:sym typeface="Canva Sans"/>
              </a:rPr>
              <a:t>•    Lesson: always remove metadata before posting photos online</a:t>
            </a:r>
          </a:p>
          <a:p>
            <a:pPr algn="ctr">
              <a:lnSpc>
                <a:spcPts val="4384"/>
              </a:lnSpc>
            </a:pPr>
          </a:p>
        </p:txBody>
      </p:sp>
      <p:sp>
        <p:nvSpPr>
          <p:cNvPr name="Freeform 3" id="3"/>
          <p:cNvSpPr/>
          <p:nvPr/>
        </p:nvSpPr>
        <p:spPr>
          <a:xfrm flipH="false" flipV="false" rot="0">
            <a:off x="13423295" y="0"/>
            <a:ext cx="4417345" cy="4453405"/>
          </a:xfrm>
          <a:custGeom>
            <a:avLst/>
            <a:gdLst/>
            <a:ahLst/>
            <a:cxnLst/>
            <a:rect r="r" b="b" t="t" l="l"/>
            <a:pathLst>
              <a:path h="4453405" w="4417345">
                <a:moveTo>
                  <a:pt x="0" y="0"/>
                </a:moveTo>
                <a:lnTo>
                  <a:pt x="4417345" y="0"/>
                </a:lnTo>
                <a:lnTo>
                  <a:pt x="4417345" y="4453405"/>
                </a:lnTo>
                <a:lnTo>
                  <a:pt x="0" y="4453405"/>
                </a:lnTo>
                <a:lnTo>
                  <a:pt x="0" y="0"/>
                </a:lnTo>
                <a:close/>
              </a:path>
            </a:pathLst>
          </a:custGeom>
          <a:blipFill>
            <a:blip r:embed="rId2"/>
            <a:stretch>
              <a:fillRect l="0" t="0" r="0" b="0"/>
            </a:stretch>
          </a:blipFill>
        </p:spPr>
      </p:sp>
      <p:sp>
        <p:nvSpPr>
          <p:cNvPr name="TextBox 4" id="4"/>
          <p:cNvSpPr txBox="true"/>
          <p:nvPr/>
        </p:nvSpPr>
        <p:spPr>
          <a:xfrm rot="0">
            <a:off x="895551" y="565956"/>
            <a:ext cx="16363749" cy="1420738"/>
          </a:xfrm>
          <a:prstGeom prst="rect">
            <a:avLst/>
          </a:prstGeom>
        </p:spPr>
        <p:txBody>
          <a:bodyPr anchor="t" rtlCol="false" tIns="0" lIns="0" bIns="0" rIns="0">
            <a:spAutoFit/>
          </a:bodyPr>
          <a:lstStyle/>
          <a:p>
            <a:pPr algn="l">
              <a:lnSpc>
                <a:spcPts val="11213"/>
              </a:lnSpc>
            </a:pPr>
            <a:r>
              <a:rPr lang="en-US" sz="9344">
                <a:solidFill>
                  <a:srgbClr val="000000"/>
                </a:solidFill>
                <a:latin typeface="Anton"/>
                <a:ea typeface="Anton"/>
                <a:cs typeface="Anton"/>
                <a:sym typeface="Anton"/>
              </a:rPr>
              <a:t>REAL CASES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10171" y="563240"/>
            <a:ext cx="13958887" cy="9160519"/>
          </a:xfrm>
          <a:custGeom>
            <a:avLst/>
            <a:gdLst/>
            <a:ahLst/>
            <a:cxnLst/>
            <a:rect r="r" b="b" t="t" l="l"/>
            <a:pathLst>
              <a:path h="9160519" w="13958887">
                <a:moveTo>
                  <a:pt x="0" y="0"/>
                </a:moveTo>
                <a:lnTo>
                  <a:pt x="13958887" y="0"/>
                </a:lnTo>
                <a:lnTo>
                  <a:pt x="13958887" y="9160520"/>
                </a:lnTo>
                <a:lnTo>
                  <a:pt x="0" y="9160520"/>
                </a:lnTo>
                <a:lnTo>
                  <a:pt x="0" y="0"/>
                </a:lnTo>
                <a:close/>
              </a:path>
            </a:pathLst>
          </a:custGeom>
          <a:blipFill>
            <a:blip r:embed="rId2"/>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95551" y="565956"/>
            <a:ext cx="16363749" cy="1420738"/>
          </a:xfrm>
          <a:prstGeom prst="rect">
            <a:avLst/>
          </a:prstGeom>
        </p:spPr>
        <p:txBody>
          <a:bodyPr anchor="t" rtlCol="false" tIns="0" lIns="0" bIns="0" rIns="0">
            <a:spAutoFit/>
          </a:bodyPr>
          <a:lstStyle/>
          <a:p>
            <a:pPr algn="l">
              <a:lnSpc>
                <a:spcPts val="11213"/>
              </a:lnSpc>
            </a:pPr>
            <a:r>
              <a:rPr lang="en-US" sz="9344">
                <a:solidFill>
                  <a:srgbClr val="000000"/>
                </a:solidFill>
                <a:latin typeface="Anton"/>
                <a:ea typeface="Anton"/>
                <a:cs typeface="Anton"/>
                <a:sym typeface="Anton"/>
              </a:rPr>
              <a:t>QUIZ 3: ANSWER IT YOURSELF</a:t>
            </a:r>
          </a:p>
        </p:txBody>
      </p:sp>
      <p:sp>
        <p:nvSpPr>
          <p:cNvPr name="TextBox 3" id="3"/>
          <p:cNvSpPr txBox="true"/>
          <p:nvPr/>
        </p:nvSpPr>
        <p:spPr>
          <a:xfrm rot="0">
            <a:off x="646702" y="4891010"/>
            <a:ext cx="16994595" cy="852704"/>
          </a:xfrm>
          <a:prstGeom prst="rect">
            <a:avLst/>
          </a:prstGeom>
        </p:spPr>
        <p:txBody>
          <a:bodyPr anchor="t" rtlCol="false" tIns="0" lIns="0" bIns="0" rIns="0">
            <a:spAutoFit/>
          </a:bodyPr>
          <a:lstStyle/>
          <a:p>
            <a:pPr algn="ctr">
              <a:lnSpc>
                <a:spcPts val="6930"/>
              </a:lnSpc>
            </a:pPr>
            <a:r>
              <a:rPr lang="en-US" sz="4950" b="true">
                <a:solidFill>
                  <a:srgbClr val="000000"/>
                </a:solidFill>
                <a:latin typeface="Canva Sans Bold"/>
                <a:ea typeface="Canva Sans Bold"/>
                <a:cs typeface="Canva Sans Bold"/>
                <a:sym typeface="Canva Sans Bold"/>
              </a:rPr>
              <a:t>What should you do to a photo before posting it online?</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5766" y="6398948"/>
            <a:ext cx="14175321" cy="1971298"/>
            <a:chOff x="0" y="0"/>
            <a:chExt cx="3733418" cy="519190"/>
          </a:xfrm>
        </p:grpSpPr>
        <p:sp>
          <p:nvSpPr>
            <p:cNvPr name="Freeform 3" id="3"/>
            <p:cNvSpPr/>
            <p:nvPr/>
          </p:nvSpPr>
          <p:spPr>
            <a:xfrm flipH="false" flipV="false" rot="0">
              <a:off x="0" y="0"/>
              <a:ext cx="3733418" cy="519190"/>
            </a:xfrm>
            <a:custGeom>
              <a:avLst/>
              <a:gdLst/>
              <a:ahLst/>
              <a:cxnLst/>
              <a:rect r="r" b="b" t="t" l="l"/>
              <a:pathLst>
                <a:path h="519190" w="3733418">
                  <a:moveTo>
                    <a:pt x="27854" y="0"/>
                  </a:moveTo>
                  <a:lnTo>
                    <a:pt x="3705564" y="0"/>
                  </a:lnTo>
                  <a:cubicBezTo>
                    <a:pt x="3720947" y="0"/>
                    <a:pt x="3733418" y="12471"/>
                    <a:pt x="3733418" y="27854"/>
                  </a:cubicBezTo>
                  <a:lnTo>
                    <a:pt x="3733418" y="491336"/>
                  </a:lnTo>
                  <a:cubicBezTo>
                    <a:pt x="3733418" y="506719"/>
                    <a:pt x="3720947" y="519190"/>
                    <a:pt x="3705564" y="519190"/>
                  </a:cubicBezTo>
                  <a:lnTo>
                    <a:pt x="27854" y="519190"/>
                  </a:lnTo>
                  <a:cubicBezTo>
                    <a:pt x="20467" y="519190"/>
                    <a:pt x="13382" y="516255"/>
                    <a:pt x="8158" y="511031"/>
                  </a:cubicBezTo>
                  <a:cubicBezTo>
                    <a:pt x="2935" y="505808"/>
                    <a:pt x="0" y="498723"/>
                    <a:pt x="0" y="491336"/>
                  </a:cubicBezTo>
                  <a:lnTo>
                    <a:pt x="0" y="27854"/>
                  </a:lnTo>
                  <a:cubicBezTo>
                    <a:pt x="0" y="12471"/>
                    <a:pt x="12471" y="0"/>
                    <a:pt x="27854" y="0"/>
                  </a:cubicBezTo>
                  <a:close/>
                </a:path>
              </a:pathLst>
            </a:custGeom>
            <a:solidFill>
              <a:srgbClr val="D1D3D4"/>
            </a:solidFill>
          </p:spPr>
        </p:sp>
        <p:sp>
          <p:nvSpPr>
            <p:cNvPr name="TextBox 4" id="4"/>
            <p:cNvSpPr txBox="true"/>
            <p:nvPr/>
          </p:nvSpPr>
          <p:spPr>
            <a:xfrm>
              <a:off x="0" y="-38100"/>
              <a:ext cx="3733418" cy="55729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439764" y="344574"/>
            <a:ext cx="16363749" cy="2841477"/>
          </a:xfrm>
          <a:prstGeom prst="rect">
            <a:avLst/>
          </a:prstGeom>
        </p:spPr>
        <p:txBody>
          <a:bodyPr anchor="t" rtlCol="false" tIns="0" lIns="0" bIns="0" rIns="0">
            <a:spAutoFit/>
          </a:bodyPr>
          <a:lstStyle/>
          <a:p>
            <a:pPr algn="l">
              <a:lnSpc>
                <a:spcPts val="11213"/>
              </a:lnSpc>
            </a:pPr>
            <a:r>
              <a:rPr lang="en-US" sz="9344">
                <a:solidFill>
                  <a:srgbClr val="000000"/>
                </a:solidFill>
                <a:latin typeface="Anton"/>
                <a:ea typeface="Anton"/>
                <a:cs typeface="Anton"/>
                <a:sym typeface="Anton"/>
              </a:rPr>
              <a:t>EXIFTOOL </a:t>
            </a:r>
          </a:p>
          <a:p>
            <a:pPr algn="l">
              <a:lnSpc>
                <a:spcPts val="11213"/>
              </a:lnSpc>
            </a:pPr>
          </a:p>
        </p:txBody>
      </p:sp>
      <p:sp>
        <p:nvSpPr>
          <p:cNvPr name="TextBox 6" id="6"/>
          <p:cNvSpPr txBox="true"/>
          <p:nvPr/>
        </p:nvSpPr>
        <p:spPr>
          <a:xfrm rot="0">
            <a:off x="9139238" y="2305050"/>
            <a:ext cx="9525" cy="1419225"/>
          </a:xfrm>
          <a:prstGeom prst="rect">
            <a:avLst/>
          </a:prstGeom>
        </p:spPr>
        <p:txBody>
          <a:bodyPr anchor="t" rtlCol="false" tIns="0" lIns="0" bIns="0" rIns="0">
            <a:spAutoFit/>
          </a:bodyPr>
          <a:lstStyle/>
          <a:p>
            <a:pPr algn="ctr">
              <a:lnSpc>
                <a:spcPts val="11213"/>
              </a:lnSpc>
              <a:spcBef>
                <a:spcPct val="0"/>
              </a:spcBef>
            </a:pPr>
          </a:p>
        </p:txBody>
      </p:sp>
      <p:sp>
        <p:nvSpPr>
          <p:cNvPr name="TextBox 7" id="7"/>
          <p:cNvSpPr txBox="true"/>
          <p:nvPr/>
        </p:nvSpPr>
        <p:spPr>
          <a:xfrm rot="0">
            <a:off x="439764" y="1862415"/>
            <a:ext cx="17189201" cy="4181443"/>
          </a:xfrm>
          <a:prstGeom prst="rect">
            <a:avLst/>
          </a:prstGeom>
        </p:spPr>
        <p:txBody>
          <a:bodyPr anchor="t" rtlCol="false" tIns="0" lIns="0" bIns="0" rIns="0">
            <a:spAutoFit/>
          </a:bodyPr>
          <a:lstStyle/>
          <a:p>
            <a:pPr algn="l">
              <a:lnSpc>
                <a:spcPts val="4761"/>
              </a:lnSpc>
            </a:pPr>
            <a:r>
              <a:rPr lang="en-US" sz="3401">
                <a:solidFill>
                  <a:srgbClr val="000000"/>
                </a:solidFill>
                <a:latin typeface="Canva Sans"/>
                <a:ea typeface="Canva Sans"/>
                <a:cs typeface="Canva Sans"/>
                <a:sym typeface="Canva Sans"/>
              </a:rPr>
              <a:t>EXIF (Exchangeable Image File Format) is the stan</a:t>
            </a:r>
            <a:r>
              <a:rPr lang="en-US" sz="3401">
                <a:solidFill>
                  <a:srgbClr val="000000"/>
                </a:solidFill>
                <a:latin typeface="Canva Sans"/>
                <a:ea typeface="Canva Sans"/>
                <a:cs typeface="Canva Sans"/>
                <a:sym typeface="Canva Sans"/>
              </a:rPr>
              <a:t>dard for the metadata that cameras and phones save inside photos.</a:t>
            </a:r>
          </a:p>
          <a:p>
            <a:pPr algn="l">
              <a:lnSpc>
                <a:spcPts val="4761"/>
              </a:lnSpc>
            </a:pPr>
          </a:p>
          <a:p>
            <a:pPr algn="l">
              <a:lnSpc>
                <a:spcPts val="4761"/>
              </a:lnSpc>
            </a:pPr>
            <a:r>
              <a:rPr lang="en-US" sz="3401">
                <a:solidFill>
                  <a:srgbClr val="000000"/>
                </a:solidFill>
                <a:latin typeface="Canva Sans"/>
                <a:ea typeface="Canva Sans"/>
                <a:cs typeface="Canva Sans"/>
                <a:sym typeface="Canva Sans"/>
              </a:rPr>
              <a:t>ExifTool is a free command-line tool that can read, edit and remove metadata from almost any file – photos, videos, PDFs, Word files and more.</a:t>
            </a:r>
          </a:p>
          <a:p>
            <a:pPr algn="l">
              <a:lnSpc>
                <a:spcPts val="4761"/>
              </a:lnSpc>
            </a:pPr>
          </a:p>
          <a:p>
            <a:pPr algn="l">
              <a:lnSpc>
                <a:spcPts val="4761"/>
              </a:lnSpc>
            </a:pPr>
          </a:p>
        </p:txBody>
      </p:sp>
      <p:sp>
        <p:nvSpPr>
          <p:cNvPr name="Freeform 8" id="8"/>
          <p:cNvSpPr/>
          <p:nvPr/>
        </p:nvSpPr>
        <p:spPr>
          <a:xfrm flipH="false" flipV="false" rot="0">
            <a:off x="4758071" y="214531"/>
            <a:ext cx="1735633" cy="1628339"/>
          </a:xfrm>
          <a:custGeom>
            <a:avLst/>
            <a:gdLst/>
            <a:ahLst/>
            <a:cxnLst/>
            <a:rect r="r" b="b" t="t" l="l"/>
            <a:pathLst>
              <a:path h="1628339" w="1735633">
                <a:moveTo>
                  <a:pt x="0" y="0"/>
                </a:moveTo>
                <a:lnTo>
                  <a:pt x="1735633" y="0"/>
                </a:lnTo>
                <a:lnTo>
                  <a:pt x="1735633" y="1628338"/>
                </a:lnTo>
                <a:lnTo>
                  <a:pt x="0" y="1628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07020" y="6613161"/>
            <a:ext cx="13964067" cy="2770077"/>
          </a:xfrm>
          <a:prstGeom prst="rect">
            <a:avLst/>
          </a:prstGeom>
        </p:spPr>
        <p:txBody>
          <a:bodyPr anchor="t" rtlCol="false" tIns="0" lIns="0" bIns="0" rIns="0">
            <a:spAutoFit/>
          </a:bodyPr>
          <a:lstStyle/>
          <a:p>
            <a:pPr algn="just">
              <a:lnSpc>
                <a:spcPts val="5348"/>
              </a:lnSpc>
            </a:pPr>
            <a:r>
              <a:rPr lang="en-US" sz="3820" b="true">
                <a:solidFill>
                  <a:srgbClr val="000000"/>
                </a:solidFill>
                <a:latin typeface="ITC American Typewriter Bold"/>
                <a:ea typeface="ITC American Typewriter Bold"/>
                <a:cs typeface="ITC American Typewriter Bold"/>
                <a:sym typeface="ITC American Typewriter Bold"/>
              </a:rPr>
              <a:t> cd challenges/Protocol_Day_3</a:t>
            </a:r>
          </a:p>
          <a:p>
            <a:pPr algn="just">
              <a:lnSpc>
                <a:spcPts val="5348"/>
              </a:lnSpc>
            </a:pPr>
            <a:r>
              <a:rPr lang="en-US" sz="3820" b="true">
                <a:solidFill>
                  <a:srgbClr val="000000"/>
                </a:solidFill>
                <a:latin typeface="ITC American Typewriter Bold"/>
                <a:ea typeface="ITC American Typewriter Bold"/>
                <a:cs typeface="ITC American Typewriter Bold"/>
                <a:sym typeface="ITC American Typewriter Bold"/>
              </a:rPr>
              <a:t>sh setup_day3.sh</a:t>
            </a:r>
          </a:p>
          <a:p>
            <a:pPr algn="just">
              <a:lnSpc>
                <a:spcPts val="5348"/>
              </a:lnSpc>
            </a:pPr>
          </a:p>
          <a:p>
            <a:pPr algn="l">
              <a:lnSpc>
                <a:spcPts val="5348"/>
              </a:lnSpc>
            </a:pPr>
          </a:p>
        </p:txBody>
      </p:sp>
      <p:sp>
        <p:nvSpPr>
          <p:cNvPr name="TextBox 10" id="10"/>
          <p:cNvSpPr txBox="true"/>
          <p:nvPr/>
        </p:nvSpPr>
        <p:spPr>
          <a:xfrm rot="0">
            <a:off x="0" y="5494189"/>
            <a:ext cx="7690854" cy="621112"/>
          </a:xfrm>
          <a:prstGeom prst="rect">
            <a:avLst/>
          </a:prstGeom>
        </p:spPr>
        <p:txBody>
          <a:bodyPr anchor="t" rtlCol="false" tIns="0" lIns="0" bIns="0" rIns="0">
            <a:spAutoFit/>
          </a:bodyPr>
          <a:lstStyle/>
          <a:p>
            <a:pPr algn="ctr">
              <a:lnSpc>
                <a:spcPts val="5140"/>
              </a:lnSpc>
            </a:pPr>
            <a:r>
              <a:rPr lang="en-US" sz="3671" b="true">
                <a:solidFill>
                  <a:srgbClr val="000000"/>
                </a:solidFill>
                <a:latin typeface="Canva Sans Bold"/>
                <a:ea typeface="Canva Sans Bold"/>
                <a:cs typeface="Canva Sans Bold"/>
                <a:sym typeface="Canva Sans Bold"/>
              </a:rPr>
              <a:t>SETUP(In your codespaces)</a:t>
            </a:r>
          </a:p>
        </p:txBody>
      </p:sp>
      <p:sp>
        <p:nvSpPr>
          <p:cNvPr name="TextBox 11" id="11"/>
          <p:cNvSpPr txBox="true"/>
          <p:nvPr/>
        </p:nvSpPr>
        <p:spPr>
          <a:xfrm rot="0">
            <a:off x="47985" y="8914407"/>
            <a:ext cx="17580980" cy="621112"/>
          </a:xfrm>
          <a:prstGeom prst="rect">
            <a:avLst/>
          </a:prstGeom>
        </p:spPr>
        <p:txBody>
          <a:bodyPr anchor="t" rtlCol="false" tIns="0" lIns="0" bIns="0" rIns="0">
            <a:spAutoFit/>
          </a:bodyPr>
          <a:lstStyle/>
          <a:p>
            <a:pPr algn="ctr">
              <a:lnSpc>
                <a:spcPts val="5140"/>
              </a:lnSpc>
            </a:pPr>
            <a:r>
              <a:rPr lang="en-US" sz="3671" b="true">
                <a:solidFill>
                  <a:srgbClr val="000000"/>
                </a:solidFill>
                <a:latin typeface="Canva Sans Bold"/>
                <a:ea typeface="Canva Sans Bold"/>
                <a:cs typeface="Canva Sans Bold"/>
                <a:sym typeface="Canva Sans Bold"/>
              </a:rPr>
              <a:t>Repo: github.com/omsapate23/protocol-cybersecurity-101-bootcamp</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88775"/>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59646" y="360994"/>
            <a:ext cx="15600396" cy="1344937"/>
          </a:xfrm>
          <a:prstGeom prst="rect">
            <a:avLst/>
          </a:prstGeom>
        </p:spPr>
        <p:txBody>
          <a:bodyPr anchor="t" rtlCol="false" tIns="0" lIns="0" bIns="0" rIns="0">
            <a:spAutoFit/>
          </a:bodyPr>
          <a:lstStyle/>
          <a:p>
            <a:pPr algn="l">
              <a:lnSpc>
                <a:spcPts val="10690"/>
              </a:lnSpc>
            </a:pPr>
            <a:r>
              <a:rPr lang="en-US" sz="8908">
                <a:solidFill>
                  <a:srgbClr val="000000"/>
                </a:solidFill>
                <a:latin typeface="Anton"/>
                <a:ea typeface="Anton"/>
                <a:cs typeface="Anton"/>
                <a:sym typeface="Anton"/>
              </a:rPr>
              <a:t>USEFUL COMMANDS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9646" y="1705931"/>
            <a:ext cx="8301718" cy="6226289"/>
          </a:xfrm>
          <a:custGeom>
            <a:avLst/>
            <a:gdLst/>
            <a:ahLst/>
            <a:cxnLst/>
            <a:rect r="r" b="b" t="t" l="l"/>
            <a:pathLst>
              <a:path h="6226289" w="8301718">
                <a:moveTo>
                  <a:pt x="0" y="0"/>
                </a:moveTo>
                <a:lnTo>
                  <a:pt x="8301718" y="0"/>
                </a:lnTo>
                <a:lnTo>
                  <a:pt x="8301718" y="6226289"/>
                </a:lnTo>
                <a:lnTo>
                  <a:pt x="0" y="6226289"/>
                </a:lnTo>
                <a:lnTo>
                  <a:pt x="0" y="0"/>
                </a:lnTo>
                <a:close/>
              </a:path>
            </a:pathLst>
          </a:custGeom>
          <a:blipFill>
            <a:blip r:embed="rId2"/>
            <a:stretch>
              <a:fillRect l="0" t="0" r="0" b="0"/>
            </a:stretch>
          </a:blipFill>
        </p:spPr>
      </p:sp>
      <p:sp>
        <p:nvSpPr>
          <p:cNvPr name="TextBox 3" id="3"/>
          <p:cNvSpPr txBox="true"/>
          <p:nvPr/>
        </p:nvSpPr>
        <p:spPr>
          <a:xfrm rot="0">
            <a:off x="659646" y="360994"/>
            <a:ext cx="15600396" cy="1344937"/>
          </a:xfrm>
          <a:prstGeom prst="rect">
            <a:avLst/>
          </a:prstGeom>
        </p:spPr>
        <p:txBody>
          <a:bodyPr anchor="t" rtlCol="false" tIns="0" lIns="0" bIns="0" rIns="0">
            <a:spAutoFit/>
          </a:bodyPr>
          <a:lstStyle/>
          <a:p>
            <a:pPr algn="l">
              <a:lnSpc>
                <a:spcPts val="10690"/>
              </a:lnSpc>
            </a:pPr>
            <a:r>
              <a:rPr lang="en-US" sz="8908">
                <a:solidFill>
                  <a:srgbClr val="000000"/>
                </a:solidFill>
                <a:latin typeface="Anton"/>
                <a:ea typeface="Anton"/>
                <a:cs typeface="Anton"/>
                <a:sym typeface="Anton"/>
              </a:rPr>
              <a:t>LEVEL 1: WHERE WAS THIS TAKEN?</a:t>
            </a:r>
          </a:p>
        </p:txBody>
      </p:sp>
      <p:grpSp>
        <p:nvGrpSpPr>
          <p:cNvPr name="Group 4" id="4"/>
          <p:cNvGrpSpPr/>
          <p:nvPr/>
        </p:nvGrpSpPr>
        <p:grpSpPr>
          <a:xfrm rot="0">
            <a:off x="282061" y="8016775"/>
            <a:ext cx="12512964" cy="2209182"/>
            <a:chOff x="0" y="0"/>
            <a:chExt cx="3295595" cy="581842"/>
          </a:xfrm>
        </p:grpSpPr>
        <p:sp>
          <p:nvSpPr>
            <p:cNvPr name="Freeform 5" id="5"/>
            <p:cNvSpPr/>
            <p:nvPr/>
          </p:nvSpPr>
          <p:spPr>
            <a:xfrm flipH="false" flipV="false" rot="0">
              <a:off x="0" y="0"/>
              <a:ext cx="3295595" cy="581842"/>
            </a:xfrm>
            <a:custGeom>
              <a:avLst/>
              <a:gdLst/>
              <a:ahLst/>
              <a:cxnLst/>
              <a:rect r="r" b="b" t="t" l="l"/>
              <a:pathLst>
                <a:path h="581842" w="3295595">
                  <a:moveTo>
                    <a:pt x="31554" y="0"/>
                  </a:moveTo>
                  <a:lnTo>
                    <a:pt x="3264041" y="0"/>
                  </a:lnTo>
                  <a:cubicBezTo>
                    <a:pt x="3272410" y="0"/>
                    <a:pt x="3280436" y="3324"/>
                    <a:pt x="3286353" y="9242"/>
                  </a:cubicBezTo>
                  <a:cubicBezTo>
                    <a:pt x="3292271" y="15160"/>
                    <a:pt x="3295595" y="23186"/>
                    <a:pt x="3295595" y="31554"/>
                  </a:cubicBezTo>
                  <a:lnTo>
                    <a:pt x="3295595" y="550288"/>
                  </a:lnTo>
                  <a:cubicBezTo>
                    <a:pt x="3295595" y="558657"/>
                    <a:pt x="3292271" y="566683"/>
                    <a:pt x="3286353" y="572600"/>
                  </a:cubicBezTo>
                  <a:cubicBezTo>
                    <a:pt x="3280436" y="578518"/>
                    <a:pt x="3272410" y="581842"/>
                    <a:pt x="3264041" y="581842"/>
                  </a:cubicBezTo>
                  <a:lnTo>
                    <a:pt x="31554" y="581842"/>
                  </a:lnTo>
                  <a:cubicBezTo>
                    <a:pt x="23186" y="581842"/>
                    <a:pt x="15160" y="578518"/>
                    <a:pt x="9242" y="572600"/>
                  </a:cubicBezTo>
                  <a:cubicBezTo>
                    <a:pt x="3324" y="566683"/>
                    <a:pt x="0" y="558657"/>
                    <a:pt x="0" y="550288"/>
                  </a:cubicBezTo>
                  <a:lnTo>
                    <a:pt x="0" y="31554"/>
                  </a:lnTo>
                  <a:cubicBezTo>
                    <a:pt x="0" y="23186"/>
                    <a:pt x="3324" y="15160"/>
                    <a:pt x="9242" y="9242"/>
                  </a:cubicBezTo>
                  <a:cubicBezTo>
                    <a:pt x="15160" y="3324"/>
                    <a:pt x="23186" y="0"/>
                    <a:pt x="31554" y="0"/>
                  </a:cubicBezTo>
                  <a:close/>
                </a:path>
              </a:pathLst>
            </a:custGeom>
            <a:solidFill>
              <a:srgbClr val="D2D2D1"/>
            </a:solidFill>
          </p:spPr>
        </p:sp>
        <p:sp>
          <p:nvSpPr>
            <p:cNvPr name="TextBox 6" id="6"/>
            <p:cNvSpPr txBox="true"/>
            <p:nvPr/>
          </p:nvSpPr>
          <p:spPr>
            <a:xfrm>
              <a:off x="0" y="-38100"/>
              <a:ext cx="3295595" cy="619942"/>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659646" y="8119210"/>
            <a:ext cx="11609666" cy="238061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exiftool tuscany_photo.jpg</a:t>
            </a:r>
          </a:p>
          <a:p>
            <a:pPr algn="just">
              <a:lnSpc>
                <a:spcPts val="4759"/>
              </a:lnSpc>
            </a:pPr>
            <a:r>
              <a:rPr lang="en-US" sz="3399">
                <a:solidFill>
                  <a:srgbClr val="000000"/>
                </a:solidFill>
                <a:latin typeface="Canva Sans"/>
                <a:ea typeface="Canva Sans"/>
                <a:cs typeface="Canva Sans"/>
                <a:sym typeface="Canva Sans"/>
              </a:rPr>
              <a:t>exiftool -make -model tuscany_photo.jpg</a:t>
            </a:r>
          </a:p>
          <a:p>
            <a:pPr algn="just">
              <a:lnSpc>
                <a:spcPts val="4759"/>
              </a:lnSpc>
            </a:pPr>
            <a:r>
              <a:rPr lang="en-US" sz="3399">
                <a:solidFill>
                  <a:srgbClr val="000000"/>
                </a:solidFill>
                <a:latin typeface="Canva Sans"/>
                <a:ea typeface="Canva Sans"/>
                <a:cs typeface="Canva Sans"/>
                <a:sym typeface="Canva Sans"/>
              </a:rPr>
              <a:t>exiftool -gpslatitude -gpslongitude -n tuscany_photo.jpg</a:t>
            </a:r>
          </a:p>
          <a:p>
            <a:pPr algn="just">
              <a:lnSpc>
                <a:spcPts val="4759"/>
              </a:lnSpc>
            </a:pPr>
          </a:p>
        </p:txBody>
      </p:sp>
      <p:sp>
        <p:nvSpPr>
          <p:cNvPr name="TextBox 8" id="8"/>
          <p:cNvSpPr txBox="true"/>
          <p:nvPr/>
        </p:nvSpPr>
        <p:spPr>
          <a:xfrm rot="0">
            <a:off x="8961364" y="2416021"/>
            <a:ext cx="9268428" cy="452177"/>
          </a:xfrm>
          <a:prstGeom prst="rect">
            <a:avLst/>
          </a:prstGeom>
        </p:spPr>
        <p:txBody>
          <a:bodyPr anchor="t" rtlCol="false" tIns="0" lIns="0" bIns="0" rIns="0">
            <a:spAutoFit/>
          </a:bodyPr>
          <a:lstStyle/>
          <a:p>
            <a:pPr algn="just">
              <a:lnSpc>
                <a:spcPts val="3660"/>
              </a:lnSpc>
            </a:pPr>
            <a:r>
              <a:rPr lang="en-US" sz="2614">
                <a:solidFill>
                  <a:srgbClr val="000000"/>
                </a:solidFill>
                <a:latin typeface="Canva Sans"/>
                <a:ea typeface="Canva Sans"/>
                <a:cs typeface="Canva Sans"/>
                <a:sym typeface="Canva Sans"/>
              </a:rPr>
              <a:t>Go to Challenges; then Protocol_Day_3 on your codespace</a:t>
            </a:r>
          </a:p>
        </p:txBody>
      </p:sp>
      <p:sp>
        <p:nvSpPr>
          <p:cNvPr name="TextBox 9" id="9"/>
          <p:cNvSpPr txBox="true"/>
          <p:nvPr/>
        </p:nvSpPr>
        <p:spPr>
          <a:xfrm rot="0">
            <a:off x="10803176" y="4437890"/>
            <a:ext cx="5622905" cy="686170"/>
          </a:xfrm>
          <a:prstGeom prst="rect">
            <a:avLst/>
          </a:prstGeom>
        </p:spPr>
        <p:txBody>
          <a:bodyPr anchor="t" rtlCol="false" tIns="0" lIns="0" bIns="0" rIns="0">
            <a:spAutoFit/>
          </a:bodyPr>
          <a:lstStyle/>
          <a:p>
            <a:pPr algn="just">
              <a:lnSpc>
                <a:spcPts val="5651"/>
              </a:lnSpc>
            </a:pPr>
            <a:r>
              <a:rPr lang="en-US" sz="4037">
                <a:solidFill>
                  <a:srgbClr val="000000"/>
                </a:solidFill>
                <a:latin typeface="Canva Sans"/>
                <a:ea typeface="Canva Sans"/>
                <a:cs typeface="Canva Sans"/>
                <a:sym typeface="Canva Sans"/>
              </a:rPr>
              <a:t>File: tuscany_photo.jpg</a:t>
            </a:r>
          </a:p>
        </p:txBody>
      </p:sp>
    </p:spTree>
  </p:cSld>
  <p:clrMapOvr>
    <a:masterClrMapping/>
  </p:clrMapOvr>
</p:sld>
</file>

<file path=ppt/slides/slide4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93756" y="3873584"/>
            <a:ext cx="9170635" cy="3067339"/>
          </a:xfrm>
          <a:prstGeom prst="rect">
            <a:avLst/>
          </a:prstGeom>
        </p:spPr>
        <p:txBody>
          <a:bodyPr anchor="t" rtlCol="false" tIns="0" lIns="0" bIns="0" rIns="0">
            <a:spAutoFit/>
          </a:bodyPr>
          <a:lstStyle/>
          <a:p>
            <a:pPr algn="l">
              <a:lnSpc>
                <a:spcPts val="8117"/>
              </a:lnSpc>
            </a:pPr>
            <a:r>
              <a:rPr lang="en-US" sz="5798" b="true">
                <a:solidFill>
                  <a:srgbClr val="000000"/>
                </a:solidFill>
                <a:latin typeface="Canva Sans Bold"/>
                <a:ea typeface="Canva Sans Bold"/>
                <a:cs typeface="Canva Sans Bold"/>
                <a:sym typeface="Canva Sans Bold"/>
              </a:rPr>
              <a:t>1. Which camera took it?</a:t>
            </a:r>
          </a:p>
          <a:p>
            <a:pPr algn="l">
              <a:lnSpc>
                <a:spcPts val="8117"/>
              </a:lnSpc>
            </a:pPr>
          </a:p>
          <a:p>
            <a:pPr algn="l">
              <a:lnSpc>
                <a:spcPts val="8117"/>
              </a:lnSpc>
            </a:pPr>
            <a:r>
              <a:rPr lang="en-US" sz="5798" b="true">
                <a:solidFill>
                  <a:srgbClr val="000000"/>
                </a:solidFill>
                <a:latin typeface="Canva Sans Bold"/>
                <a:ea typeface="Canva Sans Bold"/>
                <a:cs typeface="Canva Sans Bold"/>
                <a:sym typeface="Canva Sans Bold"/>
              </a:rPr>
              <a:t>2. Which country is it?</a:t>
            </a:r>
          </a:p>
        </p:txBody>
      </p:sp>
      <p:sp>
        <p:nvSpPr>
          <p:cNvPr name="TextBox 3" id="3"/>
          <p:cNvSpPr txBox="true"/>
          <p:nvPr/>
        </p:nvSpPr>
        <p:spPr>
          <a:xfrm rot="0">
            <a:off x="878875" y="816316"/>
            <a:ext cx="15600396" cy="1344937"/>
          </a:xfrm>
          <a:prstGeom prst="rect">
            <a:avLst/>
          </a:prstGeom>
        </p:spPr>
        <p:txBody>
          <a:bodyPr anchor="t" rtlCol="false" tIns="0" lIns="0" bIns="0" rIns="0">
            <a:spAutoFit/>
          </a:bodyPr>
          <a:lstStyle/>
          <a:p>
            <a:pPr algn="l">
              <a:lnSpc>
                <a:spcPts val="10690"/>
              </a:lnSpc>
            </a:pPr>
            <a:r>
              <a:rPr lang="en-US" sz="8908">
                <a:solidFill>
                  <a:srgbClr val="000000"/>
                </a:solidFill>
                <a:latin typeface="Anton"/>
                <a:ea typeface="Anton"/>
                <a:cs typeface="Anton"/>
                <a:sym typeface="Anton"/>
              </a:rPr>
              <a:t>QUESTIONS</a:t>
            </a:r>
          </a:p>
        </p:txBody>
      </p:sp>
    </p:spTree>
  </p:cSld>
  <p:clrMapOvr>
    <a:masterClrMapping/>
  </p:clrMapOvr>
</p:sld>
</file>

<file path=ppt/slides/slide4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596092"/>
            <a:ext cx="5866359" cy="874740"/>
          </a:xfrm>
          <a:prstGeom prst="rect">
            <a:avLst/>
          </a:prstGeom>
        </p:spPr>
        <p:txBody>
          <a:bodyPr anchor="t" rtlCol="false" tIns="0" lIns="0" bIns="0" rIns="0">
            <a:spAutoFit/>
          </a:bodyPr>
          <a:lstStyle/>
          <a:p>
            <a:pPr algn="ctr">
              <a:lnSpc>
                <a:spcPts val="6989"/>
              </a:lnSpc>
              <a:spcBef>
                <a:spcPct val="0"/>
              </a:spcBef>
            </a:pPr>
            <a:r>
              <a:rPr lang="en-US" sz="5824">
                <a:solidFill>
                  <a:srgbClr val="000000"/>
                </a:solidFill>
                <a:latin typeface="Anton"/>
                <a:ea typeface="Anton"/>
                <a:cs typeface="Anton"/>
                <a:sym typeface="Anton"/>
              </a:rPr>
              <a:t>IMAGE FORENSICS</a:t>
            </a:r>
          </a:p>
        </p:txBody>
      </p:sp>
      <p:sp>
        <p:nvSpPr>
          <p:cNvPr name="TextBox 3" id="3"/>
          <p:cNvSpPr txBox="true"/>
          <p:nvPr/>
        </p:nvSpPr>
        <p:spPr>
          <a:xfrm rot="0">
            <a:off x="9139238" y="1028700"/>
            <a:ext cx="9525" cy="1162050"/>
          </a:xfrm>
          <a:prstGeom prst="rect">
            <a:avLst/>
          </a:prstGeom>
        </p:spPr>
        <p:txBody>
          <a:bodyPr anchor="t" rtlCol="false" tIns="0" lIns="0" bIns="0" rIns="0">
            <a:spAutoFit/>
          </a:bodyPr>
          <a:lstStyle/>
          <a:p>
            <a:pPr algn="ctr">
              <a:lnSpc>
                <a:spcPts val="9160"/>
              </a:lnSpc>
              <a:spcBef>
                <a:spcPct val="0"/>
              </a:spcBef>
            </a:pPr>
          </a:p>
        </p:txBody>
      </p:sp>
      <p:sp>
        <p:nvSpPr>
          <p:cNvPr name="TextBox 4" id="4"/>
          <p:cNvSpPr txBox="true"/>
          <p:nvPr/>
        </p:nvSpPr>
        <p:spPr>
          <a:xfrm rot="0">
            <a:off x="498727" y="1886585"/>
            <a:ext cx="16629847" cy="8400415"/>
          </a:xfrm>
          <a:prstGeom prst="rect">
            <a:avLst/>
          </a:prstGeom>
        </p:spPr>
        <p:txBody>
          <a:bodyPr anchor="t" rtlCol="false" tIns="0" lIns="0" bIns="0" rIns="0">
            <a:spAutoFit/>
          </a:bodyPr>
          <a:lstStyle/>
          <a:p>
            <a:pPr algn="l">
              <a:lnSpc>
                <a:spcPts val="4449"/>
              </a:lnSpc>
            </a:pPr>
            <a:r>
              <a:rPr lang="en-US" sz="3178" b="true">
                <a:solidFill>
                  <a:srgbClr val="000000"/>
                </a:solidFill>
                <a:latin typeface="Canva Sans Bold"/>
                <a:ea typeface="Canva Sans Bold"/>
                <a:cs typeface="Canva Sans Bold"/>
                <a:sym typeface="Canva Sans Bold"/>
              </a:rPr>
              <a:t>What to check:</a:t>
            </a:r>
          </a:p>
          <a:p>
            <a:pPr algn="l">
              <a:lnSpc>
                <a:spcPts val="4449"/>
              </a:lnSpc>
            </a:pPr>
            <a:r>
              <a:rPr lang="en-US" sz="3178">
                <a:solidFill>
                  <a:srgbClr val="000000"/>
                </a:solidFill>
                <a:latin typeface="Canva Sans"/>
                <a:ea typeface="Canva Sans"/>
                <a:cs typeface="Canva Sans"/>
                <a:sym typeface="Canva Sans"/>
              </a:rPr>
              <a:t>1.  </a:t>
            </a:r>
            <a:r>
              <a:rPr lang="en-US" sz="3178" b="true">
                <a:solidFill>
                  <a:srgbClr val="000000"/>
                </a:solidFill>
                <a:latin typeface="Canva Sans Bold"/>
                <a:ea typeface="Canva Sans Bold"/>
                <a:cs typeface="Canva Sans Bold"/>
                <a:sym typeface="Canva Sans Bold"/>
              </a:rPr>
              <a:t>Metadata</a:t>
            </a:r>
            <a:r>
              <a:rPr lang="en-US" sz="3178">
                <a:solidFill>
                  <a:srgbClr val="000000"/>
                </a:solidFill>
                <a:latin typeface="Canva Sans"/>
                <a:ea typeface="Canva Sans"/>
                <a:cs typeface="Canva Sans"/>
                <a:sym typeface="Canva Sans"/>
              </a:rPr>
              <a:t>: date, device, GPS and Software field. Missing metadata can also be a clue (it was removed or the image was re-saved)</a:t>
            </a:r>
          </a:p>
          <a:p>
            <a:pPr algn="l">
              <a:lnSpc>
                <a:spcPts val="4449"/>
              </a:lnSpc>
            </a:pPr>
            <a:r>
              <a:rPr lang="en-US" sz="3178">
                <a:solidFill>
                  <a:srgbClr val="000000"/>
                </a:solidFill>
                <a:latin typeface="Canva Sans"/>
                <a:ea typeface="Canva Sans"/>
                <a:cs typeface="Canva Sans"/>
                <a:sym typeface="Canva Sans"/>
              </a:rPr>
              <a:t>2.  </a:t>
            </a:r>
            <a:r>
              <a:rPr lang="en-US" sz="3178" b="true">
                <a:solidFill>
                  <a:srgbClr val="000000"/>
                </a:solidFill>
                <a:latin typeface="Canva Sans Bold"/>
                <a:ea typeface="Canva Sans Bold"/>
                <a:cs typeface="Canva Sans Bold"/>
                <a:sym typeface="Canva Sans Bold"/>
              </a:rPr>
              <a:t>Thumbnail mismatch</a:t>
            </a:r>
            <a:r>
              <a:rPr lang="en-US" sz="3178">
                <a:solidFill>
                  <a:srgbClr val="000000"/>
                </a:solidFill>
                <a:latin typeface="Canva Sans"/>
                <a:ea typeface="Canva Sans"/>
                <a:cs typeface="Canva Sans"/>
                <a:sym typeface="Canva Sans"/>
              </a:rPr>
              <a:t>: the hidden thumbnail inside the photo may still show the original image before it was edited</a:t>
            </a:r>
          </a:p>
          <a:p>
            <a:pPr algn="l">
              <a:lnSpc>
                <a:spcPts val="4449"/>
              </a:lnSpc>
            </a:pPr>
            <a:r>
              <a:rPr lang="en-US" sz="3178">
                <a:solidFill>
                  <a:srgbClr val="000000"/>
                </a:solidFill>
                <a:latin typeface="Canva Sans"/>
                <a:ea typeface="Canva Sans"/>
                <a:cs typeface="Canva Sans"/>
                <a:sym typeface="Canva Sans"/>
              </a:rPr>
              <a:t>3. </a:t>
            </a:r>
            <a:r>
              <a:rPr lang="en-US" sz="3178" b="true">
                <a:solidFill>
                  <a:srgbClr val="000000"/>
                </a:solidFill>
                <a:latin typeface="Canva Sans Bold"/>
                <a:ea typeface="Canva Sans Bold"/>
                <a:cs typeface="Canva Sans Bold"/>
                <a:sym typeface="Canva Sans Bold"/>
              </a:rPr>
              <a:t> Error Level Analysis (ELA)</a:t>
            </a:r>
            <a:r>
              <a:rPr lang="en-US" sz="3178">
                <a:solidFill>
                  <a:srgbClr val="000000"/>
                </a:solidFill>
                <a:latin typeface="Canva Sans"/>
                <a:ea typeface="Canva Sans"/>
                <a:cs typeface="Canva Sans"/>
                <a:sym typeface="Canva Sans"/>
              </a:rPr>
              <a:t>: re-saves the image and shows which parts compress differently. Pasted or edited areas often glow brighter than the rest</a:t>
            </a:r>
          </a:p>
          <a:p>
            <a:pPr algn="l">
              <a:lnSpc>
                <a:spcPts val="4449"/>
              </a:lnSpc>
            </a:pPr>
            <a:r>
              <a:rPr lang="en-US" sz="3178">
                <a:solidFill>
                  <a:srgbClr val="000000"/>
                </a:solidFill>
                <a:latin typeface="Canva Sans"/>
                <a:ea typeface="Canva Sans"/>
                <a:cs typeface="Canva Sans"/>
                <a:sym typeface="Canva Sans"/>
              </a:rPr>
              <a:t>4. </a:t>
            </a:r>
            <a:r>
              <a:rPr lang="en-US" sz="3178" b="true">
                <a:solidFill>
                  <a:srgbClr val="000000"/>
                </a:solidFill>
                <a:latin typeface="Canva Sans Bold"/>
                <a:ea typeface="Canva Sans Bold"/>
                <a:cs typeface="Canva Sans Bold"/>
                <a:sym typeface="Canva Sans Bold"/>
              </a:rPr>
              <a:t> Clone detection</a:t>
            </a:r>
            <a:r>
              <a:rPr lang="en-US" sz="3178">
                <a:solidFill>
                  <a:srgbClr val="000000"/>
                </a:solidFill>
                <a:latin typeface="Canva Sans"/>
                <a:ea typeface="Canva Sans"/>
                <a:cs typeface="Canva Sans"/>
                <a:sym typeface="Canva Sans"/>
              </a:rPr>
              <a:t>: finds parts of the image that were copied and pasted (e.g. extra smoke or crowds)</a:t>
            </a:r>
          </a:p>
          <a:p>
            <a:pPr algn="l">
              <a:lnSpc>
                <a:spcPts val="4449"/>
              </a:lnSpc>
            </a:pPr>
            <a:r>
              <a:rPr lang="en-US" sz="3178">
                <a:solidFill>
                  <a:srgbClr val="000000"/>
                </a:solidFill>
                <a:latin typeface="Canva Sans"/>
                <a:ea typeface="Canva Sans"/>
                <a:cs typeface="Canva Sans"/>
                <a:sym typeface="Canva Sans"/>
              </a:rPr>
              <a:t>5. </a:t>
            </a:r>
            <a:r>
              <a:rPr lang="en-US" sz="3178" b="true">
                <a:solidFill>
                  <a:srgbClr val="000000"/>
                </a:solidFill>
                <a:latin typeface="Canva Sans Bold"/>
                <a:ea typeface="Canva Sans Bold"/>
                <a:cs typeface="Canva Sans Bold"/>
                <a:sym typeface="Canva Sans Bold"/>
              </a:rPr>
              <a:t> Light and shadows</a:t>
            </a:r>
            <a:r>
              <a:rPr lang="en-US" sz="3178">
                <a:solidFill>
                  <a:srgbClr val="000000"/>
                </a:solidFill>
                <a:latin typeface="Canva Sans"/>
                <a:ea typeface="Canva Sans"/>
                <a:cs typeface="Canva Sans"/>
                <a:sym typeface="Canva Sans"/>
              </a:rPr>
              <a:t>: shadows pointing in different directions mean objects were added</a:t>
            </a:r>
          </a:p>
          <a:p>
            <a:pPr algn="l">
              <a:lnSpc>
                <a:spcPts val="4449"/>
              </a:lnSpc>
            </a:pPr>
            <a:r>
              <a:rPr lang="en-US" sz="3178">
                <a:solidFill>
                  <a:srgbClr val="000000"/>
                </a:solidFill>
                <a:latin typeface="Canva Sans"/>
                <a:ea typeface="Canva Sans"/>
                <a:cs typeface="Canva Sans"/>
                <a:sym typeface="Canva Sans"/>
              </a:rPr>
              <a:t>6.  </a:t>
            </a:r>
            <a:r>
              <a:rPr lang="en-US" sz="3178" b="true">
                <a:solidFill>
                  <a:srgbClr val="000000"/>
                </a:solidFill>
                <a:latin typeface="Canva Sans Bold"/>
                <a:ea typeface="Canva Sans Bold"/>
                <a:cs typeface="Canva Sans Bold"/>
                <a:sym typeface="Canva Sans Bold"/>
              </a:rPr>
              <a:t>Reverse image search</a:t>
            </a:r>
            <a:r>
              <a:rPr lang="en-US" sz="3178">
                <a:solidFill>
                  <a:srgbClr val="000000"/>
                </a:solidFill>
                <a:latin typeface="Canva Sans"/>
                <a:ea typeface="Canva Sans"/>
                <a:cs typeface="Canva Sans"/>
                <a:sym typeface="Canva Sans"/>
              </a:rPr>
              <a:t>: find the original, unedited version online</a:t>
            </a:r>
          </a:p>
          <a:p>
            <a:pPr algn="l">
              <a:lnSpc>
                <a:spcPts val="4449"/>
              </a:lnSpc>
            </a:pPr>
            <a:r>
              <a:rPr lang="en-US" sz="3178">
                <a:solidFill>
                  <a:srgbClr val="000000"/>
                </a:solidFill>
                <a:latin typeface="Canva Sans"/>
                <a:ea typeface="Canva Sans"/>
                <a:cs typeface="Canva Sans"/>
                <a:sym typeface="Canva Sans"/>
              </a:rPr>
              <a:t>7.  </a:t>
            </a:r>
            <a:r>
              <a:rPr lang="en-US" sz="3178" b="true">
                <a:solidFill>
                  <a:srgbClr val="000000"/>
                </a:solidFill>
                <a:latin typeface="Canva Sans Bold"/>
                <a:ea typeface="Canva Sans Bold"/>
                <a:cs typeface="Canva Sans Bold"/>
                <a:sym typeface="Canva Sans Bold"/>
              </a:rPr>
              <a:t>Hidden data</a:t>
            </a:r>
            <a:r>
              <a:rPr lang="en-US" sz="3178">
                <a:solidFill>
                  <a:srgbClr val="000000"/>
                </a:solidFill>
                <a:latin typeface="Canva Sans"/>
                <a:ea typeface="Canva Sans"/>
                <a:cs typeface="Canva Sans"/>
                <a:sym typeface="Canva Sans"/>
              </a:rPr>
              <a:t>: files hidden inside the image (binwalk) or secret messages (steganography tools like steghide)</a:t>
            </a:r>
          </a:p>
          <a:p>
            <a:pPr algn="l">
              <a:lnSpc>
                <a:spcPts val="4449"/>
              </a:lnSpc>
            </a:pPr>
          </a:p>
        </p:txBody>
      </p:sp>
      <p:sp>
        <p:nvSpPr>
          <p:cNvPr name="TextBox 5" id="5"/>
          <p:cNvSpPr txBox="true"/>
          <p:nvPr/>
        </p:nvSpPr>
        <p:spPr>
          <a:xfrm rot="0">
            <a:off x="6081156" y="226154"/>
            <a:ext cx="11178144" cy="1727106"/>
          </a:xfrm>
          <a:prstGeom prst="rect">
            <a:avLst/>
          </a:prstGeom>
        </p:spPr>
        <p:txBody>
          <a:bodyPr anchor="t" rtlCol="false" tIns="0" lIns="0" bIns="0" rIns="0">
            <a:spAutoFit/>
          </a:bodyPr>
          <a:lstStyle/>
          <a:p>
            <a:pPr algn="ctr">
              <a:lnSpc>
                <a:spcPts val="4611"/>
              </a:lnSpc>
            </a:pPr>
            <a:r>
              <a:rPr lang="en-US" sz="3293">
                <a:solidFill>
                  <a:srgbClr val="000000"/>
                </a:solidFill>
                <a:latin typeface="Canva Sans"/>
                <a:ea typeface="Canva Sans"/>
                <a:cs typeface="Canva Sans"/>
                <a:sym typeface="Canva Sans"/>
              </a:rPr>
              <a:t>Image forensics means checking if a photo is real, edited or fake, and finding hidden information inside it.</a:t>
            </a:r>
          </a:p>
          <a:p>
            <a:pPr algn="ctr">
              <a:lnSpc>
                <a:spcPts val="4611"/>
              </a:lnSpc>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733" y="1205381"/>
            <a:ext cx="17973008" cy="10109817"/>
          </a:xfrm>
          <a:custGeom>
            <a:avLst/>
            <a:gdLst/>
            <a:ahLst/>
            <a:cxnLst/>
            <a:rect r="r" b="b" t="t" l="l"/>
            <a:pathLst>
              <a:path h="10109817" w="17973008">
                <a:moveTo>
                  <a:pt x="0" y="0"/>
                </a:moveTo>
                <a:lnTo>
                  <a:pt x="17973009" y="0"/>
                </a:lnTo>
                <a:lnTo>
                  <a:pt x="17973009" y="10109817"/>
                </a:lnTo>
                <a:lnTo>
                  <a:pt x="0" y="10109817"/>
                </a:lnTo>
                <a:lnTo>
                  <a:pt x="0" y="0"/>
                </a:lnTo>
                <a:close/>
              </a:path>
            </a:pathLst>
          </a:custGeom>
          <a:blipFill>
            <a:blip r:embed="rId2"/>
            <a:stretch>
              <a:fillRect l="0" t="0" r="0" b="0"/>
            </a:stretch>
          </a:blipFill>
        </p:spPr>
      </p:sp>
      <p:sp>
        <p:nvSpPr>
          <p:cNvPr name="Freeform 3" id="3"/>
          <p:cNvSpPr/>
          <p:nvPr/>
        </p:nvSpPr>
        <p:spPr>
          <a:xfrm flipH="false" flipV="false" rot="0">
            <a:off x="14752290" y="174153"/>
            <a:ext cx="1786479" cy="1896840"/>
          </a:xfrm>
          <a:custGeom>
            <a:avLst/>
            <a:gdLst/>
            <a:ahLst/>
            <a:cxnLst/>
            <a:rect r="r" b="b" t="t" l="l"/>
            <a:pathLst>
              <a:path h="1896840" w="1786479">
                <a:moveTo>
                  <a:pt x="0" y="0"/>
                </a:moveTo>
                <a:lnTo>
                  <a:pt x="1786479" y="0"/>
                </a:lnTo>
                <a:lnTo>
                  <a:pt x="1786479" y="1896840"/>
                </a:lnTo>
                <a:lnTo>
                  <a:pt x="0" y="18968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408832" y="174153"/>
            <a:ext cx="2028561" cy="1714134"/>
          </a:xfrm>
          <a:custGeom>
            <a:avLst/>
            <a:gdLst/>
            <a:ahLst/>
            <a:cxnLst/>
            <a:rect r="r" b="b" t="t" l="l"/>
            <a:pathLst>
              <a:path h="1714134" w="2028561">
                <a:moveTo>
                  <a:pt x="0" y="0"/>
                </a:moveTo>
                <a:lnTo>
                  <a:pt x="2028561" y="0"/>
                </a:lnTo>
                <a:lnTo>
                  <a:pt x="2028561" y="1714134"/>
                </a:lnTo>
                <a:lnTo>
                  <a:pt x="0" y="1714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678516" y="450786"/>
            <a:ext cx="6286021" cy="1158939"/>
          </a:xfrm>
          <a:prstGeom prst="rect">
            <a:avLst/>
          </a:prstGeom>
        </p:spPr>
        <p:txBody>
          <a:bodyPr anchor="t" rtlCol="false" tIns="0" lIns="0" bIns="0" rIns="0">
            <a:spAutoFit/>
          </a:bodyPr>
          <a:lstStyle/>
          <a:p>
            <a:pPr algn="ctr">
              <a:lnSpc>
                <a:spcPts val="9160"/>
              </a:lnSpc>
              <a:spcBef>
                <a:spcPct val="0"/>
              </a:spcBef>
            </a:pPr>
            <a:r>
              <a:rPr lang="en-US" sz="7633">
                <a:solidFill>
                  <a:srgbClr val="000000"/>
                </a:solidFill>
                <a:latin typeface="Anton"/>
                <a:ea typeface="Anton"/>
                <a:cs typeface="Anton"/>
                <a:sym typeface="Anton"/>
              </a:rPr>
              <a:t>IMAGE FORENSICS</a:t>
            </a:r>
          </a:p>
        </p:txBody>
      </p:sp>
      <p:sp>
        <p:nvSpPr>
          <p:cNvPr name="TextBox 6" id="6"/>
          <p:cNvSpPr txBox="true"/>
          <p:nvPr/>
        </p:nvSpPr>
        <p:spPr>
          <a:xfrm rot="0">
            <a:off x="9139238" y="1028700"/>
            <a:ext cx="9525" cy="1162050"/>
          </a:xfrm>
          <a:prstGeom prst="rect">
            <a:avLst/>
          </a:prstGeom>
        </p:spPr>
        <p:txBody>
          <a:bodyPr anchor="t" rtlCol="false" tIns="0" lIns="0" bIns="0" rIns="0">
            <a:spAutoFit/>
          </a:bodyPr>
          <a:lstStyle/>
          <a:p>
            <a:pPr algn="ctr">
              <a:lnSpc>
                <a:spcPts val="9160"/>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96496" y="5539423"/>
            <a:ext cx="11804684" cy="3811243"/>
            <a:chOff x="0" y="0"/>
            <a:chExt cx="3109053" cy="1003784"/>
          </a:xfrm>
        </p:grpSpPr>
        <p:sp>
          <p:nvSpPr>
            <p:cNvPr name="Freeform 3" id="3"/>
            <p:cNvSpPr/>
            <p:nvPr/>
          </p:nvSpPr>
          <p:spPr>
            <a:xfrm flipH="false" flipV="false" rot="0">
              <a:off x="0" y="0"/>
              <a:ext cx="3109053" cy="1003784"/>
            </a:xfrm>
            <a:custGeom>
              <a:avLst/>
              <a:gdLst/>
              <a:ahLst/>
              <a:cxnLst/>
              <a:rect r="r" b="b" t="t" l="l"/>
              <a:pathLst>
                <a:path h="1003784" w="3109053">
                  <a:moveTo>
                    <a:pt x="33448" y="0"/>
                  </a:moveTo>
                  <a:lnTo>
                    <a:pt x="3075605" y="0"/>
                  </a:lnTo>
                  <a:cubicBezTo>
                    <a:pt x="3084476" y="0"/>
                    <a:pt x="3092983" y="3524"/>
                    <a:pt x="3099256" y="9797"/>
                  </a:cubicBezTo>
                  <a:cubicBezTo>
                    <a:pt x="3105529" y="16069"/>
                    <a:pt x="3109053" y="24577"/>
                    <a:pt x="3109053" y="33448"/>
                  </a:cubicBezTo>
                  <a:lnTo>
                    <a:pt x="3109053" y="970337"/>
                  </a:lnTo>
                  <a:cubicBezTo>
                    <a:pt x="3109053" y="979208"/>
                    <a:pt x="3105529" y="987715"/>
                    <a:pt x="3099256" y="993988"/>
                  </a:cubicBezTo>
                  <a:cubicBezTo>
                    <a:pt x="3092983" y="1000260"/>
                    <a:pt x="3084476" y="1003784"/>
                    <a:pt x="3075605" y="1003784"/>
                  </a:cubicBezTo>
                  <a:lnTo>
                    <a:pt x="33448" y="1003784"/>
                  </a:lnTo>
                  <a:cubicBezTo>
                    <a:pt x="24577" y="1003784"/>
                    <a:pt x="16069" y="1000260"/>
                    <a:pt x="9797" y="993988"/>
                  </a:cubicBezTo>
                  <a:cubicBezTo>
                    <a:pt x="3524" y="987715"/>
                    <a:pt x="0" y="979208"/>
                    <a:pt x="0" y="970337"/>
                  </a:cubicBezTo>
                  <a:lnTo>
                    <a:pt x="0" y="33448"/>
                  </a:lnTo>
                  <a:cubicBezTo>
                    <a:pt x="0" y="24577"/>
                    <a:pt x="3524" y="16069"/>
                    <a:pt x="9797" y="9797"/>
                  </a:cubicBezTo>
                  <a:cubicBezTo>
                    <a:pt x="16069" y="3524"/>
                    <a:pt x="24577" y="0"/>
                    <a:pt x="33448" y="0"/>
                  </a:cubicBezTo>
                  <a:close/>
                </a:path>
              </a:pathLst>
            </a:custGeom>
            <a:solidFill>
              <a:srgbClr val="D2D2D1"/>
            </a:solidFill>
          </p:spPr>
        </p:sp>
        <p:sp>
          <p:nvSpPr>
            <p:cNvPr name="TextBox 4" id="4"/>
            <p:cNvSpPr txBox="true"/>
            <p:nvPr/>
          </p:nvSpPr>
          <p:spPr>
            <a:xfrm>
              <a:off x="0" y="-38100"/>
              <a:ext cx="3109053" cy="1041884"/>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52957" y="449230"/>
            <a:ext cx="12688357" cy="1158939"/>
          </a:xfrm>
          <a:prstGeom prst="rect">
            <a:avLst/>
          </a:prstGeom>
        </p:spPr>
        <p:txBody>
          <a:bodyPr anchor="t" rtlCol="false" tIns="0" lIns="0" bIns="0" rIns="0">
            <a:spAutoFit/>
          </a:bodyPr>
          <a:lstStyle/>
          <a:p>
            <a:pPr algn="ctr">
              <a:lnSpc>
                <a:spcPts val="9160"/>
              </a:lnSpc>
              <a:spcBef>
                <a:spcPct val="0"/>
              </a:spcBef>
            </a:pPr>
            <a:r>
              <a:rPr lang="en-US" sz="7633">
                <a:solidFill>
                  <a:srgbClr val="000000"/>
                </a:solidFill>
                <a:latin typeface="Anton"/>
                <a:ea typeface="Anton"/>
                <a:cs typeface="Anton"/>
                <a:sym typeface="Anton"/>
              </a:rPr>
              <a:t>LEVEL 2: SOMETH</a:t>
            </a:r>
            <a:r>
              <a:rPr lang="en-US" sz="7633">
                <a:solidFill>
                  <a:srgbClr val="000000"/>
                </a:solidFill>
                <a:latin typeface="Anton"/>
                <a:ea typeface="Anton"/>
                <a:cs typeface="Anton"/>
                <a:sym typeface="Anton"/>
              </a:rPr>
              <a:t>ING IS HIDDEN.</a:t>
            </a:r>
          </a:p>
        </p:txBody>
      </p:sp>
      <p:sp>
        <p:nvSpPr>
          <p:cNvPr name="TextBox 6" id="6"/>
          <p:cNvSpPr txBox="true"/>
          <p:nvPr/>
        </p:nvSpPr>
        <p:spPr>
          <a:xfrm rot="0">
            <a:off x="2140761" y="5048250"/>
            <a:ext cx="9525" cy="887095"/>
          </a:xfrm>
          <a:prstGeom prst="rect">
            <a:avLst/>
          </a:prstGeom>
        </p:spPr>
        <p:txBody>
          <a:bodyPr anchor="t" rtlCol="false" tIns="0" lIns="0" bIns="0" rIns="0">
            <a:spAutoFit/>
          </a:bodyPr>
          <a:lstStyle/>
          <a:p>
            <a:pPr algn="ctr">
              <a:lnSpc>
                <a:spcPts val="7279"/>
              </a:lnSpc>
            </a:pPr>
          </a:p>
        </p:txBody>
      </p:sp>
      <p:sp>
        <p:nvSpPr>
          <p:cNvPr name="TextBox 7" id="7"/>
          <p:cNvSpPr txBox="true"/>
          <p:nvPr/>
        </p:nvSpPr>
        <p:spPr>
          <a:xfrm rot="0">
            <a:off x="4555102" y="5849620"/>
            <a:ext cx="10819140" cy="3110314"/>
          </a:xfrm>
          <a:prstGeom prst="rect">
            <a:avLst/>
          </a:prstGeom>
        </p:spPr>
        <p:txBody>
          <a:bodyPr anchor="t" rtlCol="false" tIns="0" lIns="0" bIns="0" rIns="0">
            <a:spAutoFit/>
          </a:bodyPr>
          <a:lstStyle/>
          <a:p>
            <a:pPr algn="ctr">
              <a:lnSpc>
                <a:spcPts val="6221"/>
              </a:lnSpc>
            </a:pPr>
            <a:r>
              <a:rPr lang="en-US" sz="4444">
                <a:solidFill>
                  <a:srgbClr val="000000"/>
                </a:solidFill>
                <a:latin typeface="Canva Sans"/>
                <a:ea typeface="Canva Sans"/>
                <a:cs typeface="Canva Sans"/>
                <a:sym typeface="Canva Sans"/>
              </a:rPr>
              <a:t>exiftool hidden_photo.jpg</a:t>
            </a:r>
          </a:p>
          <a:p>
            <a:pPr algn="ctr">
              <a:lnSpc>
                <a:spcPts val="6221"/>
              </a:lnSpc>
            </a:pPr>
            <a:r>
              <a:rPr lang="en-US" sz="4444">
                <a:solidFill>
                  <a:srgbClr val="000000"/>
                </a:solidFill>
                <a:latin typeface="Canva Sans"/>
                <a:ea typeface="Canva Sans"/>
                <a:cs typeface="Canva Sans"/>
                <a:sym typeface="Canva Sans"/>
              </a:rPr>
              <a:t>binwalk hidden_photo.jpg</a:t>
            </a:r>
          </a:p>
          <a:p>
            <a:pPr algn="ctr">
              <a:lnSpc>
                <a:spcPts val="6221"/>
              </a:lnSpc>
            </a:pPr>
            <a:r>
              <a:rPr lang="en-US" sz="4444">
                <a:solidFill>
                  <a:srgbClr val="000000"/>
                </a:solidFill>
                <a:latin typeface="Canva Sans"/>
                <a:ea typeface="Canva Sans"/>
                <a:cs typeface="Canva Sans"/>
                <a:sym typeface="Canva Sans"/>
              </a:rPr>
              <a:t>binwalk -e hidden_photo.jpg</a:t>
            </a:r>
          </a:p>
          <a:p>
            <a:pPr algn="ctr">
              <a:lnSpc>
                <a:spcPts val="6221"/>
              </a:lnSpc>
            </a:pPr>
            <a:r>
              <a:rPr lang="en-US" sz="4444">
                <a:solidFill>
                  <a:srgbClr val="000000"/>
                </a:solidFill>
                <a:latin typeface="Canva Sans"/>
                <a:ea typeface="Canva Sans"/>
                <a:cs typeface="Canva Sans"/>
                <a:sym typeface="Canva Sans"/>
              </a:rPr>
              <a:t>cat _hidden_photo.jpg.extracted/flag.txt</a:t>
            </a:r>
          </a:p>
        </p:txBody>
      </p:sp>
      <p:sp>
        <p:nvSpPr>
          <p:cNvPr name="TextBox 8" id="8"/>
          <p:cNvSpPr txBox="true"/>
          <p:nvPr/>
        </p:nvSpPr>
        <p:spPr>
          <a:xfrm rot="0">
            <a:off x="2106076" y="2054402"/>
            <a:ext cx="15717192"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GO TO YOUR CODESPACE CHALLENGES AND THEN TO Protocol_Day_3</a:t>
            </a:r>
          </a:p>
        </p:txBody>
      </p:sp>
      <p:sp>
        <p:nvSpPr>
          <p:cNvPr name="TextBox 9" id="9"/>
          <p:cNvSpPr txBox="true"/>
          <p:nvPr/>
        </p:nvSpPr>
        <p:spPr>
          <a:xfrm rot="0">
            <a:off x="5146980" y="3305726"/>
            <a:ext cx="8333118" cy="1486564"/>
          </a:xfrm>
          <a:prstGeom prst="rect">
            <a:avLst/>
          </a:prstGeom>
        </p:spPr>
        <p:txBody>
          <a:bodyPr anchor="t" rtlCol="false" tIns="0" lIns="0" bIns="0" rIns="0">
            <a:spAutoFit/>
          </a:bodyPr>
          <a:lstStyle/>
          <a:p>
            <a:pPr algn="ctr">
              <a:lnSpc>
                <a:spcPts val="6027"/>
              </a:lnSpc>
            </a:pPr>
            <a:r>
              <a:rPr lang="en-US" sz="4305">
                <a:solidFill>
                  <a:srgbClr val="000000"/>
                </a:solidFill>
                <a:latin typeface="Canva Sans"/>
                <a:ea typeface="Canva Sans"/>
                <a:cs typeface="Canva Sans"/>
                <a:sym typeface="Canva Sans"/>
              </a:rPr>
              <a:t>File: hidden_photo.jpg</a:t>
            </a:r>
          </a:p>
          <a:p>
            <a:pPr algn="ctr">
              <a:lnSpc>
                <a:spcPts val="6027"/>
              </a:lnSpc>
            </a:pPr>
          </a:p>
        </p:txBody>
      </p:sp>
      <p:sp>
        <p:nvSpPr>
          <p:cNvPr name="TextBox 10" id="10"/>
          <p:cNvSpPr txBox="true"/>
          <p:nvPr/>
        </p:nvSpPr>
        <p:spPr>
          <a:xfrm rot="0">
            <a:off x="2359480" y="4754880"/>
            <a:ext cx="6784520" cy="1180465"/>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COMMANDS:</a:t>
            </a:r>
          </a:p>
          <a:p>
            <a:pPr algn="ctr">
              <a:lnSpc>
                <a:spcPts val="4759"/>
              </a:lnSpc>
            </a:pPr>
          </a:p>
        </p:txBody>
      </p:sp>
    </p:spTree>
  </p:cSld>
  <p:clrMapOvr>
    <a:masterClrMapping/>
  </p:clrMapOvr>
</p:sld>
</file>

<file path=ppt/slides/slide4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39238" y="3400425"/>
            <a:ext cx="9525" cy="1162050"/>
          </a:xfrm>
          <a:prstGeom prst="rect">
            <a:avLst/>
          </a:prstGeom>
        </p:spPr>
        <p:txBody>
          <a:bodyPr anchor="t" rtlCol="false" tIns="0" lIns="0" bIns="0" rIns="0">
            <a:spAutoFit/>
          </a:bodyPr>
          <a:lstStyle/>
          <a:p>
            <a:pPr algn="ctr">
              <a:lnSpc>
                <a:spcPts val="9160"/>
              </a:lnSpc>
              <a:spcBef>
                <a:spcPct val="0"/>
              </a:spcBef>
            </a:pPr>
          </a:p>
        </p:txBody>
      </p:sp>
      <p:sp>
        <p:nvSpPr>
          <p:cNvPr name="TextBox 3" id="3"/>
          <p:cNvSpPr txBox="true"/>
          <p:nvPr/>
        </p:nvSpPr>
        <p:spPr>
          <a:xfrm rot="0">
            <a:off x="2879959" y="3872901"/>
            <a:ext cx="11955849" cy="2445948"/>
          </a:xfrm>
          <a:prstGeom prst="rect">
            <a:avLst/>
          </a:prstGeom>
        </p:spPr>
        <p:txBody>
          <a:bodyPr anchor="t" rtlCol="false" tIns="0" lIns="0" bIns="0" rIns="0">
            <a:spAutoFit/>
          </a:bodyPr>
          <a:lstStyle/>
          <a:p>
            <a:pPr algn="ctr">
              <a:lnSpc>
                <a:spcPts val="6528"/>
              </a:lnSpc>
            </a:pPr>
            <a:r>
              <a:rPr lang="en-US" sz="4663" b="true">
                <a:solidFill>
                  <a:srgbClr val="000000"/>
                </a:solidFill>
                <a:latin typeface="Canva Sans Bold"/>
                <a:ea typeface="Canva Sans Bold"/>
                <a:cs typeface="Canva Sans Bold"/>
                <a:sym typeface="Canva Sans Bold"/>
              </a:rPr>
              <a:t>1.</a:t>
            </a:r>
            <a:r>
              <a:rPr lang="en-US" b="true" sz="4663">
                <a:solidFill>
                  <a:srgbClr val="000000"/>
                </a:solidFill>
                <a:latin typeface="Canva Sans Bold"/>
                <a:ea typeface="Canva Sans Bold"/>
                <a:cs typeface="Canva Sans Bold"/>
                <a:sym typeface="Canva Sans Bold"/>
              </a:rPr>
              <a:t> What does binwalk find after the JPEG?</a:t>
            </a:r>
          </a:p>
          <a:p>
            <a:pPr algn="ctr">
              <a:lnSpc>
                <a:spcPts val="6528"/>
              </a:lnSpc>
            </a:pPr>
          </a:p>
          <a:p>
            <a:pPr algn="ctr">
              <a:lnSpc>
                <a:spcPts val="6528"/>
              </a:lnSpc>
            </a:pPr>
            <a:r>
              <a:rPr lang="en-US" b="true" sz="4663">
                <a:solidFill>
                  <a:srgbClr val="000000"/>
                </a:solidFill>
                <a:latin typeface="Canva Sans Bold"/>
                <a:ea typeface="Canva Sans Bold"/>
                <a:cs typeface="Canva Sans Bold"/>
                <a:sym typeface="Canva Sans Bold"/>
              </a:rPr>
              <a:t>2. What is the flag?</a:t>
            </a:r>
          </a:p>
        </p:txBody>
      </p:sp>
      <p:sp>
        <p:nvSpPr>
          <p:cNvPr name="TextBox 4" id="4"/>
          <p:cNvSpPr txBox="true"/>
          <p:nvPr/>
        </p:nvSpPr>
        <p:spPr>
          <a:xfrm rot="0">
            <a:off x="878875" y="816316"/>
            <a:ext cx="15600396" cy="1344937"/>
          </a:xfrm>
          <a:prstGeom prst="rect">
            <a:avLst/>
          </a:prstGeom>
        </p:spPr>
        <p:txBody>
          <a:bodyPr anchor="t" rtlCol="false" tIns="0" lIns="0" bIns="0" rIns="0">
            <a:spAutoFit/>
          </a:bodyPr>
          <a:lstStyle/>
          <a:p>
            <a:pPr algn="l">
              <a:lnSpc>
                <a:spcPts val="10690"/>
              </a:lnSpc>
            </a:pPr>
            <a:r>
              <a:rPr lang="en-US" sz="8908">
                <a:solidFill>
                  <a:srgbClr val="000000"/>
                </a:solidFill>
                <a:latin typeface="Anton"/>
                <a:ea typeface="Anton"/>
                <a:cs typeface="Anton"/>
                <a:sym typeface="Anton"/>
              </a:rPr>
              <a:t>QUESTIONS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24883" y="254694"/>
            <a:ext cx="1742836" cy="1551124"/>
          </a:xfrm>
          <a:custGeom>
            <a:avLst/>
            <a:gdLst/>
            <a:ahLst/>
            <a:cxnLst/>
            <a:rect r="r" b="b" t="t" l="l"/>
            <a:pathLst>
              <a:path h="1551124" w="1742836">
                <a:moveTo>
                  <a:pt x="0" y="0"/>
                </a:moveTo>
                <a:lnTo>
                  <a:pt x="1742835" y="0"/>
                </a:lnTo>
                <a:lnTo>
                  <a:pt x="1742835" y="1551123"/>
                </a:lnTo>
                <a:lnTo>
                  <a:pt x="0" y="15511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70639" y="450786"/>
            <a:ext cx="6101774" cy="1158939"/>
          </a:xfrm>
          <a:prstGeom prst="rect">
            <a:avLst/>
          </a:prstGeom>
        </p:spPr>
        <p:txBody>
          <a:bodyPr anchor="t" rtlCol="false" tIns="0" lIns="0" bIns="0" rIns="0">
            <a:spAutoFit/>
          </a:bodyPr>
          <a:lstStyle/>
          <a:p>
            <a:pPr algn="ctr">
              <a:lnSpc>
                <a:spcPts val="9160"/>
              </a:lnSpc>
              <a:spcBef>
                <a:spcPct val="0"/>
              </a:spcBef>
            </a:pPr>
            <a:r>
              <a:rPr lang="en-US" sz="7633">
                <a:solidFill>
                  <a:srgbClr val="000000"/>
                </a:solidFill>
                <a:latin typeface="Anton"/>
                <a:ea typeface="Anton"/>
                <a:cs typeface="Anton"/>
                <a:sym typeface="Anton"/>
              </a:rPr>
              <a:t>AUDIO</a:t>
            </a:r>
            <a:r>
              <a:rPr lang="en-US" sz="7633">
                <a:solidFill>
                  <a:srgbClr val="000000"/>
                </a:solidFill>
                <a:latin typeface="Anton"/>
                <a:ea typeface="Anton"/>
                <a:cs typeface="Anton"/>
                <a:sym typeface="Anton"/>
              </a:rPr>
              <a:t> FORENSICS</a:t>
            </a:r>
          </a:p>
        </p:txBody>
      </p:sp>
      <p:sp>
        <p:nvSpPr>
          <p:cNvPr name="TextBox 4" id="4"/>
          <p:cNvSpPr txBox="true"/>
          <p:nvPr/>
        </p:nvSpPr>
        <p:spPr>
          <a:xfrm rot="0">
            <a:off x="770639" y="1963396"/>
            <a:ext cx="16871420" cy="3180104"/>
          </a:xfrm>
          <a:prstGeom prst="rect">
            <a:avLst/>
          </a:prstGeom>
        </p:spPr>
        <p:txBody>
          <a:bodyPr anchor="t" rtlCol="false" tIns="0" lIns="0" bIns="0" rIns="0">
            <a:spAutoFit/>
          </a:bodyPr>
          <a:lstStyle/>
          <a:p>
            <a:pPr algn="just">
              <a:lnSpc>
                <a:spcPts val="4268"/>
              </a:lnSpc>
            </a:pPr>
            <a:r>
              <a:rPr lang="en-US" sz="3049" b="true">
                <a:solidFill>
                  <a:srgbClr val="000000"/>
                </a:solidFill>
                <a:latin typeface="Canva Sans Bold"/>
                <a:ea typeface="Canva Sans Bold"/>
                <a:cs typeface="Canva Sans Bold"/>
                <a:sym typeface="Canva Sans Bold"/>
              </a:rPr>
              <a:t>Audio forensics</a:t>
            </a:r>
            <a:r>
              <a:rPr lang="en-US" sz="3049">
                <a:solidFill>
                  <a:srgbClr val="000000"/>
                </a:solidFill>
                <a:latin typeface="Canva Sans"/>
                <a:ea typeface="Canva Sans"/>
                <a:cs typeface="Canva Sans"/>
                <a:sym typeface="Canva Sans"/>
              </a:rPr>
              <a:t> means </a:t>
            </a:r>
            <a:r>
              <a:rPr lang="en-US" sz="3049" b="true">
                <a:solidFill>
                  <a:srgbClr val="000000"/>
                </a:solidFill>
                <a:latin typeface="Canva Sans Bold"/>
                <a:ea typeface="Canva Sans Bold"/>
                <a:cs typeface="Canva Sans Bold"/>
                <a:sym typeface="Canva Sans Bold"/>
              </a:rPr>
              <a:t>studying sound recordings</a:t>
            </a:r>
            <a:r>
              <a:rPr lang="en-US" sz="3049">
                <a:solidFill>
                  <a:srgbClr val="000000"/>
                </a:solidFill>
                <a:latin typeface="Canva Sans"/>
                <a:ea typeface="Canva Sans"/>
                <a:cs typeface="Canva Sans"/>
                <a:sym typeface="Canva Sans"/>
              </a:rPr>
              <a:t> to </a:t>
            </a:r>
            <a:r>
              <a:rPr lang="en-US" sz="3049" b="true">
                <a:solidFill>
                  <a:srgbClr val="000000"/>
                </a:solidFill>
                <a:latin typeface="Canva Sans Bold"/>
                <a:ea typeface="Canva Sans Bold"/>
                <a:cs typeface="Canva Sans Bold"/>
                <a:sym typeface="Canva Sans Bold"/>
              </a:rPr>
              <a:t>find the truth </a:t>
            </a:r>
            <a:r>
              <a:rPr lang="en-US" sz="3049">
                <a:solidFill>
                  <a:srgbClr val="000000"/>
                </a:solidFill>
                <a:latin typeface="Canva Sans"/>
                <a:ea typeface="Canva Sans"/>
                <a:cs typeface="Canva Sans"/>
                <a:sym typeface="Canva Sans"/>
              </a:rPr>
              <a:t>– whether a recording is real or edited, who is speaking, what is being said, and when or where it was recorded.</a:t>
            </a:r>
          </a:p>
          <a:p>
            <a:pPr algn="just">
              <a:lnSpc>
                <a:spcPts val="4268"/>
              </a:lnSpc>
            </a:pPr>
            <a:r>
              <a:rPr lang="en-US" sz="3049">
                <a:solidFill>
                  <a:srgbClr val="000000"/>
                </a:solidFill>
                <a:latin typeface="Canva Sans"/>
                <a:ea typeface="Canva Sans"/>
                <a:cs typeface="Canva Sans"/>
                <a:sym typeface="Canva Sans"/>
              </a:rPr>
              <a:t>Simple example: someone gives the police a voice recording as proof. An audio forensic expert checks if any words were </a:t>
            </a:r>
            <a:r>
              <a:rPr lang="en-US" sz="3049" b="true">
                <a:solidFill>
                  <a:srgbClr val="000000"/>
                </a:solidFill>
                <a:latin typeface="Canva Sans Bold"/>
                <a:ea typeface="Canva Sans Bold"/>
                <a:cs typeface="Canva Sans Bold"/>
                <a:sym typeface="Canva Sans Bold"/>
              </a:rPr>
              <a:t>cut, added</a:t>
            </a:r>
            <a:r>
              <a:rPr lang="en-US" sz="3049">
                <a:solidFill>
                  <a:srgbClr val="000000"/>
                </a:solidFill>
                <a:latin typeface="Canva Sans"/>
                <a:ea typeface="Canva Sans"/>
                <a:cs typeface="Canva Sans"/>
                <a:sym typeface="Canva Sans"/>
              </a:rPr>
              <a:t> or </a:t>
            </a:r>
            <a:r>
              <a:rPr lang="en-US" sz="3049" b="true">
                <a:solidFill>
                  <a:srgbClr val="000000"/>
                </a:solidFill>
                <a:latin typeface="Canva Sans Bold"/>
                <a:ea typeface="Canva Sans Bold"/>
                <a:cs typeface="Canva Sans Bold"/>
                <a:sym typeface="Canva Sans Bold"/>
              </a:rPr>
              <a:t>joined</a:t>
            </a:r>
            <a:r>
              <a:rPr lang="en-US" sz="3049">
                <a:solidFill>
                  <a:srgbClr val="000000"/>
                </a:solidFill>
                <a:latin typeface="Canva Sans"/>
                <a:ea typeface="Canva Sans"/>
                <a:cs typeface="Canva Sans"/>
                <a:sym typeface="Canva Sans"/>
              </a:rPr>
              <a:t>, cleans up the noise so the speech is clear, and checks if the voice really belongs to the person.</a:t>
            </a:r>
          </a:p>
          <a:p>
            <a:pPr algn="just">
              <a:lnSpc>
                <a:spcPts val="4268"/>
              </a:lnSpc>
            </a:pPr>
          </a:p>
        </p:txBody>
      </p:sp>
      <p:sp>
        <p:nvSpPr>
          <p:cNvPr name="TextBox 5" id="5"/>
          <p:cNvSpPr txBox="true"/>
          <p:nvPr/>
        </p:nvSpPr>
        <p:spPr>
          <a:xfrm rot="0">
            <a:off x="9139238" y="1028700"/>
            <a:ext cx="9525" cy="1162050"/>
          </a:xfrm>
          <a:prstGeom prst="rect">
            <a:avLst/>
          </a:prstGeom>
        </p:spPr>
        <p:txBody>
          <a:bodyPr anchor="t" rtlCol="false" tIns="0" lIns="0" bIns="0" rIns="0">
            <a:spAutoFit/>
          </a:bodyPr>
          <a:lstStyle/>
          <a:p>
            <a:pPr algn="ctr">
              <a:lnSpc>
                <a:spcPts val="9160"/>
              </a:lnSpc>
              <a:spcBef>
                <a:spcPct val="0"/>
              </a:spcBef>
            </a:pPr>
          </a:p>
        </p:txBody>
      </p:sp>
      <p:sp>
        <p:nvSpPr>
          <p:cNvPr name="TextBox 6" id="6"/>
          <p:cNvSpPr txBox="true"/>
          <p:nvPr/>
        </p:nvSpPr>
        <p:spPr>
          <a:xfrm rot="0">
            <a:off x="770639" y="5086350"/>
            <a:ext cx="16644117" cy="4781550"/>
          </a:xfrm>
          <a:prstGeom prst="rect">
            <a:avLst/>
          </a:prstGeom>
        </p:spPr>
        <p:txBody>
          <a:bodyPr anchor="t" rtlCol="false" tIns="0" lIns="0" bIns="0" rIns="0">
            <a:spAutoFit/>
          </a:bodyPr>
          <a:lstStyle/>
          <a:p>
            <a:pPr algn="l">
              <a:lnSpc>
                <a:spcPts val="4200"/>
              </a:lnSpc>
            </a:pPr>
            <a:r>
              <a:rPr lang="en-US" sz="3000">
                <a:solidFill>
                  <a:srgbClr val="000000"/>
                </a:solidFill>
                <a:latin typeface="Canva Sans"/>
                <a:ea typeface="Canva Sans"/>
                <a:cs typeface="Canva Sans"/>
                <a:sym typeface="Canva Sans"/>
              </a:rPr>
              <a:t>Where It Is Use</a:t>
            </a:r>
            <a:r>
              <a:rPr lang="en-US" sz="3000">
                <a:solidFill>
                  <a:srgbClr val="000000"/>
                </a:solidFill>
                <a:latin typeface="Canva Sans"/>
                <a:ea typeface="Canva Sans"/>
                <a:cs typeface="Canva Sans"/>
                <a:sym typeface="Canva Sans"/>
              </a:rPr>
              <a:t>d</a:t>
            </a:r>
          </a:p>
          <a:p>
            <a:pPr algn="l">
              <a:lnSpc>
                <a:spcPts val="4200"/>
              </a:lnSpc>
            </a:pPr>
          </a:p>
          <a:p>
            <a:pPr algn="l">
              <a:lnSpc>
                <a:spcPts val="4200"/>
              </a:lnSpc>
            </a:pPr>
            <a:r>
              <a:rPr lang="en-US" sz="3000">
                <a:solidFill>
                  <a:srgbClr val="000000"/>
                </a:solidFill>
                <a:latin typeface="Canva Sans"/>
                <a:ea typeface="Canva Sans"/>
                <a:cs typeface="Canva Sans"/>
                <a:sym typeface="Canva Sans"/>
              </a:rPr>
              <a:t>•    </a:t>
            </a:r>
            <a:r>
              <a:rPr lang="en-US" b="true" sz="3000">
                <a:solidFill>
                  <a:srgbClr val="000000"/>
                </a:solidFill>
                <a:latin typeface="Canva Sans Bold"/>
                <a:ea typeface="Canva Sans Bold"/>
                <a:cs typeface="Canva Sans Bold"/>
                <a:sym typeface="Canva Sans Bold"/>
              </a:rPr>
              <a:t>Court cases</a:t>
            </a:r>
            <a:r>
              <a:rPr lang="en-US" sz="3000">
                <a:solidFill>
                  <a:srgbClr val="000000"/>
                </a:solidFill>
                <a:latin typeface="Canva Sans"/>
                <a:ea typeface="Canva Sans"/>
                <a:cs typeface="Canva Sans"/>
                <a:sym typeface="Canva Sans"/>
              </a:rPr>
              <a:t>: proving a recording is original and not edited</a:t>
            </a:r>
          </a:p>
          <a:p>
            <a:pPr algn="l">
              <a:lnSpc>
                <a:spcPts val="4200"/>
              </a:lnSpc>
            </a:pPr>
            <a:r>
              <a:rPr lang="en-US" sz="3000">
                <a:solidFill>
                  <a:srgbClr val="000000"/>
                </a:solidFill>
                <a:latin typeface="Canva Sans"/>
                <a:ea typeface="Canva Sans"/>
                <a:cs typeface="Canva Sans"/>
                <a:sym typeface="Canva Sans"/>
              </a:rPr>
              <a:t>•    </a:t>
            </a:r>
            <a:r>
              <a:rPr lang="en-US" b="true" sz="3000">
                <a:solidFill>
                  <a:srgbClr val="000000"/>
                </a:solidFill>
                <a:latin typeface="Canva Sans Bold"/>
                <a:ea typeface="Canva Sans Bold"/>
                <a:cs typeface="Canva Sans Bold"/>
                <a:sym typeface="Canva Sans Bold"/>
              </a:rPr>
              <a:t>Fake voice (deepfake) detection:</a:t>
            </a:r>
            <a:r>
              <a:rPr lang="en-US" sz="3000">
                <a:solidFill>
                  <a:srgbClr val="000000"/>
                </a:solidFill>
                <a:latin typeface="Canva Sans"/>
                <a:ea typeface="Canva Sans"/>
                <a:cs typeface="Canva Sans"/>
                <a:sym typeface="Canva Sans"/>
              </a:rPr>
              <a:t> AI can now copy anyone's voice, so experts check if a voice is real</a:t>
            </a:r>
          </a:p>
          <a:p>
            <a:pPr algn="l">
              <a:lnSpc>
                <a:spcPts val="4200"/>
              </a:lnSpc>
            </a:pPr>
            <a:r>
              <a:rPr lang="en-US" sz="3000">
                <a:solidFill>
                  <a:srgbClr val="000000"/>
                </a:solidFill>
                <a:latin typeface="Canva Sans"/>
                <a:ea typeface="Canva Sans"/>
                <a:cs typeface="Canva Sans"/>
                <a:sym typeface="Canva Sans"/>
              </a:rPr>
              <a:t>•    </a:t>
            </a:r>
            <a:r>
              <a:rPr lang="en-US" b="true" sz="3000">
                <a:solidFill>
                  <a:srgbClr val="000000"/>
                </a:solidFill>
                <a:latin typeface="Canva Sans Bold"/>
                <a:ea typeface="Canva Sans Bold"/>
                <a:cs typeface="Canva Sans Bold"/>
                <a:sym typeface="Canva Sans Bold"/>
              </a:rPr>
              <a:t>Enhancement</a:t>
            </a:r>
            <a:r>
              <a:rPr lang="en-US" sz="3000">
                <a:solidFill>
                  <a:srgbClr val="000000"/>
                </a:solidFill>
                <a:latin typeface="Canva Sans"/>
                <a:ea typeface="Canva Sans"/>
                <a:cs typeface="Canva Sans"/>
                <a:sym typeface="Canva Sans"/>
              </a:rPr>
              <a:t>: making unclear speech easier to hear (removing hiss, traffic, wind)</a:t>
            </a:r>
          </a:p>
          <a:p>
            <a:pPr algn="l">
              <a:lnSpc>
                <a:spcPts val="4200"/>
              </a:lnSpc>
            </a:pPr>
            <a:r>
              <a:rPr lang="en-US" sz="3000">
                <a:solidFill>
                  <a:srgbClr val="000000"/>
                </a:solidFill>
                <a:latin typeface="Canva Sans"/>
                <a:ea typeface="Canva Sans"/>
                <a:cs typeface="Canva Sans"/>
                <a:sym typeface="Canva Sans"/>
              </a:rPr>
              <a:t>•    </a:t>
            </a:r>
            <a:r>
              <a:rPr lang="en-US" b="true" sz="3000">
                <a:solidFill>
                  <a:srgbClr val="000000"/>
                </a:solidFill>
                <a:latin typeface="Canva Sans Bold"/>
                <a:ea typeface="Canva Sans Bold"/>
                <a:cs typeface="Canva Sans Bold"/>
                <a:sym typeface="Canva Sans Bold"/>
              </a:rPr>
              <a:t>Speaker identification</a:t>
            </a:r>
            <a:r>
              <a:rPr lang="en-US" sz="3000">
                <a:solidFill>
                  <a:srgbClr val="000000"/>
                </a:solidFill>
                <a:latin typeface="Canva Sans"/>
                <a:ea typeface="Canva Sans"/>
                <a:cs typeface="Canva Sans"/>
                <a:sym typeface="Canva Sans"/>
              </a:rPr>
              <a:t>: comparing a voice with known samples of a person</a:t>
            </a:r>
          </a:p>
          <a:p>
            <a:pPr algn="l">
              <a:lnSpc>
                <a:spcPts val="4200"/>
              </a:lnSpc>
            </a:pPr>
            <a:r>
              <a:rPr lang="en-US" sz="3000">
                <a:solidFill>
                  <a:srgbClr val="000000"/>
                </a:solidFill>
                <a:latin typeface="Canva Sans"/>
                <a:ea typeface="Canva Sans"/>
                <a:cs typeface="Canva Sans"/>
                <a:sym typeface="Canva Sans"/>
              </a:rPr>
              <a:t>•    </a:t>
            </a:r>
            <a:r>
              <a:rPr lang="en-US" b="true" sz="3000">
                <a:solidFill>
                  <a:srgbClr val="000000"/>
                </a:solidFill>
                <a:latin typeface="Canva Sans Bold"/>
                <a:ea typeface="Canva Sans Bold"/>
                <a:cs typeface="Canva Sans Bold"/>
                <a:sym typeface="Canva Sans Bold"/>
              </a:rPr>
              <a:t>CTF challenges</a:t>
            </a:r>
            <a:r>
              <a:rPr lang="en-US" sz="3000">
                <a:solidFill>
                  <a:srgbClr val="000000"/>
                </a:solidFill>
                <a:latin typeface="Canva Sans"/>
                <a:ea typeface="Canva Sans"/>
                <a:cs typeface="Canva Sans"/>
                <a:sym typeface="Canva Sans"/>
              </a:rPr>
              <a:t>: hidden messages are often hidden inside audio files</a:t>
            </a:r>
          </a:p>
          <a:p>
            <a:pPr algn="l">
              <a:lnSpc>
                <a:spcPts val="4200"/>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39238" y="1028700"/>
            <a:ext cx="9525" cy="1162050"/>
          </a:xfrm>
          <a:prstGeom prst="rect">
            <a:avLst/>
          </a:prstGeom>
        </p:spPr>
        <p:txBody>
          <a:bodyPr anchor="t" rtlCol="false" tIns="0" lIns="0" bIns="0" rIns="0">
            <a:spAutoFit/>
          </a:bodyPr>
          <a:lstStyle/>
          <a:p>
            <a:pPr algn="ctr">
              <a:lnSpc>
                <a:spcPts val="9160"/>
              </a:lnSpc>
              <a:spcBef>
                <a:spcPct val="0"/>
              </a:spcBef>
            </a:pPr>
          </a:p>
        </p:txBody>
      </p:sp>
      <p:sp>
        <p:nvSpPr>
          <p:cNvPr name="TextBox 3" id="3"/>
          <p:cNvSpPr txBox="true"/>
          <p:nvPr/>
        </p:nvSpPr>
        <p:spPr>
          <a:xfrm rot="0">
            <a:off x="770639" y="1543050"/>
            <a:ext cx="16679611" cy="5981065"/>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Hidden Data in Audio</a:t>
            </a:r>
            <a:r>
              <a:rPr lang="en-US" sz="3399">
                <a:solidFill>
                  <a:srgbClr val="000000"/>
                </a:solidFill>
                <a:latin typeface="Canva Sans"/>
                <a:ea typeface="Canva Sans"/>
                <a:cs typeface="Canva Sans"/>
                <a:sym typeface="Canva Sans"/>
              </a:rPr>
              <a:t> (CTF)</a:t>
            </a:r>
          </a:p>
          <a:p>
            <a:pPr algn="l">
              <a:lnSpc>
                <a:spcPts val="4759"/>
              </a:lnSpc>
            </a:pPr>
          </a:p>
          <a:p>
            <a:pPr algn="l">
              <a:lnSpc>
                <a:spcPts val="4759"/>
              </a:lnSpc>
            </a:pPr>
            <a:r>
              <a:rPr lang="en-US" sz="3399">
                <a:solidFill>
                  <a:srgbClr val="000000"/>
                </a:solidFill>
                <a:latin typeface="Canva Sans"/>
                <a:ea typeface="Canva Sans"/>
                <a:cs typeface="Canva Sans"/>
                <a:sym typeface="Canva Sans"/>
              </a:rPr>
              <a:t>•    </a:t>
            </a:r>
            <a:r>
              <a:rPr lang="en-US" sz="3399" b="true">
                <a:solidFill>
                  <a:srgbClr val="000000"/>
                </a:solidFill>
                <a:latin typeface="Canva Sans Bold"/>
                <a:ea typeface="Canva Sans Bold"/>
                <a:cs typeface="Canva Sans Bold"/>
                <a:sym typeface="Canva Sans Bold"/>
              </a:rPr>
              <a:t>Spectrogram images</a:t>
            </a:r>
            <a:r>
              <a:rPr lang="en-US" sz="3399">
                <a:solidFill>
                  <a:srgbClr val="000000"/>
                </a:solidFill>
                <a:latin typeface="Canva Sans"/>
                <a:ea typeface="Canva Sans"/>
                <a:cs typeface="Canva Sans"/>
                <a:sym typeface="Canva Sans"/>
              </a:rPr>
              <a:t>: text or pictures drawn into the sound that only appear in the spectrogram view</a:t>
            </a:r>
          </a:p>
          <a:p>
            <a:pPr algn="l">
              <a:lnSpc>
                <a:spcPts val="4759"/>
              </a:lnSpc>
            </a:pPr>
            <a:r>
              <a:rPr lang="en-US" sz="3399">
                <a:solidFill>
                  <a:srgbClr val="000000"/>
                </a:solidFill>
                <a:latin typeface="Canva Sans"/>
                <a:ea typeface="Canva Sans"/>
                <a:cs typeface="Canva Sans"/>
                <a:sym typeface="Canva Sans"/>
              </a:rPr>
              <a:t>•    </a:t>
            </a:r>
            <a:r>
              <a:rPr lang="en-US" sz="3399" b="true">
                <a:solidFill>
                  <a:srgbClr val="000000"/>
                </a:solidFill>
                <a:latin typeface="Canva Sans Bold"/>
                <a:ea typeface="Canva Sans Bold"/>
                <a:cs typeface="Canva Sans Bold"/>
                <a:sym typeface="Canva Sans Bold"/>
              </a:rPr>
              <a:t>Morse code</a:t>
            </a:r>
            <a:r>
              <a:rPr lang="en-US" sz="3399">
                <a:solidFill>
                  <a:srgbClr val="000000"/>
                </a:solidFill>
                <a:latin typeface="Canva Sans"/>
                <a:ea typeface="Canva Sans"/>
                <a:cs typeface="Canva Sans"/>
                <a:sym typeface="Canva Sans"/>
              </a:rPr>
              <a:t>: beeps of short and long sounds</a:t>
            </a:r>
          </a:p>
          <a:p>
            <a:pPr algn="l">
              <a:lnSpc>
                <a:spcPts val="4759"/>
              </a:lnSpc>
            </a:pPr>
            <a:r>
              <a:rPr lang="en-US" sz="3399">
                <a:solidFill>
                  <a:srgbClr val="000000"/>
                </a:solidFill>
                <a:latin typeface="Canva Sans"/>
                <a:ea typeface="Canva Sans"/>
                <a:cs typeface="Canva Sans"/>
                <a:sym typeface="Canva Sans"/>
              </a:rPr>
              <a:t>•    </a:t>
            </a:r>
            <a:r>
              <a:rPr lang="en-US" sz="3399" b="true">
                <a:solidFill>
                  <a:srgbClr val="000000"/>
                </a:solidFill>
                <a:latin typeface="Canva Sans Bold"/>
                <a:ea typeface="Canva Sans Bold"/>
                <a:cs typeface="Canva Sans Bold"/>
                <a:sym typeface="Canva Sans Bold"/>
              </a:rPr>
              <a:t>DTMF tones</a:t>
            </a:r>
            <a:r>
              <a:rPr lang="en-US" sz="3399">
                <a:solidFill>
                  <a:srgbClr val="000000"/>
                </a:solidFill>
                <a:latin typeface="Canva Sans"/>
                <a:ea typeface="Canva Sans"/>
                <a:cs typeface="Canva Sans"/>
                <a:sym typeface="Canva Sans"/>
              </a:rPr>
              <a:t>: phone keypad tones that can be decoded into numbers</a:t>
            </a:r>
          </a:p>
          <a:p>
            <a:pPr algn="l">
              <a:lnSpc>
                <a:spcPts val="4759"/>
              </a:lnSpc>
            </a:pPr>
            <a:r>
              <a:rPr lang="en-US" sz="3399">
                <a:solidFill>
                  <a:srgbClr val="000000"/>
                </a:solidFill>
                <a:latin typeface="Canva Sans"/>
                <a:ea typeface="Canva Sans"/>
                <a:cs typeface="Canva Sans"/>
                <a:sym typeface="Canva Sans"/>
              </a:rPr>
              <a:t>•    </a:t>
            </a:r>
            <a:r>
              <a:rPr lang="en-US" sz="3399" b="true">
                <a:solidFill>
                  <a:srgbClr val="000000"/>
                </a:solidFill>
                <a:latin typeface="Canva Sans Bold"/>
                <a:ea typeface="Canva Sans Bold"/>
                <a:cs typeface="Canva Sans Bold"/>
                <a:sym typeface="Canva Sans Bold"/>
              </a:rPr>
              <a:t>Steganography</a:t>
            </a:r>
            <a:r>
              <a:rPr lang="en-US" sz="3399">
                <a:solidFill>
                  <a:srgbClr val="000000"/>
                </a:solidFill>
                <a:latin typeface="Canva Sans"/>
                <a:ea typeface="Canva Sans"/>
                <a:cs typeface="Canva Sans"/>
                <a:sym typeface="Canva Sans"/>
              </a:rPr>
              <a:t>: secret files hidden inside WAV files (tools: steghide, DeepSound)</a:t>
            </a:r>
          </a:p>
          <a:p>
            <a:pPr algn="l">
              <a:lnSpc>
                <a:spcPts val="4759"/>
              </a:lnSpc>
            </a:pPr>
            <a:r>
              <a:rPr lang="en-US" sz="3399">
                <a:solidFill>
                  <a:srgbClr val="000000"/>
                </a:solidFill>
                <a:latin typeface="Canva Sans"/>
                <a:ea typeface="Canva Sans"/>
                <a:cs typeface="Canva Sans"/>
                <a:sym typeface="Canva Sans"/>
              </a:rPr>
              <a:t>•    </a:t>
            </a:r>
            <a:r>
              <a:rPr lang="en-US" sz="3399" b="true">
                <a:solidFill>
                  <a:srgbClr val="000000"/>
                </a:solidFill>
                <a:latin typeface="Canva Sans Bold"/>
                <a:ea typeface="Canva Sans Bold"/>
                <a:cs typeface="Canva Sans Bold"/>
                <a:sym typeface="Canva Sans Bold"/>
              </a:rPr>
              <a:t>Reversed or slowed audio</a:t>
            </a:r>
            <a:r>
              <a:rPr lang="en-US" sz="3399">
                <a:solidFill>
                  <a:srgbClr val="000000"/>
                </a:solidFill>
                <a:latin typeface="Canva Sans"/>
                <a:ea typeface="Canva Sans"/>
                <a:cs typeface="Canva Sans"/>
                <a:sym typeface="Canva Sans"/>
              </a:rPr>
              <a:t>: play it backwards or at a different speed</a:t>
            </a:r>
          </a:p>
          <a:p>
            <a:pPr algn="l">
              <a:lnSpc>
                <a:spcPts val="4759"/>
              </a:lnSpc>
            </a:pPr>
          </a:p>
        </p:txBody>
      </p:sp>
      <p:sp>
        <p:nvSpPr>
          <p:cNvPr name="Freeform 4" id="4"/>
          <p:cNvSpPr/>
          <p:nvPr/>
        </p:nvSpPr>
        <p:spPr>
          <a:xfrm flipH="false" flipV="false" rot="0">
            <a:off x="770639" y="8238640"/>
            <a:ext cx="16893589" cy="1763268"/>
          </a:xfrm>
          <a:custGeom>
            <a:avLst/>
            <a:gdLst/>
            <a:ahLst/>
            <a:cxnLst/>
            <a:rect r="r" b="b" t="t" l="l"/>
            <a:pathLst>
              <a:path h="1763268" w="16893589">
                <a:moveTo>
                  <a:pt x="0" y="0"/>
                </a:moveTo>
                <a:lnTo>
                  <a:pt x="16893589" y="0"/>
                </a:lnTo>
                <a:lnTo>
                  <a:pt x="16893589" y="1763268"/>
                </a:lnTo>
                <a:lnTo>
                  <a:pt x="0" y="1763268"/>
                </a:lnTo>
                <a:lnTo>
                  <a:pt x="0" y="0"/>
                </a:lnTo>
                <a:close/>
              </a:path>
            </a:pathLst>
          </a:custGeom>
          <a:blipFill>
            <a:blip r:embed="rId2"/>
            <a:stretch>
              <a:fillRect l="0" t="0" r="0" b="0"/>
            </a:stretch>
          </a:blipFill>
        </p:spPr>
      </p:sp>
      <p:sp>
        <p:nvSpPr>
          <p:cNvPr name="Freeform 5" id="5"/>
          <p:cNvSpPr/>
          <p:nvPr/>
        </p:nvSpPr>
        <p:spPr>
          <a:xfrm flipH="false" flipV="false" rot="0">
            <a:off x="7958109" y="88807"/>
            <a:ext cx="2564754" cy="2718082"/>
          </a:xfrm>
          <a:custGeom>
            <a:avLst/>
            <a:gdLst/>
            <a:ahLst/>
            <a:cxnLst/>
            <a:rect r="r" b="b" t="t" l="l"/>
            <a:pathLst>
              <a:path h="2718082" w="2564754">
                <a:moveTo>
                  <a:pt x="0" y="0"/>
                </a:moveTo>
                <a:lnTo>
                  <a:pt x="2564754" y="0"/>
                </a:lnTo>
                <a:lnTo>
                  <a:pt x="2564754" y="2718081"/>
                </a:lnTo>
                <a:lnTo>
                  <a:pt x="0" y="2718081"/>
                </a:lnTo>
                <a:lnTo>
                  <a:pt x="0" y="0"/>
                </a:lnTo>
                <a:close/>
              </a:path>
            </a:pathLst>
          </a:custGeom>
          <a:blipFill>
            <a:blip r:embed="rId3"/>
            <a:stretch>
              <a:fillRect l="0" t="0" r="0" b="0"/>
            </a:stretch>
          </a:blipFill>
        </p:spPr>
      </p:sp>
      <p:sp>
        <p:nvSpPr>
          <p:cNvPr name="TextBox 6" id="6"/>
          <p:cNvSpPr txBox="true"/>
          <p:nvPr/>
        </p:nvSpPr>
        <p:spPr>
          <a:xfrm rot="0">
            <a:off x="770639" y="450786"/>
            <a:ext cx="6101774" cy="1158939"/>
          </a:xfrm>
          <a:prstGeom prst="rect">
            <a:avLst/>
          </a:prstGeom>
        </p:spPr>
        <p:txBody>
          <a:bodyPr anchor="t" rtlCol="false" tIns="0" lIns="0" bIns="0" rIns="0">
            <a:spAutoFit/>
          </a:bodyPr>
          <a:lstStyle/>
          <a:p>
            <a:pPr algn="ctr">
              <a:lnSpc>
                <a:spcPts val="9160"/>
              </a:lnSpc>
              <a:spcBef>
                <a:spcPct val="0"/>
              </a:spcBef>
            </a:pPr>
            <a:r>
              <a:rPr lang="en-US" sz="7633">
                <a:solidFill>
                  <a:srgbClr val="000000"/>
                </a:solidFill>
                <a:latin typeface="Anton"/>
                <a:ea typeface="Anton"/>
                <a:cs typeface="Anton"/>
                <a:sym typeface="Anton"/>
              </a:rPr>
              <a:t>AUDIO</a:t>
            </a:r>
            <a:r>
              <a:rPr lang="en-US" sz="7633">
                <a:solidFill>
                  <a:srgbClr val="000000"/>
                </a:solidFill>
                <a:latin typeface="Anton"/>
                <a:ea typeface="Anton"/>
                <a:cs typeface="Anton"/>
                <a:sym typeface="Anton"/>
              </a:rPr>
              <a:t> FORENSICS</a:t>
            </a:r>
          </a:p>
        </p:txBody>
      </p:sp>
      <p:sp>
        <p:nvSpPr>
          <p:cNvPr name="TextBox 7" id="7"/>
          <p:cNvSpPr txBox="true"/>
          <p:nvPr/>
        </p:nvSpPr>
        <p:spPr>
          <a:xfrm rot="0">
            <a:off x="808957" y="7457440"/>
            <a:ext cx="16679611"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Useful Commands :</a:t>
            </a:r>
          </a:p>
        </p:txBody>
      </p:sp>
    </p:spTree>
  </p:cSld>
  <p:clrMapOvr>
    <a:masterClrMapping/>
  </p:clrMapOvr>
</p:sld>
</file>

<file path=ppt/slides/slide5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777903" y="5143500"/>
            <a:ext cx="12681602" cy="3558286"/>
            <a:chOff x="0" y="0"/>
            <a:chExt cx="3340010" cy="937162"/>
          </a:xfrm>
        </p:grpSpPr>
        <p:sp>
          <p:nvSpPr>
            <p:cNvPr name="Freeform 3" id="3"/>
            <p:cNvSpPr/>
            <p:nvPr/>
          </p:nvSpPr>
          <p:spPr>
            <a:xfrm flipH="false" flipV="false" rot="0">
              <a:off x="0" y="0"/>
              <a:ext cx="3340010" cy="937162"/>
            </a:xfrm>
            <a:custGeom>
              <a:avLst/>
              <a:gdLst/>
              <a:ahLst/>
              <a:cxnLst/>
              <a:rect r="r" b="b" t="t" l="l"/>
              <a:pathLst>
                <a:path h="937162" w="3340010">
                  <a:moveTo>
                    <a:pt x="31135" y="0"/>
                  </a:moveTo>
                  <a:lnTo>
                    <a:pt x="3308876" y="0"/>
                  </a:lnTo>
                  <a:cubicBezTo>
                    <a:pt x="3317133" y="0"/>
                    <a:pt x="3325052" y="3280"/>
                    <a:pt x="3330891" y="9119"/>
                  </a:cubicBezTo>
                  <a:cubicBezTo>
                    <a:pt x="3336730" y="14958"/>
                    <a:pt x="3340010" y="22877"/>
                    <a:pt x="3340010" y="31135"/>
                  </a:cubicBezTo>
                  <a:lnTo>
                    <a:pt x="3340010" y="906027"/>
                  </a:lnTo>
                  <a:cubicBezTo>
                    <a:pt x="3340010" y="914285"/>
                    <a:pt x="3336730" y="922204"/>
                    <a:pt x="3330891" y="928043"/>
                  </a:cubicBezTo>
                  <a:cubicBezTo>
                    <a:pt x="3325052" y="933882"/>
                    <a:pt x="3317133" y="937162"/>
                    <a:pt x="3308876" y="937162"/>
                  </a:cubicBezTo>
                  <a:lnTo>
                    <a:pt x="31135" y="937162"/>
                  </a:lnTo>
                  <a:cubicBezTo>
                    <a:pt x="22877" y="937162"/>
                    <a:pt x="14958" y="933882"/>
                    <a:pt x="9119" y="928043"/>
                  </a:cubicBezTo>
                  <a:cubicBezTo>
                    <a:pt x="3280" y="922204"/>
                    <a:pt x="0" y="914285"/>
                    <a:pt x="0" y="906027"/>
                  </a:cubicBezTo>
                  <a:lnTo>
                    <a:pt x="0" y="31135"/>
                  </a:lnTo>
                  <a:cubicBezTo>
                    <a:pt x="0" y="22877"/>
                    <a:pt x="3280" y="14958"/>
                    <a:pt x="9119" y="9119"/>
                  </a:cubicBezTo>
                  <a:cubicBezTo>
                    <a:pt x="14958" y="3280"/>
                    <a:pt x="22877" y="0"/>
                    <a:pt x="31135" y="0"/>
                  </a:cubicBezTo>
                  <a:close/>
                </a:path>
              </a:pathLst>
            </a:custGeom>
            <a:solidFill>
              <a:srgbClr val="D2D2D1"/>
            </a:solidFill>
          </p:spPr>
        </p:sp>
        <p:sp>
          <p:nvSpPr>
            <p:cNvPr name="TextBox 4" id="4"/>
            <p:cNvSpPr txBox="true"/>
            <p:nvPr/>
          </p:nvSpPr>
          <p:spPr>
            <a:xfrm>
              <a:off x="0" y="-38100"/>
              <a:ext cx="3340010" cy="975262"/>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878875" y="816316"/>
            <a:ext cx="15600396" cy="1344937"/>
          </a:xfrm>
          <a:prstGeom prst="rect">
            <a:avLst/>
          </a:prstGeom>
        </p:spPr>
        <p:txBody>
          <a:bodyPr anchor="t" rtlCol="false" tIns="0" lIns="0" bIns="0" rIns="0">
            <a:spAutoFit/>
          </a:bodyPr>
          <a:lstStyle/>
          <a:p>
            <a:pPr algn="l">
              <a:lnSpc>
                <a:spcPts val="10690"/>
              </a:lnSpc>
            </a:pPr>
            <a:r>
              <a:rPr lang="en-US" sz="8908">
                <a:solidFill>
                  <a:srgbClr val="000000"/>
                </a:solidFill>
                <a:latin typeface="Anton"/>
                <a:ea typeface="Anton"/>
                <a:cs typeface="Anton"/>
                <a:sym typeface="Anton"/>
              </a:rPr>
              <a:t>LEVEL 3: SEE THE SOUND.</a:t>
            </a:r>
          </a:p>
        </p:txBody>
      </p:sp>
      <p:sp>
        <p:nvSpPr>
          <p:cNvPr name="TextBox 6" id="6"/>
          <p:cNvSpPr txBox="true"/>
          <p:nvPr/>
        </p:nvSpPr>
        <p:spPr>
          <a:xfrm rot="0">
            <a:off x="3309580" y="5296054"/>
            <a:ext cx="11668840" cy="29806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COMMANDS: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sox secret_spectrogram.wav -n spectrogram -o spec.png</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Open spec.png</a:t>
            </a:r>
          </a:p>
        </p:txBody>
      </p:sp>
      <p:sp>
        <p:nvSpPr>
          <p:cNvPr name="TextBox 7" id="7"/>
          <p:cNvSpPr txBox="true"/>
          <p:nvPr/>
        </p:nvSpPr>
        <p:spPr>
          <a:xfrm rot="0">
            <a:off x="1772946" y="3200416"/>
            <a:ext cx="15677550"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GO TO YOUR CODESPACE CHALLENGES AND THEN TO PROTOCOL_DAY_3</a:t>
            </a:r>
          </a:p>
        </p:txBody>
      </p:sp>
      <p:sp>
        <p:nvSpPr>
          <p:cNvPr name="TextBox 8" id="8"/>
          <p:cNvSpPr txBox="true"/>
          <p:nvPr/>
        </p:nvSpPr>
        <p:spPr>
          <a:xfrm rot="0">
            <a:off x="2216986" y="4138620"/>
            <a:ext cx="14210804"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File: secret_spectrogram.wav</a:t>
            </a:r>
          </a:p>
        </p:txBody>
      </p:sp>
    </p:spTree>
  </p:cSld>
  <p:clrMapOvr>
    <a:masterClrMapping/>
  </p:clrMapOvr>
</p:sld>
</file>

<file path=ppt/slides/slide5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78875" y="816316"/>
            <a:ext cx="15600396" cy="1344937"/>
          </a:xfrm>
          <a:prstGeom prst="rect">
            <a:avLst/>
          </a:prstGeom>
        </p:spPr>
        <p:txBody>
          <a:bodyPr anchor="t" rtlCol="false" tIns="0" lIns="0" bIns="0" rIns="0">
            <a:spAutoFit/>
          </a:bodyPr>
          <a:lstStyle/>
          <a:p>
            <a:pPr algn="l">
              <a:lnSpc>
                <a:spcPts val="10690"/>
              </a:lnSpc>
            </a:pPr>
            <a:r>
              <a:rPr lang="en-US" sz="8908">
                <a:solidFill>
                  <a:srgbClr val="000000"/>
                </a:solidFill>
                <a:latin typeface="Anton"/>
                <a:ea typeface="Anton"/>
                <a:cs typeface="Anton"/>
                <a:sym typeface="Anton"/>
              </a:rPr>
              <a:t>QUESTIONS </a:t>
            </a:r>
          </a:p>
        </p:txBody>
      </p:sp>
      <p:sp>
        <p:nvSpPr>
          <p:cNvPr name="TextBox 3" id="3"/>
          <p:cNvSpPr txBox="true"/>
          <p:nvPr/>
        </p:nvSpPr>
        <p:spPr>
          <a:xfrm rot="0">
            <a:off x="3773924" y="4353093"/>
            <a:ext cx="11374421" cy="1820303"/>
          </a:xfrm>
          <a:prstGeom prst="rect">
            <a:avLst/>
          </a:prstGeom>
        </p:spPr>
        <p:txBody>
          <a:bodyPr anchor="t" rtlCol="false" tIns="0" lIns="0" bIns="0" rIns="0">
            <a:spAutoFit/>
          </a:bodyPr>
          <a:lstStyle/>
          <a:p>
            <a:pPr algn="ctr">
              <a:lnSpc>
                <a:spcPts val="7331"/>
              </a:lnSpc>
            </a:pPr>
            <a:r>
              <a:rPr lang="en-US" sz="5236" b="true">
                <a:solidFill>
                  <a:srgbClr val="000000"/>
                </a:solidFill>
                <a:latin typeface="Canva Sans Bold"/>
                <a:ea typeface="Canva Sans Bold"/>
                <a:cs typeface="Canva Sans Bold"/>
                <a:sym typeface="Canva Sans Bold"/>
              </a:rPr>
              <a:t>1.</a:t>
            </a:r>
            <a:r>
              <a:rPr lang="en-US" b="true" sz="5236">
                <a:solidFill>
                  <a:srgbClr val="000000"/>
                </a:solidFill>
                <a:latin typeface="Canva Sans Bold"/>
                <a:ea typeface="Canva Sans Bold"/>
                <a:cs typeface="Canva Sans Bold"/>
                <a:sym typeface="Canva Sans Bold"/>
              </a:rPr>
              <a:t> What flag appears in the picture?</a:t>
            </a:r>
          </a:p>
          <a:p>
            <a:pPr algn="ctr">
              <a:lnSpc>
                <a:spcPts val="7331"/>
              </a:lnSpc>
            </a:pP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32070" y="2060167"/>
            <a:ext cx="17823860" cy="7520400"/>
          </a:xfrm>
          <a:prstGeom prst="rect">
            <a:avLst/>
          </a:prstGeom>
        </p:spPr>
        <p:txBody>
          <a:bodyPr anchor="t" rtlCol="false" tIns="0" lIns="0" bIns="0" rIns="0">
            <a:spAutoFit/>
          </a:bodyPr>
          <a:lstStyle/>
          <a:p>
            <a:pPr algn="l">
              <a:lnSpc>
                <a:spcPts val="4964"/>
              </a:lnSpc>
            </a:pPr>
            <a:r>
              <a:rPr lang="en-US" sz="3546" b="true">
                <a:solidFill>
                  <a:srgbClr val="000000"/>
                </a:solidFill>
                <a:latin typeface="Canva Sans Bold"/>
                <a:ea typeface="Canva Sans Bold"/>
                <a:cs typeface="Canva Sans Bold"/>
                <a:sym typeface="Canva Sans Bold"/>
              </a:rPr>
              <a:t>OPSEC</a:t>
            </a:r>
            <a:r>
              <a:rPr lang="en-US" sz="3546">
                <a:solidFill>
                  <a:srgbClr val="000000"/>
                </a:solidFill>
                <a:latin typeface="Canva Sans"/>
                <a:ea typeface="Canva Sans"/>
                <a:cs typeface="Canva Sans"/>
                <a:sym typeface="Canva Sans"/>
              </a:rPr>
              <a:t> means </a:t>
            </a:r>
            <a:r>
              <a:rPr lang="en-US" sz="3546" b="true">
                <a:solidFill>
                  <a:srgbClr val="000000"/>
                </a:solidFill>
                <a:latin typeface="Canva Sans Bold"/>
                <a:ea typeface="Canva Sans Bold"/>
                <a:cs typeface="Canva Sans Bold"/>
                <a:sym typeface="Canva Sans Bold"/>
              </a:rPr>
              <a:t>protecting your own information</a:t>
            </a:r>
            <a:r>
              <a:rPr lang="en-US" sz="3546">
                <a:solidFill>
                  <a:srgbClr val="000000"/>
                </a:solidFill>
                <a:latin typeface="Canva Sans"/>
                <a:ea typeface="Canva Sans"/>
                <a:cs typeface="Canva Sans"/>
                <a:sym typeface="Canva Sans"/>
              </a:rPr>
              <a:t> so that others cannot use it against you. OSINT is about finding information on others – </a:t>
            </a:r>
            <a:r>
              <a:rPr lang="en-US" sz="3546" b="true">
                <a:solidFill>
                  <a:srgbClr val="000000"/>
                </a:solidFill>
                <a:latin typeface="Canva Sans Bold"/>
                <a:ea typeface="Canva Sans Bold"/>
                <a:cs typeface="Canva Sans Bold"/>
                <a:sym typeface="Canva Sans Bold"/>
              </a:rPr>
              <a:t>OPSEC</a:t>
            </a:r>
            <a:r>
              <a:rPr lang="en-US" sz="3546">
                <a:solidFill>
                  <a:srgbClr val="000000"/>
                </a:solidFill>
                <a:latin typeface="Canva Sans"/>
                <a:ea typeface="Canva Sans"/>
                <a:cs typeface="Canva Sans"/>
                <a:sym typeface="Canva Sans"/>
              </a:rPr>
              <a:t> is about not leaking information about yourself.</a:t>
            </a:r>
          </a:p>
          <a:p>
            <a:pPr algn="l">
              <a:lnSpc>
                <a:spcPts val="4964"/>
              </a:lnSpc>
            </a:pPr>
          </a:p>
          <a:p>
            <a:pPr algn="l">
              <a:lnSpc>
                <a:spcPts val="4964"/>
              </a:lnSpc>
            </a:pPr>
            <a:r>
              <a:rPr lang="en-US" sz="3546">
                <a:solidFill>
                  <a:srgbClr val="000000"/>
                </a:solidFill>
                <a:latin typeface="Canva Sans"/>
                <a:ea typeface="Canva Sans"/>
                <a:cs typeface="Canva Sans"/>
                <a:sym typeface="Canva Sans"/>
              </a:rPr>
              <a:t>The idea came from the </a:t>
            </a:r>
            <a:r>
              <a:rPr lang="en-US" sz="3546" b="true">
                <a:solidFill>
                  <a:srgbClr val="000000"/>
                </a:solidFill>
                <a:latin typeface="Canva Sans Bold"/>
                <a:ea typeface="Canva Sans Bold"/>
                <a:cs typeface="Canva Sans Bold"/>
                <a:sym typeface="Canva Sans Bold"/>
              </a:rPr>
              <a:t>US military</a:t>
            </a:r>
            <a:r>
              <a:rPr lang="en-US" sz="3546">
                <a:solidFill>
                  <a:srgbClr val="000000"/>
                </a:solidFill>
                <a:latin typeface="Canva Sans"/>
                <a:ea typeface="Canva Sans"/>
                <a:cs typeface="Canva Sans"/>
                <a:sym typeface="Canva Sans"/>
              </a:rPr>
              <a:t> during the </a:t>
            </a:r>
            <a:r>
              <a:rPr lang="en-US" sz="3546" b="true">
                <a:solidFill>
                  <a:srgbClr val="000000"/>
                </a:solidFill>
                <a:latin typeface="Canva Sans Bold"/>
                <a:ea typeface="Canva Sans Bold"/>
                <a:cs typeface="Canva Sans Bold"/>
                <a:sym typeface="Canva Sans Bold"/>
              </a:rPr>
              <a:t>Vietnam War</a:t>
            </a:r>
            <a:r>
              <a:rPr lang="en-US" sz="3546">
                <a:solidFill>
                  <a:srgbClr val="000000"/>
                </a:solidFill>
                <a:latin typeface="Canva Sans"/>
                <a:ea typeface="Canva Sans"/>
                <a:cs typeface="Canva Sans"/>
                <a:sym typeface="Canva Sans"/>
              </a:rPr>
              <a:t>, </a:t>
            </a:r>
            <a:r>
              <a:rPr lang="en-US" sz="3546" b="true">
                <a:solidFill>
                  <a:srgbClr val="000000"/>
                </a:solidFill>
                <a:latin typeface="Canva Sans Bold"/>
                <a:ea typeface="Canva Sans Bold"/>
                <a:cs typeface="Canva Sans Bold"/>
                <a:sym typeface="Canva Sans Bold"/>
              </a:rPr>
              <a:t>when the enemy kept learning about attacks in advance</a:t>
            </a:r>
            <a:r>
              <a:rPr lang="en-US" sz="3546">
                <a:solidFill>
                  <a:srgbClr val="000000"/>
                </a:solidFill>
                <a:latin typeface="Canva Sans"/>
                <a:ea typeface="Canva Sans"/>
                <a:cs typeface="Canva Sans"/>
                <a:sym typeface="Canva Sans"/>
              </a:rPr>
              <a:t> – not from spies, but from </a:t>
            </a:r>
            <a:r>
              <a:rPr lang="en-US" sz="3546" b="true">
                <a:solidFill>
                  <a:srgbClr val="000000"/>
                </a:solidFill>
                <a:latin typeface="Canva Sans Bold"/>
                <a:ea typeface="Canva Sans Bold"/>
                <a:cs typeface="Canva Sans Bold"/>
                <a:sym typeface="Canva Sans Bold"/>
              </a:rPr>
              <a:t>small public details that added up</a:t>
            </a:r>
            <a:r>
              <a:rPr lang="en-US" sz="3546">
                <a:solidFill>
                  <a:srgbClr val="000000"/>
                </a:solidFill>
                <a:latin typeface="Canva Sans"/>
                <a:ea typeface="Canva Sans"/>
                <a:cs typeface="Canva Sans"/>
                <a:sym typeface="Canva Sans"/>
              </a:rPr>
              <a:t>.</a:t>
            </a:r>
          </a:p>
          <a:p>
            <a:pPr algn="l">
              <a:lnSpc>
                <a:spcPts val="4964"/>
              </a:lnSpc>
            </a:pPr>
          </a:p>
          <a:p>
            <a:pPr algn="l">
              <a:lnSpc>
                <a:spcPts val="4964"/>
              </a:lnSpc>
            </a:pPr>
            <a:r>
              <a:rPr lang="en-US" sz="3546">
                <a:solidFill>
                  <a:srgbClr val="000000"/>
                </a:solidFill>
                <a:latin typeface="Canva Sans"/>
                <a:ea typeface="Canva Sans"/>
                <a:cs typeface="Canva Sans"/>
                <a:sym typeface="Canva Sans"/>
              </a:rPr>
              <a:t>Simple example: you post "</a:t>
            </a:r>
            <a:r>
              <a:rPr lang="en-US" sz="3546" b="true">
                <a:solidFill>
                  <a:srgbClr val="000000"/>
                </a:solidFill>
                <a:latin typeface="Canva Sans Bold"/>
                <a:ea typeface="Canva Sans Bold"/>
                <a:cs typeface="Canva Sans Bold"/>
                <a:sym typeface="Canva Sans Bold"/>
              </a:rPr>
              <a:t>Flying to Goa for a week!</a:t>
            </a:r>
            <a:r>
              <a:rPr lang="en-US" sz="3546">
                <a:solidFill>
                  <a:srgbClr val="000000"/>
                </a:solidFill>
                <a:latin typeface="Canva Sans"/>
                <a:ea typeface="Canva Sans"/>
                <a:cs typeface="Canva Sans"/>
                <a:sym typeface="Canva Sans"/>
              </a:rPr>
              <a:t>" with a photo of your </a:t>
            </a:r>
            <a:r>
              <a:rPr lang="en-US" sz="3546" b="true">
                <a:solidFill>
                  <a:srgbClr val="000000"/>
                </a:solidFill>
                <a:latin typeface="Canva Sans Bold"/>
                <a:ea typeface="Canva Sans Bold"/>
                <a:cs typeface="Canva Sans Bold"/>
                <a:sym typeface="Canva Sans Bold"/>
              </a:rPr>
              <a:t>boarding pass</a:t>
            </a:r>
            <a:r>
              <a:rPr lang="en-US" sz="3546">
                <a:solidFill>
                  <a:srgbClr val="000000"/>
                </a:solidFill>
                <a:latin typeface="Canva Sans"/>
                <a:ea typeface="Canva Sans"/>
                <a:cs typeface="Canva Sans"/>
                <a:sym typeface="Canva Sans"/>
              </a:rPr>
              <a:t>. Now strangers know your</a:t>
            </a:r>
            <a:r>
              <a:rPr lang="en-US" sz="3546" b="true">
                <a:solidFill>
                  <a:srgbClr val="000000"/>
                </a:solidFill>
                <a:latin typeface="Canva Sans Bold"/>
                <a:ea typeface="Canva Sans Bold"/>
                <a:cs typeface="Canva Sans Bold"/>
                <a:sym typeface="Canva Sans Bold"/>
              </a:rPr>
              <a:t> house is empty</a:t>
            </a:r>
            <a:r>
              <a:rPr lang="en-US" sz="3546">
                <a:solidFill>
                  <a:srgbClr val="000000"/>
                </a:solidFill>
                <a:latin typeface="Canva Sans"/>
                <a:ea typeface="Canva Sans"/>
                <a:cs typeface="Canva Sans"/>
                <a:sym typeface="Canva Sans"/>
              </a:rPr>
              <a:t>, and the</a:t>
            </a:r>
            <a:r>
              <a:rPr lang="en-US" sz="3546" b="true">
                <a:solidFill>
                  <a:srgbClr val="000000"/>
                </a:solidFill>
                <a:latin typeface="Canva Sans Bold"/>
                <a:ea typeface="Canva Sans Bold"/>
                <a:cs typeface="Canva Sans Bold"/>
                <a:sym typeface="Canva Sans Bold"/>
              </a:rPr>
              <a:t> barcode on the pass can reveal your booking details</a:t>
            </a:r>
            <a:r>
              <a:rPr lang="en-US" sz="3546">
                <a:solidFill>
                  <a:srgbClr val="000000"/>
                </a:solidFill>
                <a:latin typeface="Canva Sans"/>
                <a:ea typeface="Canva Sans"/>
                <a:cs typeface="Canva Sans"/>
                <a:sym typeface="Canva Sans"/>
              </a:rPr>
              <a:t>. That is </a:t>
            </a:r>
            <a:r>
              <a:rPr lang="en-US" sz="3546" b="true">
                <a:solidFill>
                  <a:srgbClr val="000000"/>
                </a:solidFill>
                <a:latin typeface="Canva Sans Bold"/>
                <a:ea typeface="Canva Sans Bold"/>
                <a:cs typeface="Canva Sans Bold"/>
                <a:sym typeface="Canva Sans Bold"/>
              </a:rPr>
              <a:t>bad OPSEC</a:t>
            </a:r>
            <a:r>
              <a:rPr lang="en-US" sz="3546">
                <a:solidFill>
                  <a:srgbClr val="000000"/>
                </a:solidFill>
                <a:latin typeface="Canva Sans"/>
                <a:ea typeface="Canva Sans"/>
                <a:cs typeface="Canva Sans"/>
                <a:sym typeface="Canva Sans"/>
              </a:rPr>
              <a:t>.</a:t>
            </a:r>
          </a:p>
          <a:p>
            <a:pPr algn="l">
              <a:lnSpc>
                <a:spcPts val="4964"/>
              </a:lnSpc>
            </a:pPr>
          </a:p>
        </p:txBody>
      </p:sp>
      <p:sp>
        <p:nvSpPr>
          <p:cNvPr name="Freeform 3" id="3"/>
          <p:cNvSpPr/>
          <p:nvPr/>
        </p:nvSpPr>
        <p:spPr>
          <a:xfrm flipH="false" flipV="false" rot="0">
            <a:off x="11621155" y="0"/>
            <a:ext cx="1788529" cy="2181133"/>
          </a:xfrm>
          <a:custGeom>
            <a:avLst/>
            <a:gdLst/>
            <a:ahLst/>
            <a:cxnLst/>
            <a:rect r="r" b="b" t="t" l="l"/>
            <a:pathLst>
              <a:path h="2181133" w="1788529">
                <a:moveTo>
                  <a:pt x="0" y="0"/>
                </a:moveTo>
                <a:lnTo>
                  <a:pt x="1788529" y="0"/>
                </a:lnTo>
                <a:lnTo>
                  <a:pt x="1788529" y="2181133"/>
                </a:lnTo>
                <a:lnTo>
                  <a:pt x="0" y="2181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450786"/>
            <a:ext cx="11980725" cy="1158939"/>
          </a:xfrm>
          <a:prstGeom prst="rect">
            <a:avLst/>
          </a:prstGeom>
        </p:spPr>
        <p:txBody>
          <a:bodyPr anchor="t" rtlCol="false" tIns="0" lIns="0" bIns="0" rIns="0">
            <a:spAutoFit/>
          </a:bodyPr>
          <a:lstStyle/>
          <a:p>
            <a:pPr algn="ctr">
              <a:lnSpc>
                <a:spcPts val="9160"/>
              </a:lnSpc>
              <a:spcBef>
                <a:spcPct val="0"/>
              </a:spcBef>
            </a:pPr>
            <a:r>
              <a:rPr lang="en-US" sz="7633">
                <a:solidFill>
                  <a:srgbClr val="000000"/>
                </a:solidFill>
                <a:latin typeface="Anton"/>
                <a:ea typeface="Anton"/>
                <a:cs typeface="Anton"/>
                <a:sym typeface="Anton"/>
              </a:rPr>
              <a:t>OPSEC (OPERATIO</a:t>
            </a:r>
            <a:r>
              <a:rPr lang="en-US" sz="7633">
                <a:solidFill>
                  <a:srgbClr val="000000"/>
                </a:solidFill>
                <a:latin typeface="Anton"/>
                <a:ea typeface="Anton"/>
                <a:cs typeface="Anton"/>
                <a:sym typeface="Anton"/>
              </a:rPr>
              <a:t>NS SECURITY)</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450786"/>
            <a:ext cx="11980725" cy="1158939"/>
          </a:xfrm>
          <a:prstGeom prst="rect">
            <a:avLst/>
          </a:prstGeom>
        </p:spPr>
        <p:txBody>
          <a:bodyPr anchor="t" rtlCol="false" tIns="0" lIns="0" bIns="0" rIns="0">
            <a:spAutoFit/>
          </a:bodyPr>
          <a:lstStyle/>
          <a:p>
            <a:pPr algn="ctr">
              <a:lnSpc>
                <a:spcPts val="9160"/>
              </a:lnSpc>
              <a:spcBef>
                <a:spcPct val="0"/>
              </a:spcBef>
            </a:pPr>
            <a:r>
              <a:rPr lang="en-US" sz="7633">
                <a:solidFill>
                  <a:srgbClr val="000000"/>
                </a:solidFill>
                <a:latin typeface="Anton"/>
                <a:ea typeface="Anton"/>
                <a:cs typeface="Anton"/>
                <a:sym typeface="Anton"/>
              </a:rPr>
              <a:t>OPSEC (OPERATIO</a:t>
            </a:r>
            <a:r>
              <a:rPr lang="en-US" sz="7633">
                <a:solidFill>
                  <a:srgbClr val="000000"/>
                </a:solidFill>
                <a:latin typeface="Anton"/>
                <a:ea typeface="Anton"/>
                <a:cs typeface="Anton"/>
                <a:sym typeface="Anton"/>
              </a:rPr>
              <a:t>NS SECURITY)</a:t>
            </a:r>
          </a:p>
        </p:txBody>
      </p:sp>
      <p:sp>
        <p:nvSpPr>
          <p:cNvPr name="TextBox 3" id="3"/>
          <p:cNvSpPr txBox="true"/>
          <p:nvPr/>
        </p:nvSpPr>
        <p:spPr>
          <a:xfrm rot="0">
            <a:off x="322186" y="1773713"/>
            <a:ext cx="17371189" cy="8513287"/>
          </a:xfrm>
          <a:prstGeom prst="rect">
            <a:avLst/>
          </a:prstGeom>
        </p:spPr>
        <p:txBody>
          <a:bodyPr anchor="t" rtlCol="false" tIns="0" lIns="0" bIns="0" rIns="0">
            <a:spAutoFit/>
          </a:bodyPr>
          <a:lstStyle/>
          <a:p>
            <a:pPr algn="l">
              <a:lnSpc>
                <a:spcPts val="4838"/>
              </a:lnSpc>
            </a:pPr>
            <a:r>
              <a:rPr lang="en-US" sz="3456">
                <a:solidFill>
                  <a:srgbClr val="000000"/>
                </a:solidFill>
                <a:latin typeface="Canva Sans"/>
                <a:ea typeface="Canva Sans"/>
                <a:cs typeface="Canva Sans"/>
                <a:sym typeface="Canva Sans"/>
              </a:rPr>
              <a:t>The 5 Steps of OPSEC:</a:t>
            </a:r>
          </a:p>
          <a:p>
            <a:pPr algn="l">
              <a:lnSpc>
                <a:spcPts val="4838"/>
              </a:lnSpc>
            </a:pPr>
          </a:p>
          <a:p>
            <a:pPr algn="l">
              <a:lnSpc>
                <a:spcPts val="4838"/>
              </a:lnSpc>
            </a:pPr>
            <a:r>
              <a:rPr lang="en-US" sz="3456">
                <a:solidFill>
                  <a:srgbClr val="000000"/>
                </a:solidFill>
                <a:latin typeface="Canva Sans"/>
                <a:ea typeface="Canva Sans"/>
                <a:cs typeface="Canva Sans"/>
                <a:sym typeface="Canva Sans"/>
              </a:rPr>
              <a:t>1.  </a:t>
            </a:r>
            <a:r>
              <a:rPr lang="en-US" sz="3456" b="true">
                <a:solidFill>
                  <a:srgbClr val="000000"/>
                </a:solidFill>
                <a:latin typeface="Canva Sans Bold"/>
                <a:ea typeface="Canva Sans Bold"/>
                <a:cs typeface="Canva Sans Bold"/>
                <a:sym typeface="Canva Sans Bold"/>
              </a:rPr>
              <a:t>Identify critical information</a:t>
            </a:r>
            <a:r>
              <a:rPr lang="en-US" sz="3456">
                <a:solidFill>
                  <a:srgbClr val="000000"/>
                </a:solidFill>
                <a:latin typeface="Canva Sans"/>
                <a:ea typeface="Canva Sans"/>
                <a:cs typeface="Canva Sans"/>
                <a:sym typeface="Canva Sans"/>
              </a:rPr>
              <a:t>: what must stay secret? (home address, passwords, travel plans, company projects)</a:t>
            </a:r>
          </a:p>
          <a:p>
            <a:pPr algn="l">
              <a:lnSpc>
                <a:spcPts val="4838"/>
              </a:lnSpc>
            </a:pPr>
          </a:p>
          <a:p>
            <a:pPr algn="l">
              <a:lnSpc>
                <a:spcPts val="4838"/>
              </a:lnSpc>
            </a:pPr>
            <a:r>
              <a:rPr lang="en-US" sz="3456">
                <a:solidFill>
                  <a:srgbClr val="000000"/>
                </a:solidFill>
                <a:latin typeface="Canva Sans"/>
                <a:ea typeface="Canva Sans"/>
                <a:cs typeface="Canva Sans"/>
                <a:sym typeface="Canva Sans"/>
              </a:rPr>
              <a:t>2.  </a:t>
            </a:r>
            <a:r>
              <a:rPr lang="en-US" sz="3456" b="true">
                <a:solidFill>
                  <a:srgbClr val="000000"/>
                </a:solidFill>
                <a:latin typeface="Canva Sans Bold"/>
                <a:ea typeface="Canva Sans Bold"/>
                <a:cs typeface="Canva Sans Bold"/>
                <a:sym typeface="Canva Sans Bold"/>
              </a:rPr>
              <a:t>Analyse threats</a:t>
            </a:r>
            <a:r>
              <a:rPr lang="en-US" sz="3456">
                <a:solidFill>
                  <a:srgbClr val="000000"/>
                </a:solidFill>
                <a:latin typeface="Canva Sans"/>
                <a:ea typeface="Canva Sans"/>
                <a:cs typeface="Canva Sans"/>
                <a:sym typeface="Canva Sans"/>
              </a:rPr>
              <a:t>: who might want it? (hackers, stalkers, scammers, competitors)</a:t>
            </a:r>
          </a:p>
          <a:p>
            <a:pPr algn="l">
              <a:lnSpc>
                <a:spcPts val="4838"/>
              </a:lnSpc>
            </a:pPr>
          </a:p>
          <a:p>
            <a:pPr algn="l">
              <a:lnSpc>
                <a:spcPts val="4838"/>
              </a:lnSpc>
            </a:pPr>
            <a:r>
              <a:rPr lang="en-US" sz="3456">
                <a:solidFill>
                  <a:srgbClr val="000000"/>
                </a:solidFill>
                <a:latin typeface="Canva Sans"/>
                <a:ea typeface="Canva Sans"/>
                <a:cs typeface="Canva Sans"/>
                <a:sym typeface="Canva Sans"/>
              </a:rPr>
              <a:t>3.  </a:t>
            </a:r>
            <a:r>
              <a:rPr lang="en-US" sz="3456" b="true">
                <a:solidFill>
                  <a:srgbClr val="000000"/>
                </a:solidFill>
                <a:latin typeface="Canva Sans Bold"/>
                <a:ea typeface="Canva Sans Bold"/>
                <a:cs typeface="Canva Sans Bold"/>
                <a:sym typeface="Canva Sans Bold"/>
              </a:rPr>
              <a:t>Analyse vulnerabilities</a:t>
            </a:r>
            <a:r>
              <a:rPr lang="en-US" sz="3456">
                <a:solidFill>
                  <a:srgbClr val="000000"/>
                </a:solidFill>
                <a:latin typeface="Canva Sans"/>
                <a:ea typeface="Canva Sans"/>
                <a:cs typeface="Canva Sans"/>
                <a:sym typeface="Canva Sans"/>
              </a:rPr>
              <a:t>: how could they get it? (social media posts, photo metadata, weak passwords)</a:t>
            </a:r>
          </a:p>
          <a:p>
            <a:pPr algn="l">
              <a:lnSpc>
                <a:spcPts val="4838"/>
              </a:lnSpc>
            </a:pPr>
          </a:p>
          <a:p>
            <a:pPr algn="l">
              <a:lnSpc>
                <a:spcPts val="4838"/>
              </a:lnSpc>
            </a:pPr>
            <a:r>
              <a:rPr lang="en-US" sz="3456">
                <a:solidFill>
                  <a:srgbClr val="000000"/>
                </a:solidFill>
                <a:latin typeface="Canva Sans"/>
                <a:ea typeface="Canva Sans"/>
                <a:cs typeface="Canva Sans"/>
                <a:sym typeface="Canva Sans"/>
              </a:rPr>
              <a:t>4. </a:t>
            </a:r>
            <a:r>
              <a:rPr lang="en-US" sz="3456" b="true">
                <a:solidFill>
                  <a:srgbClr val="000000"/>
                </a:solidFill>
                <a:latin typeface="Canva Sans Bold"/>
                <a:ea typeface="Canva Sans Bold"/>
                <a:cs typeface="Canva Sans Bold"/>
                <a:sym typeface="Canva Sans Bold"/>
              </a:rPr>
              <a:t> Assess the risk</a:t>
            </a:r>
            <a:r>
              <a:rPr lang="en-US" sz="3456">
                <a:solidFill>
                  <a:srgbClr val="000000"/>
                </a:solidFill>
                <a:latin typeface="Canva Sans"/>
                <a:ea typeface="Canva Sans"/>
                <a:cs typeface="Canva Sans"/>
                <a:sym typeface="Canva Sans"/>
              </a:rPr>
              <a:t>: how likely is it, and how bad would it be?</a:t>
            </a:r>
          </a:p>
          <a:p>
            <a:pPr algn="l">
              <a:lnSpc>
                <a:spcPts val="4838"/>
              </a:lnSpc>
            </a:pPr>
          </a:p>
          <a:p>
            <a:pPr algn="l">
              <a:lnSpc>
                <a:spcPts val="4838"/>
              </a:lnSpc>
            </a:pPr>
            <a:r>
              <a:rPr lang="en-US" sz="3456">
                <a:solidFill>
                  <a:srgbClr val="000000"/>
                </a:solidFill>
                <a:latin typeface="Canva Sans"/>
                <a:ea typeface="Canva Sans"/>
                <a:cs typeface="Canva Sans"/>
                <a:sym typeface="Canva Sans"/>
              </a:rPr>
              <a:t>5.  </a:t>
            </a:r>
            <a:r>
              <a:rPr lang="en-US" sz="3456" b="true">
                <a:solidFill>
                  <a:srgbClr val="000000"/>
                </a:solidFill>
                <a:latin typeface="Canva Sans Bold"/>
                <a:ea typeface="Canva Sans Bold"/>
                <a:cs typeface="Canva Sans Bold"/>
                <a:sym typeface="Canva Sans Bold"/>
              </a:rPr>
              <a:t>Apply countermeasures</a:t>
            </a:r>
            <a:r>
              <a:rPr lang="en-US" sz="3456">
                <a:solidFill>
                  <a:srgbClr val="000000"/>
                </a:solidFill>
                <a:latin typeface="Canva Sans"/>
                <a:ea typeface="Canva Sans"/>
                <a:cs typeface="Canva Sans"/>
                <a:sym typeface="Canva Sans"/>
              </a:rPr>
              <a:t>: fix it – change settings, remove posts, use better tools</a:t>
            </a:r>
          </a:p>
          <a:p>
            <a:pPr algn="l">
              <a:lnSpc>
                <a:spcPts val="4838"/>
              </a:lnSpc>
            </a:pPr>
          </a:p>
        </p:txBody>
      </p:sp>
      <p:sp>
        <p:nvSpPr>
          <p:cNvPr name="Freeform 4" id="4"/>
          <p:cNvSpPr/>
          <p:nvPr/>
        </p:nvSpPr>
        <p:spPr>
          <a:xfrm flipH="false" flipV="false" rot="0">
            <a:off x="11679177" y="139925"/>
            <a:ext cx="1730507" cy="2110374"/>
          </a:xfrm>
          <a:custGeom>
            <a:avLst/>
            <a:gdLst/>
            <a:ahLst/>
            <a:cxnLst/>
            <a:rect r="r" b="b" t="t" l="l"/>
            <a:pathLst>
              <a:path h="2110374" w="1730507">
                <a:moveTo>
                  <a:pt x="0" y="0"/>
                </a:moveTo>
                <a:lnTo>
                  <a:pt x="1730507" y="0"/>
                </a:lnTo>
                <a:lnTo>
                  <a:pt x="1730507" y="2110374"/>
                </a:lnTo>
                <a:lnTo>
                  <a:pt x="0" y="21103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450786"/>
            <a:ext cx="11980725" cy="1158939"/>
          </a:xfrm>
          <a:prstGeom prst="rect">
            <a:avLst/>
          </a:prstGeom>
        </p:spPr>
        <p:txBody>
          <a:bodyPr anchor="t" rtlCol="false" tIns="0" lIns="0" bIns="0" rIns="0">
            <a:spAutoFit/>
          </a:bodyPr>
          <a:lstStyle/>
          <a:p>
            <a:pPr algn="ctr">
              <a:lnSpc>
                <a:spcPts val="9160"/>
              </a:lnSpc>
              <a:spcBef>
                <a:spcPct val="0"/>
              </a:spcBef>
            </a:pPr>
            <a:r>
              <a:rPr lang="en-US" sz="7633">
                <a:solidFill>
                  <a:srgbClr val="000000"/>
                </a:solidFill>
                <a:latin typeface="Anton"/>
                <a:ea typeface="Anton"/>
                <a:cs typeface="Anton"/>
                <a:sym typeface="Anton"/>
              </a:rPr>
              <a:t>OPSEC (OPERATIO</a:t>
            </a:r>
            <a:r>
              <a:rPr lang="en-US" sz="7633">
                <a:solidFill>
                  <a:srgbClr val="000000"/>
                </a:solidFill>
                <a:latin typeface="Anton"/>
                <a:ea typeface="Anton"/>
                <a:cs typeface="Anton"/>
                <a:sym typeface="Anton"/>
              </a:rPr>
              <a:t>NS SECURITY)</a:t>
            </a:r>
          </a:p>
        </p:txBody>
      </p:sp>
      <p:sp>
        <p:nvSpPr>
          <p:cNvPr name="TextBox 3" id="3"/>
          <p:cNvSpPr txBox="true"/>
          <p:nvPr/>
        </p:nvSpPr>
        <p:spPr>
          <a:xfrm rot="0">
            <a:off x="954114" y="2436428"/>
            <a:ext cx="16379772" cy="7181215"/>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Real Example: </a:t>
            </a:r>
            <a:r>
              <a:rPr lang="en-US" sz="3399" b="true">
                <a:solidFill>
                  <a:srgbClr val="000000"/>
                </a:solidFill>
                <a:latin typeface="Canva Sans Bold"/>
                <a:ea typeface="Canva Sans Bold"/>
                <a:cs typeface="Canva Sans Bold"/>
                <a:sym typeface="Canva Sans Bold"/>
              </a:rPr>
              <a:t>S</a:t>
            </a:r>
            <a:r>
              <a:rPr lang="en-US" sz="3399" b="true">
                <a:solidFill>
                  <a:srgbClr val="000000"/>
                </a:solidFill>
                <a:latin typeface="Canva Sans Bold"/>
                <a:ea typeface="Canva Sans Bold"/>
                <a:cs typeface="Canva Sans Bold"/>
                <a:sym typeface="Canva Sans Bold"/>
              </a:rPr>
              <a:t>trava Heatmap (2017–2018)</a:t>
            </a:r>
          </a:p>
          <a:p>
            <a:pPr algn="l">
              <a:lnSpc>
                <a:spcPts val="4759"/>
              </a:lnSpc>
            </a:pPr>
          </a:p>
          <a:p>
            <a:pPr algn="l">
              <a:lnSpc>
                <a:spcPts val="4759"/>
              </a:lnSpc>
            </a:pPr>
            <a:r>
              <a:rPr lang="en-US" sz="3399">
                <a:solidFill>
                  <a:srgbClr val="000000"/>
                </a:solidFill>
                <a:latin typeface="Canva Sans"/>
                <a:ea typeface="Canva Sans"/>
                <a:cs typeface="Canva Sans"/>
                <a:sym typeface="Canva Sans"/>
              </a:rPr>
              <a:t>The fitness app Strava published a</a:t>
            </a:r>
            <a:r>
              <a:rPr lang="en-US" sz="3399" b="true">
                <a:solidFill>
                  <a:srgbClr val="000000"/>
                </a:solidFill>
                <a:latin typeface="Canva Sans Bold"/>
                <a:ea typeface="Canva Sans Bold"/>
                <a:cs typeface="Canva Sans Bold"/>
                <a:sym typeface="Canva Sans Bold"/>
              </a:rPr>
              <a:t> global map </a:t>
            </a:r>
            <a:r>
              <a:rPr lang="en-US" sz="3399">
                <a:solidFill>
                  <a:srgbClr val="000000"/>
                </a:solidFill>
                <a:latin typeface="Canva Sans"/>
                <a:ea typeface="Canva Sans"/>
                <a:cs typeface="Canva Sans"/>
                <a:sym typeface="Canva Sans"/>
              </a:rPr>
              <a:t>showing where its users went running. </a:t>
            </a: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Soldiers </a:t>
            </a:r>
            <a:r>
              <a:rPr lang="en-US" sz="3399">
                <a:solidFill>
                  <a:srgbClr val="000000"/>
                </a:solidFill>
                <a:latin typeface="Canva Sans"/>
                <a:ea typeface="Canva Sans"/>
                <a:cs typeface="Canva Sans"/>
                <a:sym typeface="Canva Sans"/>
              </a:rPr>
              <a:t>using </a:t>
            </a:r>
            <a:r>
              <a:rPr lang="en-US" sz="3399" b="true">
                <a:solidFill>
                  <a:srgbClr val="000000"/>
                </a:solidFill>
                <a:latin typeface="Canva Sans Bold"/>
                <a:ea typeface="Canva Sans Bold"/>
                <a:cs typeface="Canva Sans Bold"/>
                <a:sym typeface="Canva Sans Bold"/>
              </a:rPr>
              <a:t>fitness trackers</a:t>
            </a:r>
            <a:r>
              <a:rPr lang="en-US" sz="3399">
                <a:solidFill>
                  <a:srgbClr val="000000"/>
                </a:solidFill>
                <a:latin typeface="Canva Sans"/>
                <a:ea typeface="Canva Sans"/>
                <a:cs typeface="Canva Sans"/>
                <a:sym typeface="Canva Sans"/>
              </a:rPr>
              <a:t> at </a:t>
            </a:r>
            <a:r>
              <a:rPr lang="en-US" sz="3399" b="true">
                <a:solidFill>
                  <a:srgbClr val="000000"/>
                </a:solidFill>
                <a:latin typeface="Canva Sans Bold"/>
                <a:ea typeface="Canva Sans Bold"/>
                <a:cs typeface="Canva Sans Bold"/>
                <a:sym typeface="Canva Sans Bold"/>
              </a:rPr>
              <a:t>secret military bases</a:t>
            </a:r>
            <a:r>
              <a:rPr lang="en-US" sz="3399">
                <a:solidFill>
                  <a:srgbClr val="000000"/>
                </a:solidFill>
                <a:latin typeface="Canva Sans"/>
                <a:ea typeface="Canva Sans"/>
                <a:cs typeface="Canva Sans"/>
                <a:sym typeface="Canva Sans"/>
              </a:rPr>
              <a:t> had their running routes on the map –</a:t>
            </a:r>
            <a:r>
              <a:rPr lang="en-US" sz="3399" b="true">
                <a:solidFill>
                  <a:srgbClr val="000000"/>
                </a:solidFill>
                <a:latin typeface="Canva Sans Bold"/>
                <a:ea typeface="Canva Sans Bold"/>
                <a:cs typeface="Canva Sans Bold"/>
                <a:sym typeface="Canva Sans Bold"/>
              </a:rPr>
              <a:t> so the locations and layouts of military bases became visible to anyone. </a:t>
            </a: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No hacking was needed</a:t>
            </a:r>
            <a:r>
              <a:rPr lang="en-US" sz="3399">
                <a:solidFill>
                  <a:srgbClr val="000000"/>
                </a:solidFill>
                <a:latin typeface="Canva Sans"/>
                <a:ea typeface="Canva Sans"/>
                <a:cs typeface="Canva Sans"/>
                <a:sym typeface="Canva Sans"/>
              </a:rPr>
              <a:t>. It is a famous lesson that even harmless data can </a:t>
            </a:r>
            <a:r>
              <a:rPr lang="en-US" sz="3399" b="true">
                <a:solidFill>
                  <a:srgbClr val="000000"/>
                </a:solidFill>
                <a:latin typeface="Canva Sans Bold"/>
                <a:ea typeface="Canva Sans Bold"/>
                <a:cs typeface="Canva Sans Bold"/>
                <a:sym typeface="Canva Sans Bold"/>
              </a:rPr>
              <a:t>break OPSEC</a:t>
            </a:r>
            <a:r>
              <a:rPr lang="en-US" sz="3399">
                <a:solidFill>
                  <a:srgbClr val="000000"/>
                </a:solidFill>
                <a:latin typeface="Canva Sans"/>
                <a:ea typeface="Canva Sans"/>
                <a:cs typeface="Canva Sans"/>
                <a:sym typeface="Canva Sans"/>
              </a:rPr>
              <a:t>.</a:t>
            </a:r>
          </a:p>
          <a:p>
            <a:pPr algn="l">
              <a:lnSpc>
                <a:spcPts val="4759"/>
              </a:lnSpc>
            </a:pPr>
          </a:p>
        </p:txBody>
      </p:sp>
      <p:sp>
        <p:nvSpPr>
          <p:cNvPr name="Freeform 4" id="4"/>
          <p:cNvSpPr/>
          <p:nvPr/>
        </p:nvSpPr>
        <p:spPr>
          <a:xfrm flipH="false" flipV="false" rot="0">
            <a:off x="11721102" y="139925"/>
            <a:ext cx="1788529" cy="2181133"/>
          </a:xfrm>
          <a:custGeom>
            <a:avLst/>
            <a:gdLst/>
            <a:ahLst/>
            <a:cxnLst/>
            <a:rect r="r" b="b" t="t" l="l"/>
            <a:pathLst>
              <a:path h="2181133" w="1788529">
                <a:moveTo>
                  <a:pt x="0" y="0"/>
                </a:moveTo>
                <a:lnTo>
                  <a:pt x="1788529" y="0"/>
                </a:lnTo>
                <a:lnTo>
                  <a:pt x="1788529" y="2181133"/>
                </a:lnTo>
                <a:lnTo>
                  <a:pt x="0" y="2181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54406" y="850939"/>
            <a:ext cx="8016948" cy="7855965"/>
          </a:xfrm>
          <a:custGeom>
            <a:avLst/>
            <a:gdLst/>
            <a:ahLst/>
            <a:cxnLst/>
            <a:rect r="r" b="b" t="t" l="l"/>
            <a:pathLst>
              <a:path h="7855965" w="8016948">
                <a:moveTo>
                  <a:pt x="0" y="0"/>
                </a:moveTo>
                <a:lnTo>
                  <a:pt x="8016948" y="0"/>
                </a:lnTo>
                <a:lnTo>
                  <a:pt x="8016948" y="7855965"/>
                </a:lnTo>
                <a:lnTo>
                  <a:pt x="0" y="7855965"/>
                </a:lnTo>
                <a:lnTo>
                  <a:pt x="0" y="0"/>
                </a:lnTo>
                <a:close/>
              </a:path>
            </a:pathLst>
          </a:custGeom>
          <a:blipFill>
            <a:blip r:embed="rId2"/>
            <a:stretch>
              <a:fillRect l="0" t="0" r="0" b="0"/>
            </a:stretch>
          </a:blipFill>
        </p:spPr>
      </p:sp>
      <p:sp>
        <p:nvSpPr>
          <p:cNvPr name="TextBox 3" id="3"/>
          <p:cNvSpPr txBox="true"/>
          <p:nvPr/>
        </p:nvSpPr>
        <p:spPr>
          <a:xfrm rot="0">
            <a:off x="67769" y="3884724"/>
            <a:ext cx="9386638" cy="2517551"/>
          </a:xfrm>
          <a:prstGeom prst="rect">
            <a:avLst/>
          </a:prstGeom>
        </p:spPr>
        <p:txBody>
          <a:bodyPr anchor="t" rtlCol="false" tIns="0" lIns="0" bIns="0" rIns="0">
            <a:spAutoFit/>
          </a:bodyPr>
          <a:lstStyle/>
          <a:p>
            <a:pPr algn="ctr">
              <a:lnSpc>
                <a:spcPts val="19899"/>
              </a:lnSpc>
              <a:spcBef>
                <a:spcPct val="0"/>
              </a:spcBef>
            </a:pPr>
            <a:r>
              <a:rPr lang="en-US" sz="16582">
                <a:solidFill>
                  <a:srgbClr val="000000"/>
                </a:solidFill>
                <a:latin typeface="Anton"/>
                <a:ea typeface="Anton"/>
                <a:cs typeface="Anton"/>
                <a:sym typeface="Anton"/>
              </a:rPr>
              <a:t>THANK YOU</a:t>
            </a:r>
          </a:p>
        </p:txBody>
      </p:sp>
      <p:sp>
        <p:nvSpPr>
          <p:cNvPr name="TextBox 4" id="4"/>
          <p:cNvSpPr txBox="true"/>
          <p:nvPr/>
        </p:nvSpPr>
        <p:spPr>
          <a:xfrm rot="0">
            <a:off x="11203759" y="8934767"/>
            <a:ext cx="4986933"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JOIN OUR COMMUNITY</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7132" y="544344"/>
            <a:ext cx="9248108" cy="9188185"/>
          </a:xfrm>
          <a:custGeom>
            <a:avLst/>
            <a:gdLst/>
            <a:ahLst/>
            <a:cxnLst/>
            <a:rect r="r" b="b" t="t" l="l"/>
            <a:pathLst>
              <a:path h="9188185" w="9248108">
                <a:moveTo>
                  <a:pt x="0" y="0"/>
                </a:moveTo>
                <a:lnTo>
                  <a:pt x="9248108" y="0"/>
                </a:lnTo>
                <a:lnTo>
                  <a:pt x="9248108" y="9188185"/>
                </a:lnTo>
                <a:lnTo>
                  <a:pt x="0" y="9188185"/>
                </a:lnTo>
                <a:lnTo>
                  <a:pt x="0" y="0"/>
                </a:lnTo>
                <a:close/>
              </a:path>
            </a:pathLst>
          </a:custGeom>
          <a:blipFill>
            <a:blip r:embed="rId2"/>
            <a:stretch>
              <a:fillRect l="0" t="0" r="0" b="0"/>
            </a:stretch>
          </a:blipFill>
        </p:spPr>
      </p:sp>
      <p:sp>
        <p:nvSpPr>
          <p:cNvPr name="TextBox 3" id="3"/>
          <p:cNvSpPr txBox="true"/>
          <p:nvPr/>
        </p:nvSpPr>
        <p:spPr>
          <a:xfrm rot="0">
            <a:off x="10260680" y="300726"/>
            <a:ext cx="7194244" cy="9675420"/>
          </a:xfrm>
          <a:prstGeom prst="rect">
            <a:avLst/>
          </a:prstGeom>
        </p:spPr>
        <p:txBody>
          <a:bodyPr anchor="t" rtlCol="false" tIns="0" lIns="0" bIns="0" rIns="0">
            <a:spAutoFit/>
          </a:bodyPr>
          <a:lstStyle/>
          <a:p>
            <a:pPr algn="ctr">
              <a:lnSpc>
                <a:spcPts val="25491"/>
              </a:lnSpc>
            </a:pPr>
            <a:r>
              <a:rPr lang="en-US" sz="21243">
                <a:solidFill>
                  <a:srgbClr val="000000"/>
                </a:solidFill>
                <a:latin typeface="Anton"/>
                <a:ea typeface="Anton"/>
                <a:cs typeface="Anton"/>
                <a:sym typeface="Anton"/>
              </a:rPr>
              <a:t>JOIN</a:t>
            </a:r>
          </a:p>
          <a:p>
            <a:pPr algn="ctr">
              <a:lnSpc>
                <a:spcPts val="25491"/>
              </a:lnSpc>
            </a:pPr>
            <a:r>
              <a:rPr lang="en-US" sz="21243">
                <a:solidFill>
                  <a:srgbClr val="000000"/>
                </a:solidFill>
                <a:latin typeface="Anton"/>
                <a:ea typeface="Anton"/>
                <a:cs typeface="Anton"/>
                <a:sym typeface="Anton"/>
              </a:rPr>
              <a:t> THE </a:t>
            </a:r>
          </a:p>
          <a:p>
            <a:pPr algn="ctr">
              <a:lnSpc>
                <a:spcPts val="25491"/>
              </a:lnSpc>
              <a:spcBef>
                <a:spcPct val="0"/>
              </a:spcBef>
            </a:pPr>
            <a:r>
              <a:rPr lang="en-US" sz="21243">
                <a:solidFill>
                  <a:srgbClr val="000000"/>
                </a:solidFill>
                <a:latin typeface="Anton"/>
                <a:ea typeface="Anton"/>
                <a:cs typeface="Anton"/>
                <a:sym typeface="Anton"/>
              </a:rPr>
              <a:t>CTF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DAHXf8w5nl8</dc:identifier>
  <dcterms:modified xsi:type="dcterms:W3CDTF">2011-08-01T06:04:30Z</dcterms:modified>
  <cp:revision>1</cp:revision>
  <dc:title>DAY 3 PPT</dc:title>
</cp:coreProperties>
</file>